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(€)</c:v>
                </c:pt>
              </c:strCache>
            </c:strRef>
          </c:tx>
          <c:spPr>
            <a:solidFill>
              <a:srgbClr val="1F4D2B"/>
            </a:solidFill>
            <a:effectLst/>
          </c:spPr>
          <c:invertIfNegative val="0"/>
          <c:dLbls>
            <c:numFmt formatCode="#,##0,&quot;k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42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Año 1</c:v>
                  </c:pt>
                  <c:pt idx="1">
                    <c:v>Año 2</c:v>
                  </c:pt>
                  <c:pt idx="2">
                    <c:v>Año 3</c:v>
                  </c:pt>
                  <c:pt idx="3">
                    <c:v>Año 4</c:v>
                  </c:pt>
                  <c:pt idx="4">
                    <c:v>Régimen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183000</c:v>
                </c:pt>
                <c:pt idx="1">
                  <c:v>686000</c:v>
                </c:pt>
                <c:pt idx="2">
                  <c:v>1033000</c:v>
                </c:pt>
                <c:pt idx="3">
                  <c:v>1274000</c:v>
                </c:pt>
                <c:pt idx="4">
                  <c:v>1303000</c:v>
                </c:pt>
              </c:numCache>
            </c:numRef>
          </c:val>
        </c:ser>
        <c:dLbls>
          <c:numFmt formatCode="#,##0,&quot;k&quot;" sourceLinked="0"/>
          <c:txPr>
            <a:bodyPr/>
            <a:lstStyle/>
            <a:p>
              <a:pPr>
                <a:defRPr b="0" i="0" strike="noStrike" sz="900" u="none">
                  <a:solidFill>
                    <a:srgbClr val="1F242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B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B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 de inversores. Estructura: entrada en capital del 10 % por 100.000 €.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Estructura V15: capital 10 % por 100.000 €, salida desde el año 4, suelo 1,5×. Verificado con el modelo financiero V15.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371600"/>
            <a:ext cx="5486400" cy="5486400"/>
          </a:xfrm>
          <a:prstGeom prst="ellipse">
            <a:avLst/>
          </a:prstGeom>
          <a:solidFill>
            <a:srgbClr val="1F4D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023360"/>
            <a:ext cx="3108960" cy="3108960"/>
          </a:xfrm>
          <a:prstGeom prst="ellipse">
            <a:avLst/>
          </a:prstGeom>
          <a:solidFill>
            <a:srgbClr val="1A3D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PRESENTACIÓN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Microbrotes vivos,</a:t>
            </a:r>
            <a:endParaRPr lang="en-US" sz="5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cultivados en Madrid.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776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Hidroponía de precisión · Cosecha viva bajo pedido · KM 0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94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60" kern="0" dirty="0">
                <a:solidFill>
                  <a:srgbClr val="7A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NOSOTROS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Cultivamos como artesanos.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Operamos como una empresa.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5852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 nace en Madrid en 2026 con una idea simple: que la cocina profesional reciba el microbrote vivo, en su mejor momento, horas después del corte.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Cultivamos con hidroponía LED de precisión y cosechamos solo bajo pedido, para distribución, mayoristas y restauración. Sin stock, sin merma y siempre a medida.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2240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KM 0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040880" y="27889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PRODUCIDO EN MADRID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9692640" y="22402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27889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VARIEDADES EN PRODUCCIÓN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35661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24-48 h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4114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COSECHA A ENTREGA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356616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9692640" y="41148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ADAPTADO AL CLIENTE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5120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vivo, gourmet, de cercanía.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MERCADO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Categoría joven, crecimiento a doble dígito.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microbrote ya no es una rareza de alta cocina: es una categoría global de ~3.000 M$ que duplicará su tamaño esta década, y Europa lidera el mercado.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~3.000 M$</a:t>
            </a:r>
            <a:endParaRPr lang="en-US" sz="2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80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GLOBAL 2025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3317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2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880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PREVISTO 2031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3317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+11 %</a:t>
            </a:r>
            <a:endParaRPr lang="en-US" sz="29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880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ANUAL (CAGR)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23317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~36 %</a:t>
            </a:r>
            <a:endParaRPr lang="en-US" sz="29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880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DE EUROPA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84962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8679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Salud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325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microbrote concentra hasta 40 veces más nutrientes que la hortaliza adulta.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0" y="361188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84962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138928" y="38679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Proximidad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325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Consumidor y restauración premian el producto local, fresco y sostenible.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55280" y="3611880"/>
            <a:ext cx="3383280" cy="1600200"/>
          </a:xfrm>
          <a:prstGeom prst="roundRect">
            <a:avLst>
              <a:gd name="adj" fmla="val 5143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384962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796528" y="3867912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4325112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cultivo vertical indoor es el formato que más crece (12,5 % anual).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Rootflow opera en el cruce exacto de estas tendencias: microbrote premium, cultivo vertical y KM 0.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760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Mordor Intelligence, Microgreens Market Report (ene. 2026) · Grand View Research.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socios, tres frentes cubiertos.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51560" cy="1051560"/>
          </a:xfrm>
          <a:prstGeom prst="ellipse">
            <a:avLst/>
          </a:prstGeom>
          <a:solidFill>
            <a:srgbClr val="1F4D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B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Domecq Vergara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&amp; FINANZAS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0507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 (ICADE). Trayectoria en consultoría estratégica y Fusiones &amp; Adquisiciones. Gestión financiera, administración y estructura societaria.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965960"/>
            <a:ext cx="1051560" cy="1051560"/>
          </a:xfrm>
          <a:prstGeom prst="ellipse">
            <a:avLst/>
          </a:prstGeom>
          <a:solidFill>
            <a:srgbClr val="1F4D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43400" y="1965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B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Nicolás Bustamante Thams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 &amp; HOSTELERÍA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400507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 (Richmond University). Desarrollo de negocio HORECA. Relación con restaurantes, distribuidores y apertura de mercado.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965960"/>
            <a:ext cx="1051560" cy="1051560"/>
          </a:xfrm>
          <a:prstGeom prst="ellipse">
            <a:avLst/>
          </a:prstGeom>
          <a:solidFill>
            <a:srgbClr val="1F4D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0" y="196596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FBF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DG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04672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Domingo de Guzmán Greus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0" y="3657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&amp; AGRÍCOLA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4005072"/>
            <a:ext cx="3383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Ingeniero Agrónomo (UPM). Formación en automatización con IA y Arduino. Cultivo, I+D de variedades y operativa de producción.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Pocos gramos. Mucho valor.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Microbrotes y flores comestibles de máxima frescura, cosechados en su punto exacto de sabor, aroma y color. Producto de bajo gramaje y altísimo valor: unos pocos gramos cambian un plato y la percepción de toda una carta.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0" y="2148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+ 5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869680" y="2240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variedades en producción, y cinco más en desarrollo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3291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5-100 g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869680" y="3383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gramaje: bandeja viva, granel o monodosis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44348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6-10 días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45262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vida útil según variedad, gracias al corte en vivo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gourmet de cercanía, sin atajos.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5798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7627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0 real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334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Cultivado y entregado en Madrid. Una frescura que el producto importado o de larga distribución no puede igualar.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15798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13448" y="217627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ágil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6334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rápidas y producción a medida: la agilidad propia de un equipo pequeño y especializado.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6966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18795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directo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64515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directo con quien cultiva: respuesta inmediata, transparencia y control real del origen.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16966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418795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Cosecha viva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64515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 llega vivo y sigue creciendo. Aroma, color y textura intactos hasta el emplatado.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GAMA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variedades. Y las que pida el mercado.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9659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Cilantro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2569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Hinojo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31729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Rábano rojo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776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Guisante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379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Remolacha amarilla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9659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Albahaca genovesa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2569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Cebollino chino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31729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Rábano daikon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3776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Albahaca morada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343400" y="4379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0" y="437997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Remolacha roja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4672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458200" y="196596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Cebolla Barbra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2569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58200" y="25694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Mostaza Red Giant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458200" y="317296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Rábano pink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458200" y="377647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Amaranto rojo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046720" y="43799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flores comestibles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 variedades en desarrollo para una micromezcla co-desarrollada: la gama crece con cada cliente.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Cosecha viva, cero stock.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450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pedido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90779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Cortamos cuando nos lo pides. Producimos exactamente lo que se va a consumir: cero stock, cero merma, máxima frescura.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29000" y="219456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03320" y="2450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Hidroponía LED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90779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Cultivo sin tierra y sin pesticidas, en condiciones controladas. Misma calidad y mismo calibre, las 52 semanas del año.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219456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2450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total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90779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5 a 100 g; bandeja viva, granel o monodosis. Formato, punto de corte y mezclas a medida de cada cliente.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219456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24505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blanca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2907792"/>
            <a:ext cx="2057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etiqueta sobre nuestro producto. El distribuidor pone la marca; nosotros, la calidad y la constancia.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pedido a la mesa, en seis pasos.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57984"/>
            <a:ext cx="420624" cy="420624"/>
          </a:xfrm>
          <a:prstGeom prst="ellipse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7627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334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define variedad, formato y fecha. Producimos contra demanda real, no contra previsión.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157984"/>
            <a:ext cx="420624" cy="420624"/>
          </a:xfrm>
          <a:prstGeom prst="ellipse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84648" y="217627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Siembra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6334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Bandeja a bandeja, sobre sustrato limpio y con densidad calibrada por variedad.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157984"/>
            <a:ext cx="420624" cy="420624"/>
          </a:xfrm>
          <a:prstGeom prst="ellipse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887968" y="217627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Oscuridad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6334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Germinación en blackout (3-7 días) para lograr un brote uniforme y vigoroso.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374904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3986784"/>
            <a:ext cx="420624" cy="420624"/>
          </a:xfrm>
          <a:prstGeom prst="ellipse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81328" y="400507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4622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bajo LED, con riego y clima controlados (2-13 días según variedad).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374904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3986784"/>
            <a:ext cx="420624" cy="420624"/>
          </a:xfrm>
          <a:prstGeom prst="ellipse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1772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184648" y="400507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Cosecha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44622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en vivo en el punto justo, o entrega en bandeja viva, sin cortar.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374904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3986784"/>
            <a:ext cx="420624" cy="420624"/>
          </a:xfrm>
          <a:prstGeom prst="ellipse">
            <a:avLst/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210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887968" y="4005072"/>
            <a:ext cx="23134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4462272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24-48 h en Madrid, etiquetado a medida y con trazabilidad por lote.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7150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el ciclo queda registrado en nuestro ERP: cada bandeja es trazable de la semilla a la entrega.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Sabemos cuánto producimos, al gramo.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2763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variedad tiene su ciclo —germinación en oscuridad y crecimiento en luz— y un rendimiento por bandeja que medimos y registramos. Esa disciplina nos permite comprometer volúmenes y fechas con fiabilidad.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108813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2377440"/>
                <a:gridCol w="24688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VARIEDAD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CICLO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Rábano · ciclo corto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+ 2 días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ciclos/mes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 g / bandeja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Cilantro · ciclo medio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+ 9 días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ciclos/mes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g / bandeja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Albahaca · ciclo largo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+ 12 días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 ciclos/mes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g / bandeja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427939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 sobre 112 bandejas en luz simultánea (4 racks) · mix comercial: 40 % ciclo corto, 40 % medio, 20 % largo.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40080" y="470916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47091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actual: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~160 kg/mes con mix comercial de variedades · pico de ~350 kg/mes en monocultivo de ciclo corto.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ERP a medida, construido desde cero.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adaptamos un software genérico: hemos construido nuestro propio ERP. Pedidos, producción, trazabilidad y facturación viven en un único sistema diseñado para cómo trabajamos.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siguiente paso ya está dibujado: cuando la nave incorpore sensórica de clima y riego, esos datos se volcarán directamente al sistema.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· Supabase · datos en tiempo real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66560" y="2157984"/>
            <a:ext cx="310896" cy="310896"/>
          </a:xfrm>
          <a:prstGeom prst="ellipse">
            <a:avLst/>
          </a:prstGeom>
          <a:solidFill>
            <a:srgbClr val="8FBF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6656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1031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Pedidos, clientes y facturación en un único flujo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66560" y="2871216"/>
            <a:ext cx="310896" cy="310896"/>
          </a:xfrm>
          <a:prstGeom prst="ellipse">
            <a:avLst/>
          </a:prstGeom>
          <a:solidFill>
            <a:srgbClr val="8FBF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6656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816352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producción y trazabilidad por lote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766560" y="3584448"/>
            <a:ext cx="310896" cy="310896"/>
          </a:xfrm>
          <a:prstGeom prst="ellipse">
            <a:avLst/>
          </a:prstGeom>
          <a:solidFill>
            <a:srgbClr val="8FBF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352958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estimado y rendimiento real por variedad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66560" y="4297680"/>
            <a:ext cx="310896" cy="310896"/>
          </a:xfrm>
          <a:prstGeom prst="ellipse">
            <a:avLst/>
          </a:prstGeom>
          <a:solidFill>
            <a:srgbClr val="8FBF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4297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242816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conectar la sensórica de la nave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gestiona el negocio; mañana, también el cultivo.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Pequeños, pero ya facturando.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Operamos desde un local de 58 m² en Madrid con cuatro racks en producción continua. Una base compacta y eficiente que ya genera ingresos recurrentes.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m²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ACTUAL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377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926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RACKS EN CONTINUO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37744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9260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FACTURANDO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9136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activos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37083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distribuidores con pedido semanal recurrente, uno de ellos con acuerdo de consignación en marcha en Mercamadrid.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200" y="36576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913632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co-desarrollamos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4370832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micromezcla exclusiva para uno de nuestros distribuidores, que incorpora 5 variedades nuevas a la gama. El co-desarrollo no es una promesa: ya lo estamos haciendo.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idea al grupo, en seis hitos.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66928" cy="566928"/>
          </a:xfrm>
          <a:prstGeom prst="ellipse">
            <a:avLst/>
          </a:prstGeom>
          <a:solidFill>
            <a:srgbClr val="1F4D2B"/>
          </a:solidFill>
          <a:ln w="19050">
            <a:solidFill>
              <a:srgbClr val="1F4D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529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Constituir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Sociedad creada y planta de 58 m² operativa.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2148840"/>
            <a:ext cx="566928" cy="566928"/>
          </a:xfrm>
          <a:prstGeom prst="ellipse">
            <a:avLst/>
          </a:prstGeom>
          <a:solidFill>
            <a:srgbClr val="1F4D2B"/>
          </a:solidFill>
          <a:ln w="19050">
            <a:solidFill>
              <a:srgbClr val="1F4D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87168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487168" y="28529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487168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487168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validado y 2 distribuidores recurrentes.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34256" y="2148840"/>
            <a:ext cx="566928" cy="566928"/>
          </a:xfrm>
          <a:prstGeom prst="ellipse">
            <a:avLst/>
          </a:prstGeom>
          <a:solidFill>
            <a:srgbClr val="1F4D2B"/>
          </a:solidFill>
          <a:ln w="19050">
            <a:solidFill>
              <a:srgbClr val="1F4D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34256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334256" y="28529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334256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34256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Break-even, cartera estable y ronda cerrada.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81344" y="2148840"/>
            <a:ext cx="566928" cy="566928"/>
          </a:xfrm>
          <a:prstGeom prst="ellipse">
            <a:avLst/>
          </a:prstGeom>
          <a:solidFill>
            <a:srgbClr val="EEF4EA"/>
          </a:solidFill>
          <a:ln w="19050">
            <a:solidFill>
              <a:srgbClr val="D8E3D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81344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181344" y="28529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181344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 en marcha, 2 grandes clientes y 1er empleado.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28432" y="2148840"/>
            <a:ext cx="566928" cy="566928"/>
          </a:xfrm>
          <a:prstGeom prst="ellipse">
            <a:avLst/>
          </a:prstGeom>
          <a:solidFill>
            <a:srgbClr val="EEF4EA"/>
          </a:solidFill>
          <a:ln w="19050">
            <a:solidFill>
              <a:srgbClr val="D8E3D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28432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028432" y="28529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8028432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Diversificar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028432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líneas y adquisiciones con caja estable.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75520" y="2148840"/>
            <a:ext cx="566928" cy="566928"/>
          </a:xfrm>
          <a:prstGeom prst="ellipse">
            <a:avLst/>
          </a:prstGeom>
          <a:solidFill>
            <a:srgbClr val="EEF4EA"/>
          </a:solidFill>
          <a:ln w="19050">
            <a:solidFill>
              <a:srgbClr val="D8E3D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0" y="285292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Consolidar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875520" y="352044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o holding con Rootflow como OpCo.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conocimiento ya está adquirido: producto, clientes, ERP y operación validados antes de pedir un euro.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· HITO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salto: de 58 m² a una nave de 350 m².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5669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3-6 meses trasladamos la producción a una nave de 350 m² en el sur de Madrid. Tres racks de gran formato suman 2.880 posiciones de luz y llevan la superficie de cultivo a 432 m².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mismo mix de variedades que hoy, la capacidad pasa de ~160 a ~2.900 kg al mes: volumen suficiente para servir distribución a escala manteniendo el modelo de cosecha viva bajo pedido.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Nave en alquiler para no inmovilizar capital.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2103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350 m²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26517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 · SUR DE MADRID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9235440" y="21031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432 m²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9235440" y="26517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 DE CULTIVO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3474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18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4023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VS. HOY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9235440" y="3474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~2.900 kg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40233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MES · MISMO MIX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4406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Concebida para automatizarse por fases: sensórica y control de clima y riego, con datos en tiempo real integrados en el ERP.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RONDA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Buscamos 100.000 € para dar el salto.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STACK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54864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Inversor privado · propuesta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ENISA AgroInnpulso · en tramitación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levantado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200.000 €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Cubre la necesidad de 161.278 € del plan · cobertura 1,24×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691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PARA EL INVERSOR · ESCENARIO BASE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0116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560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ANUAL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20116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3,3×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560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9966960" y="2011680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Año 4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966960" y="256032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6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DE SALIDA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0080" y="379476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60120" y="3950208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· TRAMO INVERSOR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422452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en capital: 10 % de la sociedad por 100.000 € · derecho de salida pactado a partir del año 4 · suelo de protección de 1,5× sobre lo invertido · sin aval personal · los fundadores conservan el 90 % y el control.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ENISA exige fondos propios iguales o superiores al préstamo. El tramo privado entra como capital precisamente para cumplirlo: cada euro del inversor desbloquea otro euro público.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577900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Colchón de seguridad: caja mínima de 30.000 €, DSCR de 11,4× en los años 2-7 y circulante financiado con póliza de crédito, no con la ronda.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arranque al régimen pleno.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Año 1 va en pérdidas (EBITDA −52 k€): es la nave llenándose y la plantilla entrando antes que los ingresos. A partir de ahí la facturación sube cliente a cliente hasta el régimen: ~1,30 M€ y un 35 % de margen EBITDA.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286000"/>
          <a:ext cx="60350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2468880"/>
          <a:ext cx="46634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183 k€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1,03 M€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1,30 M€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−52 k€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 k€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460 k€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Margen 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6858000" y="44805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Apalancamiento operativo: las palancas —minutos por bandeja, precio y coste— llevan el margen EBITDA en régimen del 11 % (conservador) al 50 % (optimista).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715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 base del modelo financiero V15 · régimen pleno en el año 5 · cifras sin IVA.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modelo, tres casos.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45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Base es el plan de negocio. Cambiar una sola palanca —los minutos por bandeja, el precio o la automatización— recalcula plantilla, EBITDA, caja y retorno del inversor.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249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10,7 %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6499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DEL INVERSOR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3703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1,50×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41330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equity a la salida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4133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0,79 M€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628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· régimen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4562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1,03 M€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9926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régimen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2560320" y="49926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k€ · 11%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224028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1F4D2B"/>
          </a:solidFill>
          <a:ln w="12700">
            <a:solidFill>
              <a:srgbClr val="1F4D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27249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35,1 %</a:t>
            </a:r>
            <a:endParaRPr lang="en-US" sz="38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336499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9BA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DEL INVERSOR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3703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3,33×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1330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equity a la salida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4133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3,33 M€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45628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· régimen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4562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1,30 M€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617720" y="49926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BA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régimen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6263640" y="49926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 k€ · 35%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2240280"/>
            <a:ext cx="3429000" cy="3200400"/>
          </a:xfrm>
          <a:prstGeom prst="roundRect">
            <a:avLst>
              <a:gd name="adj" fmla="val 2571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21040" y="24231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272491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53,2 %</a:t>
            </a:r>
            <a:endParaRPr lang="en-US" sz="3800" dirty="0"/>
          </a:p>
        </p:txBody>
      </p:sp>
      <p:sp>
        <p:nvSpPr>
          <p:cNvPr id="33" name="Text 31"/>
          <p:cNvSpPr txBox="1"/>
          <p:nvPr/>
        </p:nvSpPr>
        <p:spPr>
          <a:xfrm>
            <a:off x="8321040" y="3364992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4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 DEL INVERSOR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3703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MOIC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966960" y="3703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5,51×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321040" y="413308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del equity a la salida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966960" y="41330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5,51 M€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45628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 · régimen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9966960" y="45628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1,52 M€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321040" y="49926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régimen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966960" y="49926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757 k€ · 50%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5778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el caso conservador el suelo de protección de 1,5× garantiza al inversor 150.000 € sobre los 100.000 € aportados: recupera su dinero con rentabilidad aunque el plan se quede corto.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palancas de crecimiento.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5798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7627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6334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Sensórica y control de clima y riego recortan el coste de mano de obra —la mayor partida en cultivo vertical— y elevan la producción por m².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15798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57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13448" y="217627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63347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vendemos en el rango bajo del sector. Con marca y relación con chefs consolidadas, hay recorrido de subida hacia precios premium.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16966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18795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premium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64515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peso de flores comestibles y variedades de alto valor por kilo: sube el ticket medio sin subir el coste de producción.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16966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169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418795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Nuevas líneas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64515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rack adicional escala sobre una estructura de costes fija. La misma base sostiene nuevas líneas y áreas de negocio.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3152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Entramos en capital porque ENISA lo exige.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6E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1226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13055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propios ≥ préstamo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877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ENISA exige fondos propios iguales o superiores al importe solicitado. Un préstamo participativo privado es deuda: no computa. Para movilizar los 100.000 € públicos, el tramo privado tiene que ser capital.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11226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112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13448" y="213055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Suelo de 1,5×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58775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inversor cobra el mayor de estos dos: su 10 % del valor de la compañía, o 1,5× lo aportado. Recupera con rentabilidad incluso en el escenario conservador.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03250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81328" y="405079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pactada desde el año 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50799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dividendos hasta amortizar ENISA. El retorno llega por un derecho de salida acordado desde el inicio, no por un cupón.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349240" cy="1737360"/>
          </a:xfrm>
          <a:prstGeom prst="roundRect">
            <a:avLst>
              <a:gd name="adj" fmla="val 4737"/>
            </a:avLst>
          </a:prstGeom>
          <a:solidFill>
            <a:srgbClr val="EEF4EA"/>
          </a:solidFill>
          <a:ln w="12700">
            <a:solidFill>
              <a:srgbClr val="D8E3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032504"/>
            <a:ext cx="420624" cy="420624"/>
          </a:xfrm>
          <a:prstGeom prst="ellipse">
            <a:avLst/>
          </a:prstGeom>
          <a:solidFill>
            <a:srgbClr val="8FBF6A"/>
          </a:solidFill>
          <a:ln w="12700">
            <a:solidFill>
              <a:srgbClr val="8FBF6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032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013448" y="4050792"/>
            <a:ext cx="4233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fundadores conservan el 90 %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450799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minoritaria sin derechos de veto sobre la operativa. El control no se toca.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4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firmada vía nota convertible y capitalizada antes de que ENISA formalice, tal y como exige su procedimiento.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3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657600"/>
            <a:ext cx="4754880" cy="4754880"/>
          </a:xfrm>
          <a:prstGeom prst="ellipse">
            <a:avLst/>
          </a:prstGeom>
          <a:solidFill>
            <a:srgbClr val="1F4D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40" kern="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CONOZCÁMONOS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Hablemos.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encantaría explorar juntos cómo sumaros a este proyecto.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Domecq</a:t>
            </a:r>
            <a:pPr indent="0" marL="0">
              <a:buNone/>
            </a:pPr>
            <a:r>
              <a:rPr lang="en-US" sz="1300" dirty="0">
                <a:solidFill>
                  <a:srgbClr val="9BA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Rootflow Hydroponics, S.L.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920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+34 638 16 19 90      ·      p.domecq@rootflow.es      ·      rootflow.es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A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ROOTFLOW HYDROPONICS</a:t>
            </a:r>
            <a:pPr indent="0" marL="0">
              <a:buNone/>
            </a:pPr>
            <a:r>
              <a:rPr lang="en-US" sz="800" spc="100" kern="0" dirty="0">
                <a:solidFill>
                  <a:srgbClr val="7A8C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MADRID   ·   rootflow.es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Rootflow — Dossier de presentación</dc:title>
  <dc:subject>PptxGenJS Presentation</dc:subject>
  <dc:creator>Rootflow Hydroponics</dc:creator>
  <cp:lastModifiedBy>Rootflow Hydroponics</cp:lastModifiedBy>
  <cp:revision>1</cp:revision>
  <dcterms:created xsi:type="dcterms:W3CDTF">2026-09-22T09:12:26Z</dcterms:created>
  <dcterms:modified xsi:type="dcterms:W3CDTF">2026-09-22T09:12:26Z</dcterms:modified>
</cp:coreProperties>
</file>