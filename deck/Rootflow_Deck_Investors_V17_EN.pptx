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73" r:id="rId2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24"/>
    <p:sldId id="267" r:id="rId14"/>
    <p:sldId id="279" r:id="rId29"/>
    <p:sldId id="280" r:id="rId30"/>
    <p:sldId id="271" r:id="rId21"/>
    <p:sldId id="272" r:id="rId22"/>
    <p:sldId id="275" r:id="rId25"/>
    <p:sldId id="276" r:id="rId26"/>
    <p:sldId id="277" r:id="rId27"/>
    <p:sldId id="278" r:id="rId28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6.xml"/><Relationship Id="rId22" Type="http://schemas.openxmlformats.org/officeDocument/2006/relationships/slide" Target="slides/slide17.xml"/>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  <Relationship Id="rId29" Type="http://schemas.openxmlformats.org/officeDocument/2006/relationships/slide" Target="slides/slide24.xml"/>
  <Relationship Id="rId30" Type="http://schemas.openxmlformats.org/officeDocument/2006/relationships/slide" Target="slides/slide25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mapa_zonas_v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1DD953D5-D3C3-C25A-3B9E-6A455336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497324" y="1063809"/>
            <a:ext cx="1167327" cy="11673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>
                <a:solidFill>
                  <a:srgbClr val="2C5F47"/>
                </a:solidFill>
                <a:latin typeface="Arial"/>
              </a:rPr>
              <a:t xml:space="preserve">INVESTOR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289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1D4F37"/>
                </a:solidFill>
                <a:latin typeface="Arial"/>
              </a:rPr>
              <a:t xml:space="preserve">Living microgreens,</a:t>
            </a:r>
          </a:p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ED7E1F"/>
                </a:solidFill>
                <a:latin typeface="Arial"/>
              </a:rPr>
              <a:t xml:space="preserve">grown in Madrid.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3A453F"/>
                </a:solidFill>
                <a:latin typeface="Arial"/>
              </a:rPr>
              <a:t xml:space="preserve">Precision hydroponics · Live, made-to-order harvest · Zero food miles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98348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25780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 spc="260" dirty="0">
                <a:solidFill>
                  <a:srgbClr val="2C5F47"/>
                </a:solidFill>
                <a:latin typeface="Arial"/>
              </a:rPr>
              <a:t xml:space="preserve">OCTOBER 2026</a:t>
            </a:r>
            <a:endParaRPr sz="1250" b="1" i="0" spc="260" dirty="0">
              <a:solidFill>
                <a:srgbClr val="2C5F47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ABOUT US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WHO WE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We grow like artisans.</a:t>
            </a:r>
          </a:p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ED7E1F"/>
                </a:solidFill>
                <a:latin typeface="Arial"/>
              </a:rPr>
              <a:t xml:space="preserve">We operate like a company.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 xml:space="preserve">Rootflow Hydroponics was founded in Madrid in 2026 with a simple idea: to bring professional kitchens living microgreens at their peak, hours after harvest.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 xml:space="preserve">We grow with precision LED hydroponics and harvest only to order, for distributors, wholesalers, and foodservice. No inventory, no waste, always made to order.</a:t>
            </a:r>
          </a:p>
        </p:txBody>
      </p:sp>
      <p:pic>
        <p:nvPicPr>
          <p:cNvPr id="9" name="Picture 8" descr="pin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32918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GROWN IN MADRID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5858" y="5106670"/>
            <a:ext cx="222427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14+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858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VARIETIES IN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5106670"/>
            <a:ext cx="186080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>24–48 h</a:t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HARVEST TO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3094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094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 xml:space="preserve">CUSTOM TO EACH CLIENT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A6D5305-8B58-EC77-D0C8-14643B712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3FF5B4-33D5-04E7-678F-B434EAE1C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26" y="1428326"/>
            <a:ext cx="4435405" cy="332655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MARKET CONTEXT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THE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54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ES" sz="3000" b="1" i="0" dirty="0">
                <a:solidFill>
                  <a:srgbClr val="1D4F37"/>
                </a:solidFill>
                <a:latin typeface="Arial"/>
              </a:rPr>
              <a:t xml:space="preserve">A young category </a:t>
            </a:r>
            <a:r>
              <a:rPr sz="3000" b="1" i="0" dirty="0">
                <a:solidFill>
                  <a:srgbClr val="ED7E1F"/>
                </a:solidFill>
                <a:latin typeface="Arial"/>
              </a:rPr>
              <a:t xml:space="preserve">growing double digits*.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989320" cy="490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Microgreens are no longer a fine-dining curiosity: it's a ~$3B global category set to double this decade — and Europe leads the market.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14878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 xml:space="preserve">— 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2622"/>
            <a:ext cx="5989320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Microgreens pack up to 40× more nutrients than their mature counterparts.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8110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 xml:space="preserve">— PROXIMITY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4165854"/>
            <a:ext cx="6107137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>Consumers and chefs reward local, fresh, sustainable produce — the heart of zero food miles.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15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41342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 xml:space="preserve">—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79086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Indoor vertical farming is the fastest-growing format in the category (12.5% per year).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8896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~$3B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GLOBAL MARKET</a:t>
            </a:r>
            <a:endParaRPr lang="es-ES" sz="850" b="1" i="0" spc="100" dirty="0">
              <a:solidFill>
                <a:srgbClr val="9BC9AE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>2×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PROJECTED SIZE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 2031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+11%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ANNUAL GROWTH (CAGR)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>~36%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EUROPE'S SHARE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0634472" cy="566928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>Rootflow sits right where these trends meet:  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premium microgreens, vertical farming, and zero food miles.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25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9905"/>
            <a:ext cx="106070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850" b="0" i="1" dirty="0">
                <a:solidFill>
                  <a:srgbClr val="8A827B"/>
                </a:solidFill>
                <a:latin typeface="Arial"/>
              </a:rPr>
              <a:t xml:space="preserve">* Sources: Mordor Intelligence, Microgreens Market Report (Jan. 2026) · Grand View Research, Microgreens Market Analysis (2023).</a:t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8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 xml:space="preserve"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32764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400800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20F61E5-EB05-75A2-2AA1-934A10B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 9" descr="Foto montaje de la cara de un hombre serio  El contenido generado por IA puede ser incorrecto.">
            <a:extLst>
              <a:ext uri="{FF2B5EF4-FFF2-40B4-BE49-F238E27FC236}">
                <a16:creationId xmlns:a16="http://schemas.microsoft.com/office/drawing/2014/main" id="{F74BCA9C-1A37-9992-3A15-5C823990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2511923"/>
            <a:ext cx="1144800" cy="1144800"/>
          </a:xfrm>
          <a:prstGeom prst="flowChartConnector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5A27087-FE0E-1E79-77A6-D1B791916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140" y="25146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FEA949A-ECCE-A2EF-2F98-406661649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888" y="25128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THE TEAM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 dirty="0">
                <a:solidFill>
                  <a:srgbClr val="ED7E1F"/>
                </a:solidFill>
                <a:latin typeface="Arial"/>
              </a:rPr>
              <a:t xml:space="preserve">WHO WE ARE</a:t>
            </a:r>
            <a:r>
              <a:rPr lang="es-ES" sz="11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  <a:endParaRPr sz="115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 dirty="0">
                <a:solidFill>
                  <a:srgbClr val="1D4F37"/>
                </a:solidFill>
                <a:latin typeface="Arial"/>
              </a:rPr>
              <a:t xml:space="preserve">Three founders,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 xml:space="preserve">three fronts covered.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Vergara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960" y="4416552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 xml:space="preserve">ADMINISTRATION &amp;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543" y="4737468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BBA (ICADE)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Background in strategy consulting and M&amp;A. Leads finance, administration, and corporate structure.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Nicolás Bustamante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Thams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4421124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 xml:space="preserve">SALES &amp; HOSPITALITY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323" y="4732020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BBA (Richmond University)</a:t>
            </a: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Background in foodservice business development. Manages restaurant and distributor relationships and market entry.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Domingo de G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uzmán</a:t>
            </a:r>
            <a:r>
              <a:rPr lang="es-ES" sz="1650" b="1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Greus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5912" y="4416552"/>
            <a:ext cx="331012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 xml:space="preserve">PRODUCTION &amp; AGRONOMY</a:t>
            </a:r>
            <a:r>
              <a:rPr lang="es-ES" sz="1000" b="1" i="0" spc="260" dirty="0">
                <a:solidFill>
                  <a:srgbClr val="ED7E1F"/>
                </a:solidFill>
                <a:latin typeface="Arial"/>
              </a:rPr>
              <a:t xml:space="preserve"/>
            </a:r>
            <a:endParaRPr sz="100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65592" y="4727448"/>
            <a:ext cx="2794508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Agricultural Engineer (UPM)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Trained in AI- and Arduino-based greenhouse automation. Leads cultivation, variety R&amp;D, and production operations.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B4DD586-3912-993E-7C9A-731269625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BB50B5D-2AF7-22D9-FDB0-733514B44D66}"/>
              </a:ext>
            </a:extLst>
          </p:cNvPr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PRODUCT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WHAT WE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0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 err="1">
                <a:solidFill>
                  <a:srgbClr val="1D4F37"/>
                </a:solidFill>
                <a:latin typeface="Arial"/>
              </a:rPr>
              <a:t xml:space="preserve">A few grams.</a:t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3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/>
            </a:r>
          </a:p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Huge value.</a:t>
            </a:r>
            <a:r>
              <a:rPr lang="es-ES" sz="3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5943600" cy="109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>Ultra-fresh microgreens and edible flowers, harvested at their exact peak of flavor, aroma, and color. Low weight, extremely high value: a few grams transform a dish — and the perception of an entire menu.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14 + 5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varieties in production, with five more in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5–100 g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any portion: live tray, bulk, or single-serve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6–10 days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of shelf life by variety, thanks to live harvest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E32DF22-DD28-A80B-9EDA-45C8D3FD1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C503205-90E0-92C0-9335-E5DC33F326E7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3EF81A-FD04-F374-2C11-B17AEF073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70" r="16076"/>
          <a:stretch>
            <a:fillRect/>
          </a:stretch>
        </p:blipFill>
        <p:spPr>
          <a:xfrm>
            <a:off x="7258882" y="1450965"/>
            <a:ext cx="4125398" cy="4330113"/>
          </a:xfrm>
          <a:prstGeom prst="snip2Diag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VALUE PROPOSITION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WHY ROOTFLOW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Gourmet produce,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close to home,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no shortcuts.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 — ORIGIN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True zero-mile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Grown and delivered in Madrid. A freshness imported or long-haul produce simply can't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 — SCALE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Agile 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Fast decisions and made-to-order production: the agility of a small, specialized team.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III — PROXIMITY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Direct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Deal directly with the grower: instant response, transparency, and real control over sourcing.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IV — HARVEST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Live harvest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The product arrives alive and keeps growing. Aroma, color, and texture intact until plating.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THE RANGE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VARIETIES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14 varieties.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And whatever the market wants.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Cilantro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Coriandrum sativum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Fennel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Foeniculum vulgare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Radish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Pea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Pisum sativum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05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Yellow Beet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06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Genovese Basil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07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Chinese Chives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tuberosum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08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Daikon Radish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09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Purple Basil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10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Beet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Barbra Onion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cepa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Giant Mustard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Brassica juncea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Pink Radish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Red Amaranth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Amaranthus tricolor</a:t>
            </a:r>
          </a:p>
        </p:txBody>
      </p:sp>
      <p:pic>
        <p:nvPicPr>
          <p:cNvPr id="22" name="Picture 21" descr="cebollino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cebolla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777240" y="5842762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>+5 in development for a co-developed micro-mix</a:t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>  ·  the range grows with every client.</a:t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FC4B6E3-EAB7-5CB8-AAB6-D72626857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32" name="Picture 12" descr="rabano_r.png">
            <a:extLst>
              <a:ext uri="{FF2B5EF4-FFF2-40B4-BE49-F238E27FC236}">
                <a16:creationId xmlns:a16="http://schemas.microsoft.com/office/drawing/2014/main" id="{00DCAB08-AA3D-4AEB-F3B1-78D4CDE27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280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4" descr="albahaca_r.png">
            <a:extLst>
              <a:ext uri="{FF2B5EF4-FFF2-40B4-BE49-F238E27FC236}">
                <a16:creationId xmlns:a16="http://schemas.microsoft.com/office/drawing/2014/main" id="{905E74BB-8564-B262-EACA-50B8A8DDD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4945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EA82E80-4966-428A-FFC5-61419ADC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83" y="2652119"/>
            <a:ext cx="668556" cy="66855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5F21B29-1320-3B90-524B-9809EE83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40" y="2690119"/>
            <a:ext cx="580633" cy="580633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HOW WE DO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Live harvest,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zero inventory.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 xml:space="preserve">Made to order</a:t>
            </a:r>
            <a:r>
              <a:rPr sz="165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We cut when you order. We produce exactly what will be consumed: zero inventory, zero waste, maximum freshness.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 xml:space="preserve">LED hydroponics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Soil-free, pesticide-free cultivation in controlled conditions. Same quality and size, 52 weeks a year.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 xml:space="preserve">Total flexibility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From 5 to 100 g; live tray, bulk, or single-serve. Format, cut point, and blends tailored to each client.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 xml:space="preserve">Private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Your label on our product. The distributor brings the brand; we bring the quality and consistency.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F1B8F9-55AE-1CA8-4293-2FC19B11D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756" y="2717182"/>
            <a:ext cx="630930" cy="63093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5B263A2-FD9F-C8A3-2E21-CFE6C99A5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716" y="2671462"/>
            <a:ext cx="630930" cy="630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PROCESS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HOW WE PRODUCE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From order to plate,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in six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01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The client sets variety, format, and date. We produce against real demand, not forecasts.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02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Sowing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Tray by tray, on clean substrate at a density calibrated per variety.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03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Blackout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Germination in blackout (3–7 days) for a uniform, vigorous sprout.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04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Growth under LED, with controlled irrigation and climate (2–13 days by variety).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05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Harvest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 xml:space="preserve">Live-cut at the perfect point — or delivered as a living tray, uncut.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06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449318"/>
            <a:ext cx="3346704" cy="40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Within 24–48 h in Madrid, custom-labeled and traceable by batch.</a:t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20" name="Chevron 19"/>
          <p:cNvSpPr/>
          <p:nvPr/>
        </p:nvSpPr>
        <p:spPr>
          <a:xfrm>
            <a:off x="3886200" y="2940558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7653528" y="299542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3886200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644384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The entire cycle is logged in our ERP: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every tray is traceable from seed to delivery.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OPERATIONS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PRODUCTION &amp;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We know what we produce,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down to the gram.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Every variety has its cycle — blackout germination and growth under light — and a per-tray yield we measure and log. That discipline lets us commit to volumes and dates with full reliability.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VARIETY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015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CYCLE (BLACKOUT + LIGHT)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4015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ROTATION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40156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 xml:space="preserve">YIELD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730752"/>
            <a:ext cx="10607040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 xml:space="preserve">Radish · short 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587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3 + 3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587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10 cycles/mo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245 g / tray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2611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3159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 xml:space="preserve">Cilantro · medium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3988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 xml:space="preserve">5 + 10 days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398820"/>
            <a:ext cx="23774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3 cycles/mo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endParaRPr sz="1300" b="0" i="0" dirty="0">
              <a:solidFill>
                <a:srgbClr val="3A453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98280" y="439882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>145 g / tray</a:t>
            </a:r>
            <a:r>
              <a:rPr lang="es-ES"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endParaRPr sz="1300" b="1" i="0" dirty="0">
              <a:solidFill>
                <a:srgbClr val="ED7E1F"/>
              </a:solidFill>
              <a:latin typeface="Arial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7183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 xml:space="preserve">Basil · long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560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 xml:space="preserve">5 + 13 days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7731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2.3 cycles/mo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773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90 g / tray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>Estimate based on 96 trays under light simultaneously (3 towers, 14.4 m² of growing surface) · planned variety mix · yields measured in production.</a:t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Current capacity:  </a:t>
            </a:r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~120 kg/mo with a commercial variety mix  ·  peak of ~240 kg/mo in short-cycle monoculture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/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TECHNOLOGY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PROPRIETARY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A custom ERP,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 xml:space="preserve">built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35224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We didn't adapt off-the-shelf software: we built our own ERP. Orders, production, traceability, and invoicing live in a single system designed around how we work. And the next step is already mapped: once the facility adds climate and irrigation sensors, that data will flow straight into the system.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pic>
        <p:nvPicPr>
          <p:cNvPr id="9" name="Picture 8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44568"/>
            <a:ext cx="170993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5262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Orders, clients, and invoicing in a single flow</a:t>
            </a:r>
          </a:p>
        </p:txBody>
      </p:sp>
      <p:pic>
        <p:nvPicPr>
          <p:cNvPr id="11" name="Picture 10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56048"/>
            <a:ext cx="170993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4937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Production planning and batch-level traceability</a:t>
            </a:r>
          </a:p>
        </p:txBody>
      </p:sp>
      <p:pic>
        <p:nvPicPr>
          <p:cNvPr id="13" name="Picture 12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67528"/>
            <a:ext cx="170993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53492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 xml:space="preserve">Estimated stock and real yield by variety</a:t>
            </a:r>
          </a:p>
        </p:txBody>
      </p:sp>
      <p:pic>
        <p:nvPicPr>
          <p:cNvPr id="15" name="Picture 14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79008"/>
            <a:ext cx="170993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5760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>Ready to connect the facility's sensors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463040"/>
            <a:ext cx="4233672" cy="457200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7830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9BC9AE"/>
                </a:solidFill>
                <a:latin typeface="Arial"/>
              </a:rPr>
              <a:t>ROOTFLOW ERP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 xml:space="preserve">Orders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OF THE WEEK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 xml:space="preserve">Production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BY TRAY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 xml:space="preserve">Traceability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BY BATCH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>
                <a:solidFill>
                  <a:srgbClr val="FCF1ED"/>
                </a:solidFill>
                <a:latin typeface="Arial"/>
              </a:rPr>
              <a:t xml:space="preserve">Stock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ESTIMATED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0940" y="4559014"/>
            <a:ext cx="3611880" cy="876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React · Supabase · real-time data.  Runs the business today; the crop tomorrow.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lang="es-ES"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/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 xml:space="preserve"/>
            </a:r>
            <a:endParaRPr lang="es-ES" sz="1150" b="0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lang="es-ES" sz="1600" b="1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sz="1150" b="0" dirty="0">
              <a:solidFill>
                <a:srgbClr val="D8ECDF"/>
              </a:solidFill>
              <a:latin typeface="Arial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279EC401-9780-85FC-70A4-938CFF74D018}"/>
              </a:ext>
            </a:extLst>
          </p:cNvPr>
          <p:cNvSpPr/>
          <p:nvPr/>
        </p:nvSpPr>
        <p:spPr>
          <a:xfrm>
            <a:off x="8449056" y="5128534"/>
            <a:ext cx="1691640" cy="69723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lang="es-ES" sz="1400" b="1" i="0" dirty="0">
                <a:solidFill>
                  <a:srgbClr val="FCF1ED"/>
                </a:solidFill>
                <a:latin typeface="Arial"/>
              </a:rPr>
              <a:t xml:space="preserve">25,000+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lang="es-ES" sz="850" b="1" i="0" spc="100" dirty="0">
                <a:solidFill>
                  <a:srgbClr val="9BC9AE"/>
                </a:solidFill>
                <a:latin typeface="Arial"/>
              </a:rPr>
              <a:t xml:space="preserve">LINES OF CODE</a:t>
            </a:r>
            <a:endParaRPr sz="850" b="1" i="0" spc="100" dirty="0">
              <a:solidFill>
                <a:srgbClr val="9BC9AE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BF9D78D-06CE-2CC6-4202-422299333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TRACTION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WHERE WE ARE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Small,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but already 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We operate from a 58 m² space in Madrid with three growing towers in continuous production. A compact, efficient base already generating recurring revenue.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0309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>58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CURRENT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1417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 xml:space="preserve"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TOWERS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88620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ED7E1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PAYING 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2C5F47"/>
                </a:solidFill>
                <a:latin typeface="Arial"/>
              </a:rPr>
              <a:t xml:space="preserve">ACTIVE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9824"/>
            <a:ext cx="5120640" cy="20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Two distributors with recurring weekly orders, one of them with a consignment deal underway at Mercamadrid, Madrid's wholesale market.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5102352" cy="324612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9BC9AE"/>
                </a:solidFill>
                <a:latin typeface="Arial"/>
              </a:rPr>
              <a:t xml:space="preserve">ALREADY CO-DEVELOPING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37560"/>
            <a:ext cx="4480560" cy="285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 dirty="0" err="1">
                <a:solidFill>
                  <a:srgbClr val="FCF1ED"/>
                </a:solidFill>
                <a:latin typeface="Arial"/>
              </a:rPr>
              <a:t xml:space="preserve">Exclusive micro-mix</a:t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1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An exclusive blend for one of our distributors, adding 5 new varieties to the range.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/>
            </a:r>
          </a:p>
          <a:p>
            <a:pPr>
              <a:lnSpc>
                <a:spcPct val="124000"/>
              </a:lnSpc>
            </a:pP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Co-development isn't a promise: we're already doing it.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 xml:space="preserve"/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/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FB94539-0AE8-C137-72FC-3DC0DB29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ROADMAP · MILESTONE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WHERE WE'RE HEADED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The leap: from 58 m²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a 350 m² facility.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In 3–6 months we move production to a 350 m² facility in southern Madrid. Three large-format racks add 2,880 light positions and take growing surface from 14.4 m² to 432 m².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Growing capacity multiplies by 30. At full run-rate, the plan projects ~3,100 kg per month: enough volume to serve distribution at scale and supply restaurants in our hot zones, while keeping the live, made-to-order model.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Growth funded by the round plus a working-capital line; the facility is leased to avoid tying up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>350 m²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 xml:space="preserve">FACILITY · SOUTH MADRID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432 m²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 xml:space="preserve">GROWING SURFACE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30×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CAPACITY VS. TODAY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>~3,100 kg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PER MONTH · RUN-RATE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Designed to automate in phases: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climate and irrigation sensing and control, with real-time data flowing into our ERP.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Orderly growth, financed with discipline.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 dirty="0">
                <a:solidFill>
                  <a:srgbClr val="2C5F47"/>
                </a:solidFill>
                <a:latin typeface="Arial"/>
              </a:rPr>
              <a:t xml:space="preserve">LET'S 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28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 dirty="0" err="1">
                <a:solidFill>
                  <a:srgbClr val="1D4F37"/>
                </a:solidFill>
                <a:latin typeface="Arial"/>
              </a:rPr>
              <a:t xml:space="preserve">Let's talk.</a:t>
            </a:r>
            <a:r>
              <a:rPr sz="4800" b="1" i="0" dirty="0">
                <a:solidFill>
                  <a:srgbClr val="1D4F37"/>
                </a:solidFill>
                <a:latin typeface="Arial"/>
              </a:rPr>
              <a:t xml:space="preserve"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49039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>
                <a:solidFill>
                  <a:srgbClr val="3A453F"/>
                </a:solidFill>
                <a:latin typeface="Arial"/>
              </a:rPr>
              <a:t xml:space="preserve">We'd love to show you the farm in Madrid and explore how you might join this project.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89204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166360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sz="1400" b="1" i="0" dirty="0">
                <a:solidFill>
                  <a:srgbClr val="1D4F37"/>
                </a:solidFill>
                <a:latin typeface="Arial"/>
              </a:rPr>
              <a:t xml:space="preserve">·  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>ROOTFLOW HYDROPONICS SL</a:t>
            </a:r>
            <a:endParaRPr sz="140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57784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3A453F"/>
                </a:solidFill>
                <a:latin typeface="Arial"/>
              </a:rPr>
              <a:t>+34 6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38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16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1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9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9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0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     </a:t>
            </a:r>
            <a:r>
              <a:rPr lang="es-ES" sz="1250" b="1" i="0" dirty="0" err="1">
                <a:solidFill>
                  <a:srgbClr val="ED7E1F"/>
                </a:solidFill>
                <a:latin typeface="Arial"/>
              </a:rPr>
              <a:t>p.domecq</a:t>
            </a:r>
            <a:r>
              <a:rPr sz="1250" b="1" i="0" dirty="0">
                <a:solidFill>
                  <a:srgbClr val="ED7E1F"/>
                </a:solidFill>
                <a:latin typeface="Arial"/>
              </a:rPr>
              <a:t xml:space="preserve">@rootflow.es      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rootflow.es</a:t>
            </a:r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A393336C-FE95-1659-B7E2-FA651E8A9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2184" y="1077998"/>
            <a:ext cx="1167327" cy="11673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THE ROUND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WHAT WE'RE RAISING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We're raising €100,000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make the leap.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Safety margin: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€30,000 minimum cash, 15.9× minimum DSCR (years 2–7), and working capital on a credit line — not the round.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Orderly growth, financed with discipline.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601" name="X601"/>
          <p:cNvSpPr txBox="1"/>
          <p:nvPr/>
        </p:nvSpPr>
        <p:spPr>
          <a:xfrm>
            <a:off x="777240" y="2340864"/>
            <a:ext cx="45720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CAPITAL STACK</a:t>
            </a:r>
          </a:p>
        </p:txBody>
      </p:sp>
      <p:sp>
        <p:nvSpPr>
          <p:cNvPr id="602" name="X602"/>
          <p:cNvSpPr/>
          <p:nvPr/>
        </p:nvSpPr>
        <p:spPr>
          <a:xfrm>
            <a:off x="777240" y="2542032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X603"/>
          <p:cNvSpPr txBox="1"/>
          <p:nvPr/>
        </p:nvSpPr>
        <p:spPr>
          <a:xfrm>
            <a:off x="960120" y="254203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1" i="0" spc="60">
                <a:solidFill>
                  <a:srgbClr val="D8ECDF"/>
                </a:solidFill>
                <a:latin typeface="Arial"/>
              </a:rPr>
              <a:t>PRIVATE INVESTOR · equity, 10%</a:t>
            </a:r>
          </a:p>
        </p:txBody>
      </p:sp>
      <p:sp>
        <p:nvSpPr>
          <p:cNvPr id="604" name="X604"/>
          <p:cNvSpPr txBox="1"/>
          <p:nvPr/>
        </p:nvSpPr>
        <p:spPr>
          <a:xfrm>
            <a:off x="3840480" y="254203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n-US" sz="1400" b="1" i="0">
                <a:solidFill>
                  <a:srgbClr val="FCF1ED"/>
                </a:solidFill>
                <a:latin typeface="Arial"/>
              </a:rPr>
              <a:t>€100,000</a:t>
            </a:r>
          </a:p>
        </p:txBody>
      </p:sp>
      <p:sp>
        <p:nvSpPr>
          <p:cNvPr id="605" name="X605"/>
          <p:cNvSpPr/>
          <p:nvPr/>
        </p:nvSpPr>
        <p:spPr>
          <a:xfrm>
            <a:off x="777240" y="3035808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 w="12700">
            <a:solidFill>
              <a:srgbClr val="1D4F37"/>
            </a:solidFill>
          </a:ln>
        </p:spPr>
        <p:txBody>
          <a:bodyPr/>
          <a:lstStyle/>
          <a:p/>
        </p:txBody>
      </p:sp>
      <p:sp>
        <p:nvSpPr>
          <p:cNvPr id="606" name="X606"/>
          <p:cNvSpPr txBox="1"/>
          <p:nvPr/>
        </p:nvSpPr>
        <p:spPr>
          <a:xfrm>
            <a:off x="960120" y="3035808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1" i="0" spc="60">
                <a:solidFill>
                  <a:srgbClr val="1D4F37"/>
                </a:solidFill>
                <a:latin typeface="Arial"/>
              </a:rPr>
              <a:t>ENISA AGROINNPULSO · loan in process</a:t>
            </a:r>
          </a:p>
        </p:txBody>
      </p:sp>
      <p:sp>
        <p:nvSpPr>
          <p:cNvPr id="607" name="X607"/>
          <p:cNvSpPr txBox="1"/>
          <p:nvPr/>
        </p:nvSpPr>
        <p:spPr>
          <a:xfrm>
            <a:off x="3840480" y="3035808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n-US" sz="1400" b="1" i="0">
                <a:solidFill>
                  <a:srgbClr val="1D4F37"/>
                </a:solidFill>
                <a:latin typeface="Arial"/>
              </a:rPr>
              <a:t>€100,000</a:t>
            </a:r>
          </a:p>
        </p:txBody>
      </p:sp>
      <p:sp>
        <p:nvSpPr>
          <p:cNvPr id="608" name="X608"/>
          <p:cNvSpPr txBox="1"/>
          <p:nvPr/>
        </p:nvSpPr>
        <p:spPr>
          <a:xfrm>
            <a:off x="777240" y="35478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1" i="0" spc="100">
                <a:solidFill>
                  <a:srgbClr val="8A827B"/>
                </a:solidFill>
                <a:latin typeface="Arial"/>
              </a:rPr>
              <a:t>TOTAL RAISED</a:t>
            </a:r>
          </a:p>
        </p:txBody>
      </p:sp>
      <p:sp>
        <p:nvSpPr>
          <p:cNvPr id="609" name="X609"/>
          <p:cNvSpPr txBox="1"/>
          <p:nvPr/>
        </p:nvSpPr>
        <p:spPr>
          <a:xfrm>
            <a:off x="3840480" y="35478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n-US" sz="1400" b="1" i="0">
                <a:solidFill>
                  <a:srgbClr val="1D4F37"/>
                </a:solidFill>
                <a:latin typeface="Arial"/>
              </a:rPr>
              <a:t>€200,000</a:t>
            </a:r>
          </a:p>
        </p:txBody>
      </p:sp>
      <p:sp>
        <p:nvSpPr>
          <p:cNvPr id="610" name="X610"/>
          <p:cNvSpPr txBox="1"/>
          <p:nvPr/>
        </p:nvSpPr>
        <p:spPr>
          <a:xfrm>
            <a:off x="777240" y="3822192"/>
            <a:ext cx="48920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00" b="0" i="0">
                <a:solidFill>
                  <a:srgbClr val="8A827B"/>
                </a:solidFill>
                <a:latin typeface="Arial"/>
              </a:rPr>
              <a:t>Covers the plan's €173,048 need  ·  1.16× coverage</a:t>
            </a:r>
          </a:p>
        </p:txBody>
      </p:sp>
      <p:sp>
        <p:nvSpPr>
          <p:cNvPr id="611" name="X611"/>
          <p:cNvSpPr txBox="1"/>
          <p:nvPr/>
        </p:nvSpPr>
        <p:spPr>
          <a:xfrm>
            <a:off x="6035040" y="2340864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INVESTOR RETURN  ·  BASE CASE</a:t>
            </a:r>
          </a:p>
        </p:txBody>
      </p:sp>
      <p:sp>
        <p:nvSpPr>
          <p:cNvPr id="612" name="X612"/>
          <p:cNvSpPr txBox="1"/>
          <p:nvPr/>
        </p:nvSpPr>
        <p:spPr>
          <a:xfrm>
            <a:off x="603504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2400" b="1" i="0">
                <a:solidFill>
                  <a:srgbClr val="1D4F37"/>
                </a:solidFill>
                <a:latin typeface="Arial"/>
              </a:rPr>
              <a:t>51%</a:t>
            </a:r>
          </a:p>
        </p:txBody>
      </p:sp>
      <p:sp>
        <p:nvSpPr>
          <p:cNvPr id="613" name="X613"/>
          <p:cNvSpPr txBox="1"/>
          <p:nvPr/>
        </p:nvSpPr>
        <p:spPr>
          <a:xfrm>
            <a:off x="603504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50" b="1" i="0" spc="100">
                <a:solidFill>
                  <a:srgbClr val="8A827B"/>
                </a:solidFill>
                <a:latin typeface="Arial"/>
              </a:rPr>
              <a:t>ANNUAL IRR</a:t>
            </a:r>
          </a:p>
        </p:txBody>
      </p:sp>
      <p:sp>
        <p:nvSpPr>
          <p:cNvPr id="614" name="X614"/>
          <p:cNvSpPr txBox="1"/>
          <p:nvPr/>
        </p:nvSpPr>
        <p:spPr>
          <a:xfrm>
            <a:off x="781812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2400" b="1" i="0">
                <a:solidFill>
                  <a:srgbClr val="3A453F"/>
                </a:solidFill>
                <a:latin typeface="Arial"/>
              </a:rPr>
              <a:t>5.2×</a:t>
            </a:r>
          </a:p>
        </p:txBody>
      </p:sp>
      <p:sp>
        <p:nvSpPr>
          <p:cNvPr id="615" name="X615"/>
          <p:cNvSpPr txBox="1"/>
          <p:nvPr/>
        </p:nvSpPr>
        <p:spPr>
          <a:xfrm>
            <a:off x="781812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50" b="1" i="0" spc="10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616" name="X616"/>
          <p:cNvSpPr txBox="1"/>
          <p:nvPr/>
        </p:nvSpPr>
        <p:spPr>
          <a:xfrm>
            <a:off x="960120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2400" b="1" i="0">
                <a:solidFill>
                  <a:srgbClr val="3A453F"/>
                </a:solidFill>
                <a:latin typeface="Arial"/>
              </a:rPr>
              <a:t>Year 4</a:t>
            </a:r>
          </a:p>
        </p:txBody>
      </p:sp>
      <p:sp>
        <p:nvSpPr>
          <p:cNvPr id="617" name="X617"/>
          <p:cNvSpPr txBox="1"/>
          <p:nvPr/>
        </p:nvSpPr>
        <p:spPr>
          <a:xfrm>
            <a:off x="960120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50" b="1" i="0" spc="100">
                <a:solidFill>
                  <a:srgbClr val="8A827B"/>
                </a:solidFill>
                <a:latin typeface="Arial"/>
              </a:rPr>
              <a:t>EXIT HORIZON</a:t>
            </a:r>
          </a:p>
        </p:txBody>
      </p:sp>
      <p:sp>
        <p:nvSpPr>
          <p:cNvPr id="618" name="X618"/>
          <p:cNvSpPr/>
          <p:nvPr/>
        </p:nvSpPr>
        <p:spPr>
          <a:xfrm>
            <a:off x="6035040" y="3200400"/>
            <a:ext cx="53492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X619"/>
          <p:cNvSpPr txBox="1"/>
          <p:nvPr/>
        </p:nvSpPr>
        <p:spPr>
          <a:xfrm>
            <a:off x="6035040" y="3273552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TERMS · INVESTOR TRANCHE</a:t>
            </a:r>
          </a:p>
        </p:txBody>
      </p:sp>
      <p:sp>
        <p:nvSpPr>
          <p:cNvPr id="620" name="X620"/>
          <p:cNvSpPr txBox="1"/>
          <p:nvPr/>
        </p:nvSpPr>
        <p:spPr>
          <a:xfrm>
            <a:off x="6035040" y="3474720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Equity investment: 10% of the company for €100,000 · exit right agreed from year 4 · 1.5× downside floor on the amount invested · no personal guarantee · founders keep 90% and control.</a:t>
            </a:r>
          </a:p>
        </p:txBody>
      </p:sp>
      <p:sp>
        <p:nvSpPr>
          <p:cNvPr id="621" name="X621"/>
          <p:cNvSpPr/>
          <p:nvPr/>
        </p:nvSpPr>
        <p:spPr>
          <a:xfrm>
            <a:off x="777240" y="4114800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X622"/>
          <p:cNvSpPr txBox="1"/>
          <p:nvPr/>
        </p:nvSpPr>
        <p:spPr>
          <a:xfrm>
            <a:off x="960120" y="411480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Why equity:  </a:t>
            </a:r>
            <a:r>
              <a:rPr lang="en-US" sz="900" b="0" i="0">
                <a:solidFill>
                  <a:srgbClr val="2C5F47"/>
                </a:solidFill>
                <a:latin typeface="Arial"/>
              </a:rPr>
              <a:t>ENISA requires equity at least equal to its loan, so the private tranche comes in as equity to meet it. Every investor euro unlocks a matching public euro.</a:t>
            </a:r>
          </a:p>
        </p:txBody>
      </p:sp>
      <p:sp>
        <p:nvSpPr>
          <p:cNvPr id="623" name="X623"/>
          <p:cNvSpPr txBox="1"/>
          <p:nvPr/>
        </p:nvSpPr>
        <p:spPr>
          <a:xfrm>
            <a:off x="777240" y="4572000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WHERE IT GOES  ·  €173,048</a:t>
            </a:r>
          </a:p>
        </p:txBody>
      </p:sp>
      <p:sp>
        <p:nvSpPr>
          <p:cNvPr id="624" name="X624"/>
          <p:cNvSpPr/>
          <p:nvPr/>
        </p:nvSpPr>
        <p:spPr>
          <a:xfrm>
            <a:off x="777240" y="4791456"/>
            <a:ext cx="3910306" cy="219456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X625"/>
          <p:cNvSpPr/>
          <p:nvPr/>
        </p:nvSpPr>
        <p:spPr>
          <a:xfrm>
            <a:off x="4742410" y="4791456"/>
            <a:ext cx="3922858" cy="219456"/>
          </a:xfrm>
          <a:prstGeom prst="roundRect">
            <a:avLst>
              <a:gd name="adj" fmla="val 14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" name="X626"/>
          <p:cNvSpPr/>
          <p:nvPr/>
        </p:nvSpPr>
        <p:spPr>
          <a:xfrm>
            <a:off x="8720132" y="4791456"/>
            <a:ext cx="1474813" cy="219456"/>
          </a:xfrm>
          <a:prstGeom prst="roundRect">
            <a:avLst>
              <a:gd name="adj" fmla="val 14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X627"/>
          <p:cNvSpPr/>
          <p:nvPr/>
        </p:nvSpPr>
        <p:spPr>
          <a:xfrm>
            <a:off x="10249809" y="4791456"/>
            <a:ext cx="1134471" cy="219456"/>
          </a:xfrm>
          <a:prstGeom prst="roundRect">
            <a:avLst>
              <a:gd name="adj" fmla="val 14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28" name="X628"/>
          <p:cNvSpPr/>
          <p:nvPr/>
        </p:nvSpPr>
        <p:spPr>
          <a:xfrm>
            <a:off x="77724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X629"/>
          <p:cNvSpPr txBox="1"/>
          <p:nvPr/>
        </p:nvSpPr>
        <p:spPr>
          <a:xfrm>
            <a:off x="96012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€64,800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Facility, racks and equipment</a:t>
            </a:r>
          </a:p>
        </p:txBody>
      </p:sp>
      <p:sp>
        <p:nvSpPr>
          <p:cNvPr id="630" name="X630"/>
          <p:cNvSpPr/>
          <p:nvPr/>
        </p:nvSpPr>
        <p:spPr>
          <a:xfrm>
            <a:off x="342900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X631"/>
          <p:cNvSpPr txBox="1"/>
          <p:nvPr/>
        </p:nvSpPr>
        <p:spPr>
          <a:xfrm>
            <a:off x="361188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€65,008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Ramp-up buffer (4 months)</a:t>
            </a:r>
          </a:p>
        </p:txBody>
      </p:sp>
      <p:sp>
        <p:nvSpPr>
          <p:cNvPr id="632" name="X632"/>
          <p:cNvSpPr/>
          <p:nvPr/>
        </p:nvSpPr>
        <p:spPr>
          <a:xfrm>
            <a:off x="608076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X633"/>
          <p:cNvSpPr txBox="1"/>
          <p:nvPr/>
        </p:nvSpPr>
        <p:spPr>
          <a:xfrm>
            <a:off x="626364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€24,440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Licenses, legal and contingency</a:t>
            </a:r>
          </a:p>
        </p:txBody>
      </p:sp>
      <p:sp>
        <p:nvSpPr>
          <p:cNvPr id="634" name="X634"/>
          <p:cNvSpPr/>
          <p:nvPr/>
        </p:nvSpPr>
        <p:spPr>
          <a:xfrm>
            <a:off x="873252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X635"/>
          <p:cNvSpPr txBox="1"/>
          <p:nvPr/>
        </p:nvSpPr>
        <p:spPr>
          <a:xfrm>
            <a:off x="8915400" y="5102352"/>
            <a:ext cx="2496312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50" b="1" i="0">
                <a:solidFill>
                  <a:srgbClr val="1D4F37"/>
                </a:solidFill>
                <a:latin typeface="Arial"/>
              </a:rPr>
              <a:t>€18,800  </a:t>
            </a:r>
            <a:r>
              <a:rPr lang="en-US" sz="800" b="0" i="0">
                <a:solidFill>
                  <a:srgbClr val="3A453F"/>
                </a:solidFill>
                <a:latin typeface="Arial"/>
              </a:rPr>
              <a:t>Automation, microhub and deposits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FINANCIALS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FINANCIAL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From ramp-up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full run-rate.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Year 1 runs at a loss (−€30K EBITDA): the facility is filling and the team arrives before the revenue does. From there, revenue climbs client by client — distribution and restaurants — to full run-rate: ~€1.72M and a 42% EBITDA margin.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>Base case from financial model V17 · full run-rate in year 5: facility full, 123 restaurants, team of 9 · figures ex-VAT, subject to year-end close.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Operating leverage: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the levers — minutes per tray, pricing, cost and restaurant share — drive run-rate EBITDA margin from 27% (conservative) to 53% (optimistic).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701" name="X701"/>
          <p:cNvSpPr txBox="1"/>
          <p:nvPr/>
        </p:nvSpPr>
        <p:spPr>
          <a:xfrm>
            <a:off x="777240" y="3931920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40">
                <a:solidFill>
                  <a:srgbClr val="8A827B"/>
                </a:solidFill>
                <a:latin typeface="Arial"/>
              </a:rPr>
              <a:t>REVENUE</a:t>
            </a:r>
          </a:p>
        </p:txBody>
      </p:sp>
      <p:sp>
        <p:nvSpPr>
          <p:cNvPr id="702" name="X702"/>
          <p:cNvSpPr txBox="1"/>
          <p:nvPr/>
        </p:nvSpPr>
        <p:spPr>
          <a:xfrm>
            <a:off x="777240" y="479145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40">
                <a:solidFill>
                  <a:srgbClr val="8A827B"/>
                </a:solidFill>
                <a:latin typeface="Arial"/>
              </a:rPr>
              <a:t>EBITDA</a:t>
            </a:r>
          </a:p>
        </p:txBody>
      </p:sp>
      <p:sp>
        <p:nvSpPr>
          <p:cNvPr id="703" name="X703"/>
          <p:cNvSpPr txBox="1"/>
          <p:nvPr/>
        </p:nvSpPr>
        <p:spPr>
          <a:xfrm>
            <a:off x="777240" y="497433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40">
                <a:solidFill>
                  <a:srgbClr val="8A827B"/>
                </a:solidFill>
                <a:latin typeface="Arial"/>
              </a:rPr>
              <a:t>MARGIN</a:t>
            </a:r>
          </a:p>
        </p:txBody>
      </p:sp>
      <p:sp>
        <p:nvSpPr>
          <p:cNvPr id="704" name="X704"/>
          <p:cNvSpPr/>
          <p:nvPr/>
        </p:nvSpPr>
        <p:spPr>
          <a:xfrm>
            <a:off x="2148840" y="4498848"/>
            <a:ext cx="9235440" cy="1280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" name="X705"/>
          <p:cNvSpPr/>
          <p:nvPr/>
        </p:nvSpPr>
        <p:spPr>
          <a:xfrm>
            <a:off x="2569464" y="4360204"/>
            <a:ext cx="1005840" cy="138644"/>
          </a:xfrm>
          <a:prstGeom prst="roundRect">
            <a:avLst>
              <a:gd name="adj" fmla="val 5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" name="X706"/>
          <p:cNvSpPr txBox="1"/>
          <p:nvPr/>
        </p:nvSpPr>
        <p:spPr>
          <a:xfrm>
            <a:off x="2148840" y="4122460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€248K</a:t>
            </a:r>
          </a:p>
        </p:txBody>
      </p:sp>
      <p:sp>
        <p:nvSpPr>
          <p:cNvPr id="707" name="X707"/>
          <p:cNvSpPr txBox="1"/>
          <p:nvPr/>
        </p:nvSpPr>
        <p:spPr>
          <a:xfrm>
            <a:off x="2148840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1</a:t>
            </a:r>
          </a:p>
        </p:txBody>
      </p:sp>
      <p:sp>
        <p:nvSpPr>
          <p:cNvPr id="708" name="X708"/>
          <p:cNvSpPr txBox="1"/>
          <p:nvPr/>
        </p:nvSpPr>
        <p:spPr>
          <a:xfrm>
            <a:off x="2148840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−€30K</a:t>
            </a:r>
          </a:p>
        </p:txBody>
      </p:sp>
      <p:sp>
        <p:nvSpPr>
          <p:cNvPr id="709" name="X709"/>
          <p:cNvSpPr txBox="1"/>
          <p:nvPr/>
        </p:nvSpPr>
        <p:spPr>
          <a:xfrm>
            <a:off x="2148840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−12%</a:t>
            </a:r>
          </a:p>
        </p:txBody>
      </p:sp>
      <p:sp>
        <p:nvSpPr>
          <p:cNvPr id="710" name="X710"/>
          <p:cNvSpPr/>
          <p:nvPr/>
        </p:nvSpPr>
        <p:spPr>
          <a:xfrm>
            <a:off x="4416552" y="3996803"/>
            <a:ext cx="1005840" cy="502045"/>
          </a:xfrm>
          <a:prstGeom prst="roundRect">
            <a:avLst>
              <a:gd name="adj" fmla="val 5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X711"/>
          <p:cNvSpPr txBox="1"/>
          <p:nvPr/>
        </p:nvSpPr>
        <p:spPr>
          <a:xfrm>
            <a:off x="3995928" y="3759059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€900K</a:t>
            </a:r>
          </a:p>
        </p:txBody>
      </p:sp>
      <p:sp>
        <p:nvSpPr>
          <p:cNvPr id="712" name="X712"/>
          <p:cNvSpPr txBox="1"/>
          <p:nvPr/>
        </p:nvSpPr>
        <p:spPr>
          <a:xfrm>
            <a:off x="3995928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2</a:t>
            </a:r>
          </a:p>
        </p:txBody>
      </p:sp>
      <p:sp>
        <p:nvSpPr>
          <p:cNvPr id="713" name="X713"/>
          <p:cNvSpPr txBox="1"/>
          <p:nvPr/>
        </p:nvSpPr>
        <p:spPr>
          <a:xfrm>
            <a:off x="3995928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€309K</a:t>
            </a:r>
          </a:p>
        </p:txBody>
      </p:sp>
      <p:sp>
        <p:nvSpPr>
          <p:cNvPr id="714" name="X714"/>
          <p:cNvSpPr txBox="1"/>
          <p:nvPr/>
        </p:nvSpPr>
        <p:spPr>
          <a:xfrm>
            <a:off x="3995928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34%</a:t>
            </a:r>
          </a:p>
        </p:txBody>
      </p:sp>
      <p:sp>
        <p:nvSpPr>
          <p:cNvPr id="715" name="X715"/>
          <p:cNvSpPr/>
          <p:nvPr/>
        </p:nvSpPr>
        <p:spPr>
          <a:xfrm>
            <a:off x="6263640" y="3732832"/>
            <a:ext cx="1005840" cy="766016"/>
          </a:xfrm>
          <a:prstGeom prst="roundRect">
            <a:avLst>
              <a:gd name="adj" fmla="val 5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X716"/>
          <p:cNvSpPr txBox="1"/>
          <p:nvPr/>
        </p:nvSpPr>
        <p:spPr>
          <a:xfrm>
            <a:off x="5843016" y="349508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€1.37M</a:t>
            </a:r>
          </a:p>
        </p:txBody>
      </p:sp>
      <p:sp>
        <p:nvSpPr>
          <p:cNvPr id="717" name="X717"/>
          <p:cNvSpPr txBox="1"/>
          <p:nvPr/>
        </p:nvSpPr>
        <p:spPr>
          <a:xfrm>
            <a:off x="5843016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3</a:t>
            </a:r>
          </a:p>
        </p:txBody>
      </p:sp>
      <p:sp>
        <p:nvSpPr>
          <p:cNvPr id="718" name="X718"/>
          <p:cNvSpPr txBox="1"/>
          <p:nvPr/>
        </p:nvSpPr>
        <p:spPr>
          <a:xfrm>
            <a:off x="5843016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€553K</a:t>
            </a:r>
          </a:p>
        </p:txBody>
      </p:sp>
      <p:sp>
        <p:nvSpPr>
          <p:cNvPr id="719" name="X719"/>
          <p:cNvSpPr txBox="1"/>
          <p:nvPr/>
        </p:nvSpPr>
        <p:spPr>
          <a:xfrm>
            <a:off x="5843016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40%</a:t>
            </a:r>
          </a:p>
        </p:txBody>
      </p:sp>
      <p:sp>
        <p:nvSpPr>
          <p:cNvPr id="720" name="X720"/>
          <p:cNvSpPr/>
          <p:nvPr/>
        </p:nvSpPr>
        <p:spPr>
          <a:xfrm>
            <a:off x="8110728" y="3559826"/>
            <a:ext cx="1005840" cy="939022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1" name="X721"/>
          <p:cNvSpPr txBox="1"/>
          <p:nvPr/>
        </p:nvSpPr>
        <p:spPr>
          <a:xfrm>
            <a:off x="7690104" y="3322082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1D4F37"/>
                </a:solidFill>
                <a:latin typeface="Arial"/>
              </a:rPr>
              <a:t>€1.68M</a:t>
            </a:r>
          </a:p>
        </p:txBody>
      </p:sp>
      <p:sp>
        <p:nvSpPr>
          <p:cNvPr id="722" name="X722"/>
          <p:cNvSpPr txBox="1"/>
          <p:nvPr/>
        </p:nvSpPr>
        <p:spPr>
          <a:xfrm>
            <a:off x="7690104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4</a:t>
            </a:r>
          </a:p>
        </p:txBody>
      </p:sp>
      <p:sp>
        <p:nvSpPr>
          <p:cNvPr id="723" name="X723"/>
          <p:cNvSpPr txBox="1"/>
          <p:nvPr/>
        </p:nvSpPr>
        <p:spPr>
          <a:xfrm>
            <a:off x="7690104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€716K</a:t>
            </a:r>
          </a:p>
        </p:txBody>
      </p:sp>
      <p:sp>
        <p:nvSpPr>
          <p:cNvPr id="724" name="X724"/>
          <p:cNvSpPr txBox="1"/>
          <p:nvPr/>
        </p:nvSpPr>
        <p:spPr>
          <a:xfrm>
            <a:off x="7690104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0" i="0">
                <a:solidFill>
                  <a:srgbClr val="8A827B"/>
                </a:solidFill>
                <a:latin typeface="Arial"/>
              </a:rPr>
              <a:t>43%</a:t>
            </a:r>
          </a:p>
        </p:txBody>
      </p:sp>
      <p:sp>
        <p:nvSpPr>
          <p:cNvPr id="725" name="X725"/>
          <p:cNvSpPr/>
          <p:nvPr/>
        </p:nvSpPr>
        <p:spPr>
          <a:xfrm>
            <a:off x="9957816" y="3538728"/>
            <a:ext cx="1005840" cy="960120"/>
          </a:xfrm>
          <a:prstGeom prst="roundRect">
            <a:avLst>
              <a:gd name="adj" fmla="val 5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" name="X726"/>
          <p:cNvSpPr txBox="1"/>
          <p:nvPr/>
        </p:nvSpPr>
        <p:spPr>
          <a:xfrm>
            <a:off x="9537192" y="3300984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150" b="1" i="0">
                <a:solidFill>
                  <a:srgbClr val="ED7E1F"/>
                </a:solidFill>
                <a:latin typeface="Arial"/>
              </a:rPr>
              <a:t>€1.72M</a:t>
            </a:r>
          </a:p>
        </p:txBody>
      </p:sp>
      <p:sp>
        <p:nvSpPr>
          <p:cNvPr id="727" name="X727"/>
          <p:cNvSpPr txBox="1"/>
          <p:nvPr/>
        </p:nvSpPr>
        <p:spPr>
          <a:xfrm>
            <a:off x="9537192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Year 5 · run-rate</a:t>
            </a:r>
          </a:p>
        </p:txBody>
      </p:sp>
      <p:sp>
        <p:nvSpPr>
          <p:cNvPr id="728" name="X728"/>
          <p:cNvSpPr txBox="1"/>
          <p:nvPr/>
        </p:nvSpPr>
        <p:spPr>
          <a:xfrm>
            <a:off x="9537192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>
                <a:solidFill>
                  <a:srgbClr val="ED7E1F"/>
                </a:solidFill>
                <a:latin typeface="Arial"/>
              </a:rPr>
              <a:t>€714K</a:t>
            </a:r>
          </a:p>
        </p:txBody>
      </p:sp>
      <p:sp>
        <p:nvSpPr>
          <p:cNvPr id="729" name="X729"/>
          <p:cNvSpPr txBox="1"/>
          <p:nvPr/>
        </p:nvSpPr>
        <p:spPr>
          <a:xfrm>
            <a:off x="9537192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20" b="1" i="0">
                <a:solidFill>
                  <a:srgbClr val="ED7E1F"/>
                </a:solidFill>
                <a:latin typeface="Arial"/>
              </a:rPr>
              <a:t>42%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BENCHMARK CASE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THE SECTOR IS ALREADY FUNDED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Tierra raises €400,000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with ENISA.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Tierra is the closest direct comparable to Rootflow: microgreens and precision agriculture in Madrid, with proprietary crop-control software. It just closed a €400,000 round backed by ENISA, Spain's state innovation lender.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The funds go to expanding capacity, developing two patents, and advancing its software. Their case confirms ENISA funds exactly this profile of company — in our market, right now.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Rootflow competes with its own edges: a custom ERP already in production, a zero-inventory model that's hard to replicate, and direct sales to high-margin foodservice.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 xml:space="preserve">€400K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 xml:space="preserve">ROUND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ENISA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 xml:space="preserve">PUBLIC BACKING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Madrid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 xml:space="preserve">SAME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+2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OWN PATENTS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Already operating in Spain: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Cangarus · Fronda · Groots · Tugas · Massa Greens. The market is active and proven.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Proven market, capital available.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ROADMAP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THE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From idea to group,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 xml:space="preserve">in six milestones.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The know-how is already in hand: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product, clients, ERP, and operations proven before raising a single dollar.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00" name="Z200"/>
          <p:cNvSpPr/>
          <p:nvPr/>
        </p:nvSpPr>
        <p:spPr>
          <a:xfrm>
            <a:off x="1188720" y="2606040"/>
            <a:ext cx="3063240" cy="235000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Z201"/>
          <p:cNvSpPr/>
          <p:nvPr/>
        </p:nvSpPr>
        <p:spPr>
          <a:xfrm>
            <a:off x="4434840" y="2606040"/>
            <a:ext cx="1645920" cy="2350008"/>
          </a:xfrm>
          <a:prstGeom prst="roundRect">
            <a:avLst>
              <a:gd name="adj" fmla="val 6000"/>
            </a:avLst>
          </a:prstGeom>
          <a:solidFill>
            <a:srgbClr val="F7DF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Z202"/>
          <p:cNvSpPr/>
          <p:nvPr/>
        </p:nvSpPr>
        <p:spPr>
          <a:xfrm>
            <a:off x="6263640" y="2606040"/>
            <a:ext cx="4846320" cy="2350008"/>
          </a:xfrm>
          <a:prstGeom prst="roundRect">
            <a:avLst>
              <a:gd name="adj" fmla="val 6000"/>
            </a:avLst>
          </a:prstGeom>
          <a:solidFill>
            <a:srgbClr val="EFE7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L203"/>
          <p:cNvSpPr>
            <a:spLocks noGrp="1"/>
          </p:cNvSpPr>
          <p:nvPr/>
        </p:nvSpPr>
        <p:spPr>
          <a:xfrm>
            <a:off x="1188720" y="2724912"/>
            <a:ext cx="306324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050" b="1" i="0" spc="260">
                <a:solidFill>
                  <a:srgbClr val="1D4F37"/>
                </a:solidFill>
                <a:latin typeface="Arial"/>
              </a:rPr>
              <a:t>WHERE WE COME FROM</a:t>
            </a:r>
          </a:p>
        </p:txBody>
      </p:sp>
      <p:sp>
        <p:nvSpPr>
          <p:cNvPr id="204" name="TL204"/>
          <p:cNvSpPr>
            <a:spLocks noGrp="1"/>
          </p:cNvSpPr>
          <p:nvPr/>
        </p:nvSpPr>
        <p:spPr>
          <a:xfrm>
            <a:off x="4434840" y="2724912"/>
            <a:ext cx="16459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050" b="1" i="0" spc="200">
                <a:solidFill>
                  <a:srgbClr val="C25A12"/>
                </a:solidFill>
                <a:latin typeface="Arial"/>
              </a:rPr>
              <a:t>WHERE WE ARE</a:t>
            </a:r>
          </a:p>
        </p:txBody>
      </p:sp>
      <p:sp>
        <p:nvSpPr>
          <p:cNvPr id="205" name="TL205"/>
          <p:cNvSpPr>
            <a:spLocks noGrp="1"/>
          </p:cNvSpPr>
          <p:nvPr/>
        </p:nvSpPr>
        <p:spPr>
          <a:xfrm>
            <a:off x="6263640" y="2724912"/>
            <a:ext cx="48463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050" b="1" i="0" spc="260">
                <a:solidFill>
                  <a:srgbClr val="2C5F47"/>
                </a:solidFill>
                <a:latin typeface="Arial"/>
              </a:rPr>
              <a:t>WHERE WE'RE HEADED</a:t>
            </a:r>
          </a:p>
        </p:txBody>
      </p:sp>
      <p:sp>
        <p:nvSpPr>
          <p:cNvPr id="206" name="L206"/>
          <p:cNvSpPr/>
          <p:nvPr/>
        </p:nvSpPr>
        <p:spPr>
          <a:xfrm>
            <a:off x="1874520" y="3506724"/>
            <a:ext cx="8458200" cy="27432"/>
          </a:xfrm>
          <a:prstGeom prst="rect">
            <a:avLst/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C207"/>
          <p:cNvSpPr/>
          <p:nvPr/>
        </p:nvSpPr>
        <p:spPr>
          <a:xfrm>
            <a:off x="162763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00</a:t>
            </a:r>
          </a:p>
        </p:txBody>
      </p:sp>
      <p:sp>
        <p:nvSpPr>
          <p:cNvPr id="208" name="C208"/>
          <p:cNvSpPr/>
          <p:nvPr/>
        </p:nvSpPr>
        <p:spPr>
          <a:xfrm>
            <a:off x="331927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01</a:t>
            </a:r>
          </a:p>
        </p:txBody>
      </p:sp>
      <p:sp>
        <p:nvSpPr>
          <p:cNvPr id="209" name="C209"/>
          <p:cNvSpPr/>
          <p:nvPr/>
        </p:nvSpPr>
        <p:spPr>
          <a:xfrm>
            <a:off x="5010912" y="3273552"/>
            <a:ext cx="493776" cy="493776"/>
          </a:xfrm>
          <a:prstGeom prst="ellipse">
            <a:avLst/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0" name="C210"/>
          <p:cNvSpPr/>
          <p:nvPr/>
        </p:nvSpPr>
        <p:spPr>
          <a:xfrm>
            <a:off x="670255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03</a:t>
            </a:r>
          </a:p>
        </p:txBody>
      </p:sp>
      <p:sp>
        <p:nvSpPr>
          <p:cNvPr id="211" name="C211"/>
          <p:cNvSpPr/>
          <p:nvPr/>
        </p:nvSpPr>
        <p:spPr>
          <a:xfrm>
            <a:off x="839419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04</a:t>
            </a:r>
          </a:p>
        </p:txBody>
      </p:sp>
      <p:sp>
        <p:nvSpPr>
          <p:cNvPr id="212" name="C212"/>
          <p:cNvSpPr/>
          <p:nvPr/>
        </p:nvSpPr>
        <p:spPr>
          <a:xfrm>
            <a:off x="1008583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05</a:t>
            </a:r>
          </a:p>
        </p:txBody>
      </p:sp>
      <p:sp>
        <p:nvSpPr>
          <p:cNvPr id="213" name="TL213"/>
          <p:cNvSpPr>
            <a:spLocks noGrp="1"/>
          </p:cNvSpPr>
          <p:nvPr/>
        </p:nvSpPr>
        <p:spPr>
          <a:xfrm>
            <a:off x="10287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1D4F37"/>
                </a:solidFill>
                <a:latin typeface="Arial"/>
              </a:rPr>
              <a:t>Done</a:t>
            </a:r>
          </a:p>
        </p:txBody>
      </p:sp>
      <p:sp>
        <p:nvSpPr>
          <p:cNvPr id="214" name="TL214"/>
          <p:cNvSpPr>
            <a:spLocks noGrp="1"/>
          </p:cNvSpPr>
          <p:nvPr/>
        </p:nvSpPr>
        <p:spPr>
          <a:xfrm>
            <a:off x="272034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1D4F37"/>
                </a:solidFill>
                <a:latin typeface="Arial"/>
              </a:rPr>
              <a:t>Done</a:t>
            </a:r>
          </a:p>
        </p:txBody>
      </p:sp>
      <p:sp>
        <p:nvSpPr>
          <p:cNvPr id="215" name="TL215"/>
          <p:cNvSpPr>
            <a:spLocks noGrp="1"/>
          </p:cNvSpPr>
          <p:nvPr/>
        </p:nvSpPr>
        <p:spPr>
          <a:xfrm>
            <a:off x="441198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C25A12"/>
                </a:solidFill>
                <a:latin typeface="Arial"/>
              </a:rPr>
              <a:t>In progress</a:t>
            </a:r>
          </a:p>
        </p:txBody>
      </p:sp>
      <p:sp>
        <p:nvSpPr>
          <p:cNvPr id="216" name="TL216"/>
          <p:cNvSpPr>
            <a:spLocks noGrp="1"/>
          </p:cNvSpPr>
          <p:nvPr/>
        </p:nvSpPr>
        <p:spPr>
          <a:xfrm>
            <a:off x="610362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8A827B"/>
                </a:solidFill>
                <a:latin typeface="Arial"/>
              </a:rPr>
              <a:t>Next</a:t>
            </a:r>
          </a:p>
        </p:txBody>
      </p:sp>
      <p:sp>
        <p:nvSpPr>
          <p:cNvPr id="217" name="TL217"/>
          <p:cNvSpPr>
            <a:spLocks noGrp="1"/>
          </p:cNvSpPr>
          <p:nvPr/>
        </p:nvSpPr>
        <p:spPr>
          <a:xfrm>
            <a:off x="779526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8A827B"/>
                </a:solidFill>
                <a:latin typeface="Arial"/>
              </a:rPr>
              <a:t>Next</a:t>
            </a:r>
          </a:p>
        </p:txBody>
      </p:sp>
      <p:sp>
        <p:nvSpPr>
          <p:cNvPr id="218" name="TL218"/>
          <p:cNvSpPr>
            <a:spLocks noGrp="1"/>
          </p:cNvSpPr>
          <p:nvPr/>
        </p:nvSpPr>
        <p:spPr>
          <a:xfrm>
            <a:off x="94869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20" b="1" i="0" spc="120">
                <a:solidFill>
                  <a:srgbClr val="8A827B"/>
                </a:solidFill>
                <a:latin typeface="Arial"/>
              </a:rPr>
              <a:t>Next</a:t>
            </a:r>
          </a:p>
        </p:txBody>
      </p:sp>
      <p:sp>
        <p:nvSpPr>
          <p:cNvPr id="219" name="TL219"/>
          <p:cNvSpPr>
            <a:spLocks noGrp="1"/>
          </p:cNvSpPr>
          <p:nvPr/>
        </p:nvSpPr>
        <p:spPr>
          <a:xfrm>
            <a:off x="10287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Incorporate</a:t>
            </a:r>
          </a:p>
        </p:txBody>
      </p:sp>
      <p:sp>
        <p:nvSpPr>
          <p:cNvPr id="220" name="TL220"/>
          <p:cNvSpPr>
            <a:spLocks noGrp="1"/>
          </p:cNvSpPr>
          <p:nvPr/>
        </p:nvSpPr>
        <p:spPr>
          <a:xfrm>
            <a:off x="272034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Validate</a:t>
            </a:r>
          </a:p>
        </p:txBody>
      </p:sp>
      <p:sp>
        <p:nvSpPr>
          <p:cNvPr id="221" name="TL221"/>
          <p:cNvSpPr>
            <a:spLocks noGrp="1"/>
          </p:cNvSpPr>
          <p:nvPr/>
        </p:nvSpPr>
        <p:spPr>
          <a:xfrm>
            <a:off x="441198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Finance</a:t>
            </a:r>
          </a:p>
        </p:txBody>
      </p:sp>
      <p:sp>
        <p:nvSpPr>
          <p:cNvPr id="222" name="TL222"/>
          <p:cNvSpPr>
            <a:spLocks noGrp="1"/>
          </p:cNvSpPr>
          <p:nvPr/>
        </p:nvSpPr>
        <p:spPr>
          <a:xfrm>
            <a:off x="610362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Scale</a:t>
            </a:r>
          </a:p>
        </p:txBody>
      </p:sp>
      <p:sp>
        <p:nvSpPr>
          <p:cNvPr id="223" name="TL223"/>
          <p:cNvSpPr>
            <a:spLocks noGrp="1"/>
          </p:cNvSpPr>
          <p:nvPr/>
        </p:nvSpPr>
        <p:spPr>
          <a:xfrm>
            <a:off x="779526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Diversify</a:t>
            </a:r>
          </a:p>
        </p:txBody>
      </p:sp>
      <p:sp>
        <p:nvSpPr>
          <p:cNvPr id="224" name="TL224"/>
          <p:cNvSpPr>
            <a:spLocks noGrp="1"/>
          </p:cNvSpPr>
          <p:nvPr/>
        </p:nvSpPr>
        <p:spPr>
          <a:xfrm>
            <a:off x="94869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Consolidate</a:t>
            </a:r>
          </a:p>
        </p:txBody>
      </p:sp>
      <p:sp>
        <p:nvSpPr>
          <p:cNvPr id="225" name="TL225"/>
          <p:cNvSpPr>
            <a:spLocks noGrp="1"/>
          </p:cNvSpPr>
          <p:nvPr/>
        </p:nvSpPr>
        <p:spPr>
          <a:xfrm>
            <a:off x="10287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Company formed; 58 m² facility live.</a:t>
            </a:r>
          </a:p>
        </p:txBody>
      </p:sp>
      <p:sp>
        <p:nvSpPr>
          <p:cNvPr id="226" name="TL226"/>
          <p:cNvSpPr>
            <a:spLocks noGrp="1"/>
          </p:cNvSpPr>
          <p:nvPr/>
        </p:nvSpPr>
        <p:spPr>
          <a:xfrm>
            <a:off x="272034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MVP validated; 2 recurring distributors.</a:t>
            </a:r>
          </a:p>
        </p:txBody>
      </p:sp>
      <p:sp>
        <p:nvSpPr>
          <p:cNvPr id="227" name="TL227"/>
          <p:cNvSpPr>
            <a:spLocks noGrp="1"/>
          </p:cNvSpPr>
          <p:nvPr/>
        </p:nvSpPr>
        <p:spPr>
          <a:xfrm>
            <a:off x="441198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Break-even, stable book, round closed.</a:t>
            </a:r>
          </a:p>
        </p:txBody>
      </p:sp>
      <p:sp>
        <p:nvSpPr>
          <p:cNvPr id="228" name="TL228"/>
          <p:cNvSpPr>
            <a:spLocks noGrp="1"/>
          </p:cNvSpPr>
          <p:nvPr/>
        </p:nvSpPr>
        <p:spPr>
          <a:xfrm>
            <a:off x="610362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Facility live, 2 big clients, first hire.</a:t>
            </a:r>
          </a:p>
        </p:txBody>
      </p:sp>
      <p:sp>
        <p:nvSpPr>
          <p:cNvPr id="229" name="TL229"/>
          <p:cNvSpPr>
            <a:spLocks noGrp="1"/>
          </p:cNvSpPr>
          <p:nvPr/>
        </p:nvSpPr>
        <p:spPr>
          <a:xfrm>
            <a:off x="779526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New lines and acquisitions, cash stable.</a:t>
            </a:r>
          </a:p>
        </p:txBody>
      </p:sp>
      <p:sp>
        <p:nvSpPr>
          <p:cNvPr id="230" name="TL230"/>
          <p:cNvSpPr>
            <a:spLocks noGrp="1"/>
          </p:cNvSpPr>
          <p:nvPr/>
        </p:nvSpPr>
        <p:spPr>
          <a:xfrm>
            <a:off x="94869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n-US" sz="850" b="0" i="0">
                <a:solidFill>
                  <a:srgbClr val="3A453F"/>
                </a:solidFill>
                <a:latin typeface="Arial"/>
              </a:rPr>
              <a:t>Group or holding with Rootflow as OpCo.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SCENARIOS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RANGE OF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From base case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to full potential.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Downside floor: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guarantees the investor at least 1.5× — €150,000 on €100,000 invested — even if the plan falls short. Under the current plan it is not triggered in any of the three cases.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401" name="X401"/>
          <p:cNvSpPr txBox="1"/>
          <p:nvPr/>
        </p:nvSpPr>
        <p:spPr>
          <a:xfrm>
            <a:off x="77724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n-US" sz="1400" b="1" i="0">
                <a:solidFill>
                  <a:srgbClr val="1D4F37"/>
                </a:solidFill>
                <a:latin typeface="Arial"/>
              </a:rPr>
              <a:t>One model, three cases.</a:t>
            </a:r>
          </a:p>
        </p:txBody>
      </p:sp>
      <p:sp>
        <p:nvSpPr>
          <p:cNvPr id="402" name="X402"/>
          <p:cNvSpPr txBox="1"/>
          <p:nvPr/>
        </p:nvSpPr>
        <p:spPr>
          <a:xfrm>
            <a:off x="777240" y="2706624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Base is the business plan. Changing a single lever — minutes per tray, price, automation or restaurant share — recomputes headcount, EBITDA, cash, and the investor's return.</a:t>
            </a:r>
          </a:p>
        </p:txBody>
      </p:sp>
      <p:sp>
        <p:nvSpPr>
          <p:cNvPr id="403" name="X403"/>
          <p:cNvSpPr/>
          <p:nvPr/>
        </p:nvSpPr>
        <p:spPr>
          <a:xfrm>
            <a:off x="315468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04" name="X404"/>
          <p:cNvSpPr txBox="1"/>
          <p:nvPr/>
        </p:nvSpPr>
        <p:spPr>
          <a:xfrm>
            <a:off x="315468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900" b="1" i="0" spc="140">
                <a:solidFill>
                  <a:srgbClr val="8A827B"/>
                </a:solidFill>
                <a:latin typeface="Arial"/>
              </a:rPr>
              <a:t>CONSERVATIVE</a:t>
            </a:r>
          </a:p>
        </p:txBody>
      </p:sp>
      <p:sp>
        <p:nvSpPr>
          <p:cNvPr id="405" name="X405"/>
          <p:cNvSpPr txBox="1"/>
          <p:nvPr/>
        </p:nvSpPr>
        <p:spPr>
          <a:xfrm>
            <a:off x="315468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2600" b="1" i="0">
                <a:solidFill>
                  <a:srgbClr val="3A453F"/>
                </a:solidFill>
                <a:latin typeface="Arial"/>
              </a:rPr>
              <a:t>28.2%</a:t>
            </a:r>
          </a:p>
        </p:txBody>
      </p:sp>
      <p:sp>
        <p:nvSpPr>
          <p:cNvPr id="406" name="X406"/>
          <p:cNvSpPr txBox="1"/>
          <p:nvPr/>
        </p:nvSpPr>
        <p:spPr>
          <a:xfrm>
            <a:off x="315468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640" b="1" i="0" spc="100">
                <a:solidFill>
                  <a:srgbClr val="8A827B"/>
                </a:solidFill>
                <a:latin typeface="Arial"/>
              </a:rPr>
              <a:t>INVESTOR IRR</a:t>
            </a:r>
          </a:p>
        </p:txBody>
      </p:sp>
      <p:sp>
        <p:nvSpPr>
          <p:cNvPr id="407" name="X407"/>
          <p:cNvSpPr/>
          <p:nvPr/>
        </p:nvSpPr>
        <p:spPr>
          <a:xfrm>
            <a:off x="333756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" name="X408"/>
          <p:cNvSpPr txBox="1"/>
          <p:nvPr/>
        </p:nvSpPr>
        <p:spPr>
          <a:xfrm>
            <a:off x="331927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2.70×</a:t>
            </a:r>
          </a:p>
        </p:txBody>
      </p:sp>
      <p:sp>
        <p:nvSpPr>
          <p:cNvPr id="409" name="X409"/>
          <p:cNvSpPr txBox="1"/>
          <p:nvPr/>
        </p:nvSpPr>
        <p:spPr>
          <a:xfrm>
            <a:off x="331927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410" name="X410"/>
          <p:cNvSpPr txBox="1"/>
          <p:nvPr/>
        </p:nvSpPr>
        <p:spPr>
          <a:xfrm>
            <a:off x="448056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€2.70M</a:t>
            </a:r>
          </a:p>
        </p:txBody>
      </p:sp>
      <p:sp>
        <p:nvSpPr>
          <p:cNvPr id="411" name="X411"/>
          <p:cNvSpPr txBox="1"/>
          <p:nvPr/>
        </p:nvSpPr>
        <p:spPr>
          <a:xfrm>
            <a:off x="448056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EQUITY VALUE · EXIT</a:t>
            </a:r>
          </a:p>
        </p:txBody>
      </p:sp>
      <p:sp>
        <p:nvSpPr>
          <p:cNvPr id="412" name="X412"/>
          <p:cNvSpPr txBox="1"/>
          <p:nvPr/>
        </p:nvSpPr>
        <p:spPr>
          <a:xfrm>
            <a:off x="331927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€1.45M</a:t>
            </a:r>
          </a:p>
        </p:txBody>
      </p:sp>
      <p:sp>
        <p:nvSpPr>
          <p:cNvPr id="413" name="X413"/>
          <p:cNvSpPr txBox="1"/>
          <p:nvPr/>
        </p:nvSpPr>
        <p:spPr>
          <a:xfrm>
            <a:off x="331927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REVENUE · RUN-RATE</a:t>
            </a:r>
          </a:p>
        </p:txBody>
      </p:sp>
      <p:sp>
        <p:nvSpPr>
          <p:cNvPr id="414" name="X414"/>
          <p:cNvSpPr txBox="1"/>
          <p:nvPr/>
        </p:nvSpPr>
        <p:spPr>
          <a:xfrm>
            <a:off x="448056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€389K · 27%</a:t>
            </a:r>
          </a:p>
        </p:txBody>
      </p:sp>
      <p:sp>
        <p:nvSpPr>
          <p:cNvPr id="415" name="X415"/>
          <p:cNvSpPr txBox="1"/>
          <p:nvPr/>
        </p:nvSpPr>
        <p:spPr>
          <a:xfrm>
            <a:off x="448056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EBITDA · RUN-RATE</a:t>
            </a:r>
          </a:p>
        </p:txBody>
      </p:sp>
      <p:sp>
        <p:nvSpPr>
          <p:cNvPr id="416" name="X416"/>
          <p:cNvSpPr/>
          <p:nvPr/>
        </p:nvSpPr>
        <p:spPr>
          <a:xfrm>
            <a:off x="594360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417" name="X417"/>
          <p:cNvSpPr txBox="1"/>
          <p:nvPr/>
        </p:nvSpPr>
        <p:spPr>
          <a:xfrm>
            <a:off x="594360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900" b="1" i="0" spc="140">
                <a:solidFill>
                  <a:srgbClr val="D8ECDF"/>
                </a:solidFill>
                <a:latin typeface="Arial"/>
              </a:rPr>
              <a:t>BASE</a:t>
            </a:r>
          </a:p>
        </p:txBody>
      </p:sp>
      <p:sp>
        <p:nvSpPr>
          <p:cNvPr id="418" name="X418"/>
          <p:cNvSpPr/>
          <p:nvPr/>
        </p:nvSpPr>
        <p:spPr>
          <a:xfrm>
            <a:off x="6986016" y="2624328"/>
            <a:ext cx="566928" cy="25603"/>
          </a:xfrm>
          <a:prstGeom prst="rect">
            <a:avLst/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" name="X419"/>
          <p:cNvSpPr txBox="1"/>
          <p:nvPr/>
        </p:nvSpPr>
        <p:spPr>
          <a:xfrm>
            <a:off x="594360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2600" b="1" i="0">
                <a:solidFill>
                  <a:srgbClr val="FCF1ED"/>
                </a:solidFill>
                <a:latin typeface="Arial"/>
              </a:rPr>
              <a:t>50.7%</a:t>
            </a:r>
          </a:p>
        </p:txBody>
      </p:sp>
      <p:sp>
        <p:nvSpPr>
          <p:cNvPr id="420" name="X420"/>
          <p:cNvSpPr txBox="1"/>
          <p:nvPr/>
        </p:nvSpPr>
        <p:spPr>
          <a:xfrm>
            <a:off x="594360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640" b="1" i="0" spc="100">
                <a:solidFill>
                  <a:srgbClr val="9BC9AE"/>
                </a:solidFill>
                <a:latin typeface="Arial"/>
              </a:rPr>
              <a:t>INVESTOR IRR</a:t>
            </a:r>
          </a:p>
        </p:txBody>
      </p:sp>
      <p:sp>
        <p:nvSpPr>
          <p:cNvPr id="421" name="X421"/>
          <p:cNvSpPr/>
          <p:nvPr/>
        </p:nvSpPr>
        <p:spPr>
          <a:xfrm>
            <a:off x="6126480" y="3291840"/>
            <a:ext cx="2286000" cy="10973"/>
          </a:xfrm>
          <a:prstGeom prst="rect">
            <a:avLst/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2" name="X422"/>
          <p:cNvSpPr txBox="1"/>
          <p:nvPr/>
        </p:nvSpPr>
        <p:spPr>
          <a:xfrm>
            <a:off x="610819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5.16×</a:t>
            </a:r>
          </a:p>
        </p:txBody>
      </p:sp>
      <p:sp>
        <p:nvSpPr>
          <p:cNvPr id="423" name="X423"/>
          <p:cNvSpPr txBox="1"/>
          <p:nvPr/>
        </p:nvSpPr>
        <p:spPr>
          <a:xfrm>
            <a:off x="610819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MOIC</a:t>
            </a:r>
          </a:p>
        </p:txBody>
      </p:sp>
      <p:sp>
        <p:nvSpPr>
          <p:cNvPr id="424" name="X424"/>
          <p:cNvSpPr txBox="1"/>
          <p:nvPr/>
        </p:nvSpPr>
        <p:spPr>
          <a:xfrm>
            <a:off x="726948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€5.16M</a:t>
            </a:r>
          </a:p>
        </p:txBody>
      </p:sp>
      <p:sp>
        <p:nvSpPr>
          <p:cNvPr id="425" name="X425"/>
          <p:cNvSpPr txBox="1"/>
          <p:nvPr/>
        </p:nvSpPr>
        <p:spPr>
          <a:xfrm>
            <a:off x="726948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EQUITY VALUE · EXIT</a:t>
            </a:r>
          </a:p>
        </p:txBody>
      </p:sp>
      <p:sp>
        <p:nvSpPr>
          <p:cNvPr id="426" name="X426"/>
          <p:cNvSpPr txBox="1"/>
          <p:nvPr/>
        </p:nvSpPr>
        <p:spPr>
          <a:xfrm>
            <a:off x="610819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€1.72M</a:t>
            </a:r>
          </a:p>
        </p:txBody>
      </p:sp>
      <p:sp>
        <p:nvSpPr>
          <p:cNvPr id="427" name="X427"/>
          <p:cNvSpPr txBox="1"/>
          <p:nvPr/>
        </p:nvSpPr>
        <p:spPr>
          <a:xfrm>
            <a:off x="610819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REVENUE · RUN-RATE</a:t>
            </a:r>
          </a:p>
        </p:txBody>
      </p:sp>
      <p:sp>
        <p:nvSpPr>
          <p:cNvPr id="428" name="X428"/>
          <p:cNvSpPr txBox="1"/>
          <p:nvPr/>
        </p:nvSpPr>
        <p:spPr>
          <a:xfrm>
            <a:off x="726948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FCF1ED"/>
                </a:solidFill>
                <a:latin typeface="Arial"/>
              </a:rPr>
              <a:t>€714K · 42%</a:t>
            </a:r>
          </a:p>
        </p:txBody>
      </p:sp>
      <p:sp>
        <p:nvSpPr>
          <p:cNvPr id="429" name="X429"/>
          <p:cNvSpPr txBox="1"/>
          <p:nvPr/>
        </p:nvSpPr>
        <p:spPr>
          <a:xfrm>
            <a:off x="726948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9BC9AE"/>
                </a:solidFill>
                <a:latin typeface="Arial"/>
              </a:rPr>
              <a:t>EBITDA · RUN-RATE</a:t>
            </a:r>
          </a:p>
        </p:txBody>
      </p:sp>
      <p:sp>
        <p:nvSpPr>
          <p:cNvPr id="430" name="X430"/>
          <p:cNvSpPr/>
          <p:nvPr/>
        </p:nvSpPr>
        <p:spPr>
          <a:xfrm>
            <a:off x="873252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31" name="X431"/>
          <p:cNvSpPr txBox="1"/>
          <p:nvPr/>
        </p:nvSpPr>
        <p:spPr>
          <a:xfrm>
            <a:off x="873252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900" b="1" i="0" spc="140">
                <a:solidFill>
                  <a:srgbClr val="1D4F37"/>
                </a:solidFill>
                <a:latin typeface="Arial"/>
              </a:rPr>
              <a:t>OPTIMISTIC</a:t>
            </a:r>
          </a:p>
        </p:txBody>
      </p:sp>
      <p:sp>
        <p:nvSpPr>
          <p:cNvPr id="432" name="X432"/>
          <p:cNvSpPr txBox="1"/>
          <p:nvPr/>
        </p:nvSpPr>
        <p:spPr>
          <a:xfrm>
            <a:off x="873252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2600" b="1" i="0">
                <a:solidFill>
                  <a:srgbClr val="ED7E1F"/>
                </a:solidFill>
                <a:latin typeface="Arial"/>
              </a:rPr>
              <a:t>66.6%</a:t>
            </a:r>
          </a:p>
        </p:txBody>
      </p:sp>
      <p:sp>
        <p:nvSpPr>
          <p:cNvPr id="433" name="X433"/>
          <p:cNvSpPr txBox="1"/>
          <p:nvPr/>
        </p:nvSpPr>
        <p:spPr>
          <a:xfrm>
            <a:off x="873252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640" b="1" i="0" spc="100">
                <a:solidFill>
                  <a:srgbClr val="8A827B"/>
                </a:solidFill>
                <a:latin typeface="Arial"/>
              </a:rPr>
              <a:t>INVESTOR IRR</a:t>
            </a:r>
          </a:p>
        </p:txBody>
      </p:sp>
      <p:sp>
        <p:nvSpPr>
          <p:cNvPr id="434" name="X434"/>
          <p:cNvSpPr/>
          <p:nvPr/>
        </p:nvSpPr>
        <p:spPr>
          <a:xfrm>
            <a:off x="891540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" name="X435"/>
          <p:cNvSpPr txBox="1"/>
          <p:nvPr/>
        </p:nvSpPr>
        <p:spPr>
          <a:xfrm>
            <a:off x="889711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7.70×</a:t>
            </a:r>
          </a:p>
        </p:txBody>
      </p:sp>
      <p:sp>
        <p:nvSpPr>
          <p:cNvPr id="436" name="X436"/>
          <p:cNvSpPr txBox="1"/>
          <p:nvPr/>
        </p:nvSpPr>
        <p:spPr>
          <a:xfrm>
            <a:off x="889711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437" name="X437"/>
          <p:cNvSpPr txBox="1"/>
          <p:nvPr/>
        </p:nvSpPr>
        <p:spPr>
          <a:xfrm>
            <a:off x="1005840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€7.70M</a:t>
            </a:r>
          </a:p>
        </p:txBody>
      </p:sp>
      <p:sp>
        <p:nvSpPr>
          <p:cNvPr id="438" name="X438"/>
          <p:cNvSpPr txBox="1"/>
          <p:nvPr/>
        </p:nvSpPr>
        <p:spPr>
          <a:xfrm>
            <a:off x="1005840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EQUITY VALUE · EXIT</a:t>
            </a:r>
          </a:p>
        </p:txBody>
      </p:sp>
      <p:sp>
        <p:nvSpPr>
          <p:cNvPr id="439" name="X439"/>
          <p:cNvSpPr txBox="1"/>
          <p:nvPr/>
        </p:nvSpPr>
        <p:spPr>
          <a:xfrm>
            <a:off x="889711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€1.98M</a:t>
            </a:r>
          </a:p>
        </p:txBody>
      </p:sp>
      <p:sp>
        <p:nvSpPr>
          <p:cNvPr id="440" name="X440"/>
          <p:cNvSpPr txBox="1"/>
          <p:nvPr/>
        </p:nvSpPr>
        <p:spPr>
          <a:xfrm>
            <a:off x="889711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REVENUE · RUN-RATE</a:t>
            </a:r>
          </a:p>
        </p:txBody>
      </p:sp>
      <p:sp>
        <p:nvSpPr>
          <p:cNvPr id="441" name="X441"/>
          <p:cNvSpPr txBox="1"/>
          <p:nvPr/>
        </p:nvSpPr>
        <p:spPr>
          <a:xfrm>
            <a:off x="1005840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000" b="1" i="0">
                <a:solidFill>
                  <a:srgbClr val="3A453F"/>
                </a:solidFill>
                <a:latin typeface="Arial"/>
              </a:rPr>
              <a:t>€1.05M · 53%</a:t>
            </a:r>
          </a:p>
        </p:txBody>
      </p:sp>
      <p:sp>
        <p:nvSpPr>
          <p:cNvPr id="442" name="X442"/>
          <p:cNvSpPr txBox="1"/>
          <p:nvPr/>
        </p:nvSpPr>
        <p:spPr>
          <a:xfrm>
            <a:off x="1005840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560" b="1" i="0" spc="50">
                <a:solidFill>
                  <a:srgbClr val="8A827B"/>
                </a:solidFill>
                <a:latin typeface="Arial"/>
              </a:rPr>
              <a:t>EBITDA · RUN-RATE</a:t>
            </a:r>
          </a:p>
        </p:txBody>
      </p:sp>
      <p:sp>
        <p:nvSpPr>
          <p:cNvPr id="443" name="X443"/>
          <p:cNvSpPr txBox="1"/>
          <p:nvPr/>
        </p:nvSpPr>
        <p:spPr>
          <a:xfrm>
            <a:off x="777240" y="4224528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680" b="1" i="0" spc="160">
                <a:solidFill>
                  <a:srgbClr val="8A827B"/>
                </a:solidFill>
                <a:latin typeface="Arial"/>
              </a:rPr>
              <a:t>WHAT CHANGES IN EACH CASE</a:t>
            </a:r>
          </a:p>
        </p:txBody>
      </p:sp>
      <p:sp>
        <p:nvSpPr>
          <p:cNvPr id="444" name="X444"/>
          <p:cNvSpPr/>
          <p:nvPr/>
        </p:nvSpPr>
        <p:spPr>
          <a:xfrm>
            <a:off x="777240" y="4434840"/>
            <a:ext cx="106070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" name="X445"/>
          <p:cNvSpPr/>
          <p:nvPr/>
        </p:nvSpPr>
        <p:spPr>
          <a:xfrm>
            <a:off x="5943600" y="4462272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" name="X446"/>
          <p:cNvSpPr txBox="1"/>
          <p:nvPr/>
        </p:nvSpPr>
        <p:spPr>
          <a:xfrm>
            <a:off x="777240" y="4498848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Minutes per tray</a:t>
            </a:r>
          </a:p>
        </p:txBody>
      </p:sp>
      <p:sp>
        <p:nvSpPr>
          <p:cNvPr id="447" name="X447"/>
          <p:cNvSpPr txBox="1"/>
          <p:nvPr/>
        </p:nvSpPr>
        <p:spPr>
          <a:xfrm>
            <a:off x="315468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4</a:t>
            </a:r>
          </a:p>
        </p:txBody>
      </p:sp>
      <p:sp>
        <p:nvSpPr>
          <p:cNvPr id="448" name="X448"/>
          <p:cNvSpPr txBox="1"/>
          <p:nvPr/>
        </p:nvSpPr>
        <p:spPr>
          <a:xfrm>
            <a:off x="594360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3</a:t>
            </a:r>
          </a:p>
        </p:txBody>
      </p:sp>
      <p:sp>
        <p:nvSpPr>
          <p:cNvPr id="449" name="X449"/>
          <p:cNvSpPr txBox="1"/>
          <p:nvPr/>
        </p:nvSpPr>
        <p:spPr>
          <a:xfrm>
            <a:off x="873252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2</a:t>
            </a:r>
          </a:p>
        </p:txBody>
      </p:sp>
      <p:sp>
        <p:nvSpPr>
          <p:cNvPr id="450" name="X450"/>
          <p:cNvSpPr txBox="1"/>
          <p:nvPr/>
        </p:nvSpPr>
        <p:spPr>
          <a:xfrm>
            <a:off x="777240" y="4672584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Selling price (index)</a:t>
            </a:r>
          </a:p>
        </p:txBody>
      </p:sp>
      <p:sp>
        <p:nvSpPr>
          <p:cNvPr id="451" name="X451"/>
          <p:cNvSpPr txBox="1"/>
          <p:nvPr/>
        </p:nvSpPr>
        <p:spPr>
          <a:xfrm>
            <a:off x="315468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90%</a:t>
            </a:r>
          </a:p>
        </p:txBody>
      </p:sp>
      <p:sp>
        <p:nvSpPr>
          <p:cNvPr id="452" name="X452"/>
          <p:cNvSpPr txBox="1"/>
          <p:nvPr/>
        </p:nvSpPr>
        <p:spPr>
          <a:xfrm>
            <a:off x="594360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100%</a:t>
            </a:r>
          </a:p>
        </p:txBody>
      </p:sp>
      <p:sp>
        <p:nvSpPr>
          <p:cNvPr id="453" name="X453"/>
          <p:cNvSpPr txBox="1"/>
          <p:nvPr/>
        </p:nvSpPr>
        <p:spPr>
          <a:xfrm>
            <a:off x="873252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110%</a:t>
            </a:r>
          </a:p>
        </p:txBody>
      </p:sp>
      <p:sp>
        <p:nvSpPr>
          <p:cNvPr id="454" name="X454"/>
          <p:cNvSpPr txBox="1"/>
          <p:nvPr/>
        </p:nvSpPr>
        <p:spPr>
          <a:xfrm>
            <a:off x="777240" y="4846320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Product cost (index)</a:t>
            </a:r>
          </a:p>
        </p:txBody>
      </p:sp>
      <p:sp>
        <p:nvSpPr>
          <p:cNvPr id="455" name="X455"/>
          <p:cNvSpPr txBox="1"/>
          <p:nvPr/>
        </p:nvSpPr>
        <p:spPr>
          <a:xfrm>
            <a:off x="315468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105%</a:t>
            </a:r>
          </a:p>
        </p:txBody>
      </p:sp>
      <p:sp>
        <p:nvSpPr>
          <p:cNvPr id="456" name="X456"/>
          <p:cNvSpPr txBox="1"/>
          <p:nvPr/>
        </p:nvSpPr>
        <p:spPr>
          <a:xfrm>
            <a:off x="594360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100%</a:t>
            </a:r>
          </a:p>
        </p:txBody>
      </p:sp>
      <p:sp>
        <p:nvSpPr>
          <p:cNvPr id="457" name="X457"/>
          <p:cNvSpPr txBox="1"/>
          <p:nvPr/>
        </p:nvSpPr>
        <p:spPr>
          <a:xfrm>
            <a:off x="873252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90%</a:t>
            </a:r>
          </a:p>
        </p:txBody>
      </p:sp>
      <p:sp>
        <p:nvSpPr>
          <p:cNvPr id="458" name="X458"/>
          <p:cNvSpPr txBox="1"/>
          <p:nvPr/>
        </p:nvSpPr>
        <p:spPr>
          <a:xfrm>
            <a:off x="777240" y="5020056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Automation CAPEX</a:t>
            </a:r>
          </a:p>
        </p:txBody>
      </p:sp>
      <p:sp>
        <p:nvSpPr>
          <p:cNvPr id="459" name="X459"/>
          <p:cNvSpPr txBox="1"/>
          <p:nvPr/>
        </p:nvSpPr>
        <p:spPr>
          <a:xfrm>
            <a:off x="315468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€0</a:t>
            </a:r>
          </a:p>
        </p:txBody>
      </p:sp>
      <p:sp>
        <p:nvSpPr>
          <p:cNvPr id="460" name="X460"/>
          <p:cNvSpPr txBox="1"/>
          <p:nvPr/>
        </p:nvSpPr>
        <p:spPr>
          <a:xfrm>
            <a:off x="594360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€10,000</a:t>
            </a:r>
          </a:p>
        </p:txBody>
      </p:sp>
      <p:sp>
        <p:nvSpPr>
          <p:cNvPr id="461" name="X461"/>
          <p:cNvSpPr txBox="1"/>
          <p:nvPr/>
        </p:nvSpPr>
        <p:spPr>
          <a:xfrm>
            <a:off x="873252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€35,000</a:t>
            </a:r>
          </a:p>
        </p:txBody>
      </p:sp>
      <p:sp>
        <p:nvSpPr>
          <p:cNvPr id="462" name="X462"/>
          <p:cNvSpPr txBox="1"/>
          <p:nvPr/>
        </p:nvSpPr>
        <p:spPr>
          <a:xfrm>
            <a:off x="777240" y="5193792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880" b="1" i="0">
                <a:solidFill>
                  <a:srgbClr val="3A453F"/>
                </a:solidFill>
                <a:latin typeface="Arial"/>
              </a:rPr>
              <a:t>Headcount at run-rate</a:t>
            </a:r>
          </a:p>
        </p:txBody>
      </p:sp>
      <p:sp>
        <p:nvSpPr>
          <p:cNvPr id="463" name="X463"/>
          <p:cNvSpPr txBox="1"/>
          <p:nvPr/>
        </p:nvSpPr>
        <p:spPr>
          <a:xfrm>
            <a:off x="315468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11 people</a:t>
            </a:r>
          </a:p>
        </p:txBody>
      </p:sp>
      <p:sp>
        <p:nvSpPr>
          <p:cNvPr id="464" name="X464"/>
          <p:cNvSpPr txBox="1"/>
          <p:nvPr/>
        </p:nvSpPr>
        <p:spPr>
          <a:xfrm>
            <a:off x="594360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1" i="0">
                <a:solidFill>
                  <a:srgbClr val="1D4F37"/>
                </a:solidFill>
                <a:latin typeface="Arial"/>
              </a:rPr>
              <a:t>9 people</a:t>
            </a:r>
          </a:p>
        </p:txBody>
      </p:sp>
      <p:sp>
        <p:nvSpPr>
          <p:cNvPr id="465" name="X465"/>
          <p:cNvSpPr txBox="1"/>
          <p:nvPr/>
        </p:nvSpPr>
        <p:spPr>
          <a:xfrm>
            <a:off x="873252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7 people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LEVERS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HOW MARGIN GROWS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Four levers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 xml:space="preserve">for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 — COST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Automation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Climate and irrigation sensing and control cut labor cost — the largest line in vertical farming — and raise output per m².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 — PRICE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Today we sell at the low end of the market. As the brand and chef relationships mature, there's room to move toward premium pricing.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III — MARGIN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Premium mix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More restaurants, edible flowers and high-value-per-kilo varieties: raises revenue per tray without raising production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 xml:space="preserve">IV — SCALE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 xml:space="preserve">New 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 xml:space="preserve">Each additional rack scales over a fixed cost base. The same foundation supports new lines and business areas.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STRUCTURE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WHY EQUITY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We take equity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because ENISA requires it.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Instrumentation: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a convertible note, converted into equity before ENISA formalizes its loan, as its procedure requires.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801" name="X801"/>
          <p:cNvSpPr/>
          <p:nvPr/>
        </p:nvSpPr>
        <p:spPr>
          <a:xfrm>
            <a:off x="77724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2" name="X802"/>
          <p:cNvSpPr txBox="1"/>
          <p:nvPr/>
        </p:nvSpPr>
        <p:spPr>
          <a:xfrm>
            <a:off x="94183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 — THE REQUIREMENT</a:t>
            </a:r>
          </a:p>
        </p:txBody>
      </p:sp>
      <p:sp>
        <p:nvSpPr>
          <p:cNvPr id="803" name="X803"/>
          <p:cNvSpPr txBox="1"/>
          <p:nvPr/>
        </p:nvSpPr>
        <p:spPr>
          <a:xfrm>
            <a:off x="94183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Equity ≥ loan</a:t>
            </a:r>
          </a:p>
        </p:txBody>
      </p:sp>
      <p:sp>
        <p:nvSpPr>
          <p:cNvPr id="804" name="X804"/>
          <p:cNvSpPr txBox="1"/>
          <p:nvPr/>
        </p:nvSpPr>
        <p:spPr>
          <a:xfrm>
            <a:off x="94183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ENISA requires the company's equity to be at least equal to the loan. A private loan is debt and doesn't count: to unlock the €100,000 public loan, the private tranche has to be equity.</a:t>
            </a:r>
          </a:p>
        </p:txBody>
      </p:sp>
      <p:sp>
        <p:nvSpPr>
          <p:cNvPr id="805" name="X805"/>
          <p:cNvSpPr/>
          <p:nvPr/>
        </p:nvSpPr>
        <p:spPr>
          <a:xfrm>
            <a:off x="347472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6" name="X806"/>
          <p:cNvSpPr txBox="1"/>
          <p:nvPr/>
        </p:nvSpPr>
        <p:spPr>
          <a:xfrm>
            <a:off x="363931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II — THE PROTECTION</a:t>
            </a:r>
          </a:p>
        </p:txBody>
      </p:sp>
      <p:sp>
        <p:nvSpPr>
          <p:cNvPr id="807" name="X807"/>
          <p:cNvSpPr txBox="1"/>
          <p:nvPr/>
        </p:nvSpPr>
        <p:spPr>
          <a:xfrm>
            <a:off x="363931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1.5× floor</a:t>
            </a:r>
          </a:p>
        </p:txBody>
      </p:sp>
      <p:sp>
        <p:nvSpPr>
          <p:cNvPr id="808" name="X808"/>
          <p:cNvSpPr txBox="1"/>
          <p:nvPr/>
        </p:nvSpPr>
        <p:spPr>
          <a:xfrm>
            <a:off x="363931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The investor receives the greater of two amounts: their 10% of the company's value, or 1.5× their investment. They earn a return even in the conservative case.</a:t>
            </a:r>
          </a:p>
        </p:txBody>
      </p:sp>
      <p:sp>
        <p:nvSpPr>
          <p:cNvPr id="809" name="X809"/>
          <p:cNvSpPr/>
          <p:nvPr/>
        </p:nvSpPr>
        <p:spPr>
          <a:xfrm>
            <a:off x="617220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0" name="X810"/>
          <p:cNvSpPr txBox="1"/>
          <p:nvPr/>
        </p:nvSpPr>
        <p:spPr>
          <a:xfrm>
            <a:off x="633679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III — THE LIQUIDITY</a:t>
            </a:r>
          </a:p>
        </p:txBody>
      </p:sp>
      <p:sp>
        <p:nvSpPr>
          <p:cNvPr id="811" name="X811"/>
          <p:cNvSpPr txBox="1"/>
          <p:nvPr/>
        </p:nvSpPr>
        <p:spPr>
          <a:xfrm>
            <a:off x="633679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Exit from year 4</a:t>
            </a:r>
          </a:p>
        </p:txBody>
      </p:sp>
      <p:sp>
        <p:nvSpPr>
          <p:cNvPr id="812" name="X812"/>
          <p:cNvSpPr txBox="1"/>
          <p:nvPr/>
        </p:nvSpPr>
        <p:spPr>
          <a:xfrm>
            <a:off x="633679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>No dividends until ENISA is repaid. The return comes from an exit right agreed upfront, not from a coupon.</a:t>
            </a:r>
          </a:p>
        </p:txBody>
      </p:sp>
      <p:sp>
        <p:nvSpPr>
          <p:cNvPr id="813" name="X813"/>
          <p:cNvSpPr/>
          <p:nvPr/>
        </p:nvSpPr>
        <p:spPr>
          <a:xfrm>
            <a:off x="886968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4" name="X814"/>
          <p:cNvSpPr txBox="1"/>
          <p:nvPr/>
        </p:nvSpPr>
        <p:spPr>
          <a:xfrm>
            <a:off x="903427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IV — THE CONTROL</a:t>
            </a:r>
          </a:p>
        </p:txBody>
      </p:sp>
      <p:sp>
        <p:nvSpPr>
          <p:cNvPr id="815" name="X815"/>
          <p:cNvSpPr txBox="1"/>
          <p:nvPr/>
        </p:nvSpPr>
        <p:spPr>
          <a:xfrm>
            <a:off x="903427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Founders keep 90%</a:t>
            </a:r>
          </a:p>
        </p:txBody>
      </p:sp>
      <p:sp>
        <p:nvSpPr>
          <p:cNvPr id="816" name="X816"/>
          <p:cNvSpPr txBox="1"/>
          <p:nvPr/>
        </p:nvSpPr>
        <p:spPr>
          <a:xfrm>
            <a:off x="903427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n-US" sz="880" b="0" i="0">
                <a:solidFill>
                  <a:srgbClr val="3A453F"/>
                </a:solidFill>
                <a:latin typeface="Arial"/>
              </a:rPr>
              <a:t xml:space="preserve">A minority stake with no veto over day-to-day operations; the founding team continues to run the business.</a:t>
            </a:r>
          </a:p>
        </p:txBody>
      </p:sp>
      <p:sp>
        <p:nvSpPr>
          <p:cNvPr id="817" name="X817"/>
          <p:cNvSpPr txBox="1"/>
          <p:nvPr/>
        </p:nvSpPr>
        <p:spPr>
          <a:xfrm>
            <a:off x="777240" y="4261104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00" b="1" i="0" spc="160">
                <a:solidFill>
                  <a:srgbClr val="8A827B"/>
                </a:solidFill>
                <a:latin typeface="Arial"/>
              </a:rPr>
              <a:t>WHAT THE INVESTOR RECEIVES AT EXIT  ·  ON €100,000</a:t>
            </a:r>
          </a:p>
        </p:txBody>
      </p:sp>
      <p:sp>
        <p:nvSpPr>
          <p:cNvPr id="818" name="X818"/>
          <p:cNvSpPr txBox="1"/>
          <p:nvPr/>
        </p:nvSpPr>
        <p:spPr>
          <a:xfrm>
            <a:off x="777240" y="449884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3A453F"/>
                </a:solidFill>
                <a:latin typeface="Arial"/>
              </a:rPr>
              <a:t>Conservative</a:t>
            </a:r>
          </a:p>
        </p:txBody>
      </p:sp>
      <p:sp>
        <p:nvSpPr>
          <p:cNvPr id="819" name="X819"/>
          <p:cNvSpPr/>
          <p:nvPr/>
        </p:nvSpPr>
        <p:spPr>
          <a:xfrm>
            <a:off x="2103120" y="4498848"/>
            <a:ext cx="2193135" cy="201168"/>
          </a:xfrm>
          <a:prstGeom prst="roundRect">
            <a:avLst>
              <a:gd name="adj" fmla="val 16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" name="X820"/>
          <p:cNvSpPr txBox="1"/>
          <p:nvPr/>
        </p:nvSpPr>
        <p:spPr>
          <a:xfrm>
            <a:off x="4424271" y="4498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3A453F"/>
                </a:solidFill>
                <a:latin typeface="Arial"/>
              </a:rPr>
              <a:t>€270K  ·  2.7×</a:t>
            </a:r>
          </a:p>
        </p:txBody>
      </p:sp>
      <p:sp>
        <p:nvSpPr>
          <p:cNvPr id="821" name="X821"/>
          <p:cNvSpPr txBox="1"/>
          <p:nvPr/>
        </p:nvSpPr>
        <p:spPr>
          <a:xfrm>
            <a:off x="777240" y="47731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Base</a:t>
            </a:r>
          </a:p>
        </p:txBody>
      </p:sp>
      <p:sp>
        <p:nvSpPr>
          <p:cNvPr id="822" name="X822"/>
          <p:cNvSpPr/>
          <p:nvPr/>
        </p:nvSpPr>
        <p:spPr>
          <a:xfrm>
            <a:off x="2103120" y="4773168"/>
            <a:ext cx="4191325" cy="201168"/>
          </a:xfrm>
          <a:prstGeom prst="roundRect">
            <a:avLst>
              <a:gd name="adj" fmla="val 1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X823"/>
          <p:cNvSpPr txBox="1"/>
          <p:nvPr/>
        </p:nvSpPr>
        <p:spPr>
          <a:xfrm>
            <a:off x="6422461" y="477316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€516K  ·  5.2×</a:t>
            </a:r>
          </a:p>
        </p:txBody>
      </p:sp>
      <p:sp>
        <p:nvSpPr>
          <p:cNvPr id="824" name="X824"/>
          <p:cNvSpPr txBox="1"/>
          <p:nvPr/>
        </p:nvSpPr>
        <p:spPr>
          <a:xfrm>
            <a:off x="777240" y="504748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3A453F"/>
                </a:solidFill>
                <a:latin typeface="Arial"/>
              </a:rPr>
              <a:t>Optimistic</a:t>
            </a:r>
          </a:p>
        </p:txBody>
      </p:sp>
      <p:sp>
        <p:nvSpPr>
          <p:cNvPr id="825" name="X825"/>
          <p:cNvSpPr/>
          <p:nvPr/>
        </p:nvSpPr>
        <p:spPr>
          <a:xfrm>
            <a:off x="2103120" y="5047488"/>
            <a:ext cx="6254496" cy="201168"/>
          </a:xfrm>
          <a:prstGeom prst="roundRect">
            <a:avLst>
              <a:gd name="adj" fmla="val 16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" name="X826"/>
          <p:cNvSpPr txBox="1"/>
          <p:nvPr/>
        </p:nvSpPr>
        <p:spPr>
          <a:xfrm>
            <a:off x="8485632" y="50474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C25A12"/>
                </a:solidFill>
                <a:latin typeface="Arial"/>
              </a:rPr>
              <a:t>€770K  ·  7.7×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VISION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BEYOND MICROGREENS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Rootflow is the first OpCo.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Not the last.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Core first: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each new leg opens once there's cash flow, in its own OpCo — without distracting from Rootflow.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951" name="X951"/>
          <p:cNvSpPr/>
          <p:nvPr/>
        </p:nvSpPr>
        <p:spPr>
          <a:xfrm>
            <a:off x="777240" y="2414016"/>
            <a:ext cx="10607040" cy="347472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" name="X952"/>
          <p:cNvSpPr txBox="1"/>
          <p:nvPr/>
        </p:nvSpPr>
        <p:spPr>
          <a:xfrm>
            <a:off x="777240" y="2414016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n-US" sz="1000" b="1" i="0" spc="200">
                <a:solidFill>
                  <a:srgbClr val="FCF1ED"/>
                </a:solidFill>
                <a:latin typeface="Arial"/>
              </a:rPr>
              <a:t>HOLDING</a:t>
            </a:r>
            <a:r>
              <a:rPr lang="en-US" sz="950" b="0" i="0">
                <a:solidFill>
                  <a:srgbClr val="D8ECDF"/>
                </a:solidFill>
                <a:latin typeface="Arial"/>
              </a:rPr>
              <a:t>   ·   strategy, capital and acquisitions   ·   one OpCo per project</a:t>
            </a:r>
          </a:p>
        </p:txBody>
      </p:sp>
      <p:sp>
        <p:nvSpPr>
          <p:cNvPr id="953" name="X953"/>
          <p:cNvSpPr/>
          <p:nvPr/>
        </p:nvSpPr>
        <p:spPr>
          <a:xfrm>
            <a:off x="6073902" y="2761488"/>
            <a:ext cx="13716" cy="9144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" name="X954"/>
          <p:cNvSpPr/>
          <p:nvPr/>
        </p:nvSpPr>
        <p:spPr>
          <a:xfrm>
            <a:off x="2034540" y="2852928"/>
            <a:ext cx="8092440" cy="13716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" name="X955"/>
          <p:cNvSpPr/>
          <p:nvPr/>
        </p:nvSpPr>
        <p:spPr>
          <a:xfrm>
            <a:off x="202768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" name="X956"/>
          <p:cNvSpPr/>
          <p:nvPr/>
        </p:nvSpPr>
        <p:spPr>
          <a:xfrm>
            <a:off x="472516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" name="X957"/>
          <p:cNvSpPr/>
          <p:nvPr/>
        </p:nvSpPr>
        <p:spPr>
          <a:xfrm>
            <a:off x="742264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" name="X958"/>
          <p:cNvSpPr/>
          <p:nvPr/>
        </p:nvSpPr>
        <p:spPr>
          <a:xfrm>
            <a:off x="1012012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" name="X959"/>
          <p:cNvSpPr/>
          <p:nvPr/>
        </p:nvSpPr>
        <p:spPr>
          <a:xfrm>
            <a:off x="77724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960" name="X960"/>
          <p:cNvSpPr txBox="1"/>
          <p:nvPr/>
        </p:nvSpPr>
        <p:spPr>
          <a:xfrm>
            <a:off x="94183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OPCO 1  ·  TODAY</a:t>
            </a:r>
          </a:p>
        </p:txBody>
      </p:sp>
      <p:sp>
        <p:nvSpPr>
          <p:cNvPr id="961" name="X961"/>
          <p:cNvSpPr txBox="1"/>
          <p:nvPr/>
        </p:nvSpPr>
        <p:spPr>
          <a:xfrm>
            <a:off x="94183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FCF1ED"/>
                </a:solidFill>
                <a:latin typeface="Arial"/>
              </a:rPr>
              <a:t>Rootflow</a:t>
            </a:r>
          </a:p>
        </p:txBody>
      </p:sp>
      <p:sp>
        <p:nvSpPr>
          <p:cNvPr id="962" name="X962"/>
          <p:cNvSpPr txBox="1"/>
          <p:nvPr/>
        </p:nvSpPr>
        <p:spPr>
          <a:xfrm>
            <a:off x="94183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D8ECDF"/>
                </a:solidFill>
                <a:latin typeface="Arial"/>
              </a:rPr>
              <a:t>Live microgreens for restaurants and distributors: low capital, skin in the game and recurring cash.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1" i="0">
                <a:solidFill>
                  <a:srgbClr val="FCF1ED"/>
                </a:solidFill>
                <a:latin typeface="Arial"/>
              </a:rPr>
              <a:t>Already in the plan: </a:t>
            </a:r>
            <a:r>
              <a:rPr lang="en-US" sz="830" b="0" i="0">
                <a:solidFill>
                  <a:srgbClr val="D8ECDF"/>
                </a:solidFill>
                <a:latin typeface="Arial"/>
              </a:rPr>
              <a:t>a microhub in Salamanca, Chamberí and the center, with riders for the last mile.</a:t>
            </a:r>
          </a:p>
        </p:txBody>
      </p:sp>
      <p:sp>
        <p:nvSpPr>
          <p:cNvPr id="963" name="X963"/>
          <p:cNvSpPr/>
          <p:nvPr/>
        </p:nvSpPr>
        <p:spPr>
          <a:xfrm>
            <a:off x="347472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4" name="X964"/>
          <p:cNvSpPr txBox="1"/>
          <p:nvPr/>
        </p:nvSpPr>
        <p:spPr>
          <a:xfrm>
            <a:off x="363931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LEG 2  ·  GROWERS</a:t>
            </a:r>
          </a:p>
        </p:txBody>
      </p:sp>
      <p:sp>
        <p:nvSpPr>
          <p:cNvPr id="965" name="X965"/>
          <p:cNvSpPr txBox="1"/>
          <p:nvPr/>
        </p:nvSpPr>
        <p:spPr>
          <a:xfrm>
            <a:off x="363931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Seeds and Seed Mats</a:t>
            </a:r>
          </a:p>
        </p:txBody>
      </p:sp>
      <p:sp>
        <p:nvSpPr>
          <p:cNvPr id="966" name="X966"/>
          <p:cNvSpPr txBox="1"/>
          <p:nvPr/>
        </p:nvSpPr>
        <p:spPr>
          <a:xfrm>
            <a:off x="363931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Specialty seed distribution: a new revenue line and direct buying of our main input cost.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Biodegradable Seed Mats with pre-spaced seed, plus seeding machines, for farms (B2B) and retail kits via e-commerce.</a:t>
            </a:r>
          </a:p>
        </p:txBody>
      </p:sp>
      <p:sp>
        <p:nvSpPr>
          <p:cNvPr id="967" name="X967"/>
          <p:cNvSpPr/>
          <p:nvPr/>
        </p:nvSpPr>
        <p:spPr>
          <a:xfrm>
            <a:off x="617220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8" name="X968"/>
          <p:cNvSpPr txBox="1"/>
          <p:nvPr/>
        </p:nvSpPr>
        <p:spPr>
          <a:xfrm>
            <a:off x="633679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ED7E1F"/>
                </a:solidFill>
                <a:latin typeface="Arial"/>
              </a:rPr>
              <a:t>LEG 3  ·  NUTRITION</a:t>
            </a:r>
          </a:p>
        </p:txBody>
      </p:sp>
      <p:sp>
        <p:nvSpPr>
          <p:cNvPr id="969" name="X969"/>
          <p:cNvSpPr txBox="1"/>
          <p:nvPr/>
        </p:nvSpPr>
        <p:spPr>
          <a:xfrm>
            <a:off x="633679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Microgreen powder</a:t>
            </a:r>
          </a:p>
        </p:txBody>
      </p:sp>
      <p:sp>
        <p:nvSpPr>
          <p:cNvPr id="970" name="X970"/>
          <p:cNvSpPr txBox="1"/>
          <p:nvPr/>
        </p:nvSpPr>
        <p:spPr>
          <a:xfrm>
            <a:off x="633679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Surplus and trim, dehydrated or freeze-dried into a branded supplement — think AG1, built on microgreens.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Long shelf life, no cold-chain pressure and its own direct-to-consumer channel.</a:t>
            </a:r>
          </a:p>
        </p:txBody>
      </p:sp>
      <p:sp>
        <p:nvSpPr>
          <p:cNvPr id="971" name="X971"/>
          <p:cNvSpPr/>
          <p:nvPr/>
        </p:nvSpPr>
        <p:spPr>
          <a:xfrm>
            <a:off x="886968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CF1ED"/>
          </a:solidFill>
          <a:ln w="12700">
            <a:solidFill>
              <a:srgbClr val="8A827B"/>
            </a:solidFill>
            <a:prstDash val="dash"/>
          </a:ln>
        </p:spPr>
        <p:txBody>
          <a:bodyPr/>
          <a:lstStyle/>
          <a:p/>
        </p:txBody>
      </p:sp>
      <p:sp>
        <p:nvSpPr>
          <p:cNvPr id="972" name="X972"/>
          <p:cNvSpPr txBox="1"/>
          <p:nvPr/>
        </p:nvSpPr>
        <p:spPr>
          <a:xfrm>
            <a:off x="903427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720" b="1" i="0" spc="120">
                <a:solidFill>
                  <a:srgbClr val="8A827B"/>
                </a:solidFill>
                <a:latin typeface="Arial"/>
              </a:rPr>
              <a:t>LEG N  ·  INORGANIC</a:t>
            </a:r>
          </a:p>
        </p:txBody>
      </p:sp>
      <p:sp>
        <p:nvSpPr>
          <p:cNvPr id="973" name="X973"/>
          <p:cNvSpPr txBox="1"/>
          <p:nvPr/>
        </p:nvSpPr>
        <p:spPr>
          <a:xfrm>
            <a:off x="903427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1250" b="1" i="0">
                <a:solidFill>
                  <a:srgbClr val="1D4F37"/>
                </a:solidFill>
                <a:latin typeface="Arial"/>
              </a:rPr>
              <a:t>New OpCos</a:t>
            </a:r>
          </a:p>
        </p:txBody>
      </p:sp>
      <p:sp>
        <p:nvSpPr>
          <p:cNvPr id="974" name="X974"/>
          <p:cNvSpPr txBox="1"/>
          <p:nvPr/>
        </p:nvSpPr>
        <p:spPr>
          <a:xfrm>
            <a:off x="903427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Acquisitions in the legs we already run, or in new ones.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n-US" sz="830" b="0" i="0">
                <a:solidFill>
                  <a:srgbClr val="3A453F"/>
                </a:solidFill>
                <a:latin typeface="Arial"/>
              </a:rPr>
              <a:t>One OpCo per project under the holding: ring-fenced risk and tailored financing.</a:t>
            </a:r>
          </a:p>
        </p:txBody>
      </p:sp>
      <p:sp>
        <p:nvSpPr>
          <p:cNvPr id="975" name="X975"/>
          <p:cNvSpPr/>
          <p:nvPr/>
        </p:nvSpPr>
        <p:spPr>
          <a:xfrm>
            <a:off x="777240" y="4864608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" name="X976"/>
          <p:cNvSpPr txBox="1"/>
          <p:nvPr/>
        </p:nvSpPr>
        <p:spPr>
          <a:xfrm>
            <a:off x="960120" y="48646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n-US" sz="900" b="1" i="0">
                <a:solidFill>
                  <a:srgbClr val="1D4F37"/>
                </a:solidFill>
                <a:latin typeface="Arial"/>
              </a:rPr>
              <a:t>Synergies:  </a:t>
            </a:r>
            <a:r>
              <a:rPr lang="en-US" sz="900" b="0" i="0">
                <a:solidFill>
                  <a:srgbClr val="2C5F47"/>
                </a:solidFill>
                <a:latin typeface="Arial"/>
              </a:rPr>
              <a:t>every leg shares growing know-how, ERP, clients and brand. Seed cuts our cost; powder turns trim into margin.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BUSINESS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TWO BUSINESS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One facility,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two ways to sell.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The lever: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the share of the facility sold to restaurants comes out of distribution. Output doesn't grow: it sells better.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Volume and margin, from the same facility.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100" name="Línea LINE 1  ·  DISTRIBUTION"/>
          <p:cNvSpPr/>
          <p:nvPr/>
        </p:nvSpPr>
        <p:spPr>
          <a:xfrm>
            <a:off x="777240" y="2286000"/>
            <a:ext cx="51755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101" name="Etiqueta LINE 1  ·  DISTRIBUTION"/>
          <p:cNvSpPr txBox="1"/>
          <p:nvPr/>
        </p:nvSpPr>
        <p:spPr>
          <a:xfrm>
            <a:off x="1033272" y="24688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50" b="1" i="0" spc="200" dirty="0">
                <a:solidFill>
                  <a:srgbClr val="ED7E1F"/>
                </a:solidFill>
                <a:latin typeface="Arial"/>
              </a:rPr>
              <a:t xml:space="preserve">LINE 1  ·  DISTRIBUTION</a:t>
            </a:r>
          </a:p>
        </p:txBody>
      </p:sp>
      <p:sp>
        <p:nvSpPr>
          <p:cNvPr id="102" name="Palabra LINE 1  ·  DISTRIBUTION"/>
          <p:cNvSpPr txBox="1"/>
          <p:nvPr/>
        </p:nvSpPr>
        <p:spPr>
          <a:xfrm>
            <a:off x="1033272" y="269748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1D4F37"/>
                </a:solidFill>
                <a:latin typeface="Arial"/>
              </a:rPr>
              <a:t xml:space="preserve">Volume</a:t>
            </a:r>
          </a:p>
        </p:txBody>
      </p:sp>
      <p:sp>
        <p:nvSpPr>
          <p:cNvPr id="103" name="Cifra LINE 1  ·  DISTRIBUTION"/>
          <p:cNvSpPr txBox="1"/>
          <p:nvPr/>
        </p:nvSpPr>
        <p:spPr>
          <a:xfrm>
            <a:off x="406908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2200" b="1" i="0" dirty="0">
                <a:solidFill>
                  <a:srgbClr val="1D4F37"/>
                </a:solidFill>
                <a:latin typeface="Arial"/>
              </a:rPr>
              <a:t xml:space="preserve">€1.38M</a:t>
            </a:r>
          </a:p>
          <a:p>
            <a:pPr algn="r"/>
            <a:r>
              <a:rPr lang="en-US" sz="800" b="1" i="0" spc="100" dirty="0">
                <a:solidFill>
                  <a:srgbClr val="8A827B"/>
                </a:solidFill>
                <a:latin typeface="Arial"/>
              </a:rPr>
              <a:t xml:space="preserve">REVENUE · YEAR 5</a:t>
            </a:r>
          </a:p>
        </p:txBody>
      </p:sp>
      <p:sp>
        <p:nvSpPr>
          <p:cNvPr id="104" name="Puntos LINE 1  ·  DISTRIBUTION"/>
          <p:cNvSpPr txBox="1"/>
          <p:nvPr/>
        </p:nvSpPr>
        <p:spPr>
          <a:xfrm>
            <a:off x="1033272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3A453F"/>
                </a:solidFill>
                <a:latin typeface="Arial"/>
              </a:rPr>
              <a:t xml:space="preserve">Distributors, retail and Mercamadrid: identified clients and new accounts.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3A453F"/>
                </a:solidFill>
                <a:latin typeface="Arial"/>
              </a:rPr>
              <a:t xml:space="preserve">Wholesale price list: €44/kg on average.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3A453F"/>
                </a:solidFill>
                <a:latin typeface="Arial"/>
              </a:rPr>
              <a:t xml:space="preserve">Own van in Madrid; Athos for the rest of Spain.</a:t>
            </a:r>
          </a:p>
        </p:txBody>
      </p:sp>
      <p:sp>
        <p:nvSpPr>
          <p:cNvPr id="105" name="Línea LINE 2  ·  RESTAURANTS"/>
          <p:cNvSpPr/>
          <p:nvPr/>
        </p:nvSpPr>
        <p:spPr>
          <a:xfrm>
            <a:off x="6236208" y="2286000"/>
            <a:ext cx="5175504" cy="2057400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06" name="Etiqueta LINE 2  ·  RESTAURANTS"/>
          <p:cNvSpPr txBox="1"/>
          <p:nvPr/>
        </p:nvSpPr>
        <p:spPr>
          <a:xfrm>
            <a:off x="6492240" y="24688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950" b="1" i="0" spc="200" dirty="0">
                <a:solidFill>
                  <a:srgbClr val="ED7E1F"/>
                </a:solidFill>
                <a:latin typeface="Arial"/>
              </a:rPr>
              <a:t xml:space="preserve">LINE 2  ·  RESTAURANTS</a:t>
            </a:r>
          </a:p>
        </p:txBody>
      </p:sp>
      <p:sp>
        <p:nvSpPr>
          <p:cNvPr id="107" name="Palabra LINE 2  ·  RESTAURANTS"/>
          <p:cNvSpPr txBox="1"/>
          <p:nvPr/>
        </p:nvSpPr>
        <p:spPr>
          <a:xfrm>
            <a:off x="6492240" y="269748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FCF1ED"/>
                </a:solidFill>
                <a:latin typeface="Arial"/>
              </a:rPr>
              <a:t xml:space="preserve">Margin</a:t>
            </a:r>
          </a:p>
        </p:txBody>
      </p:sp>
      <p:sp>
        <p:nvSpPr>
          <p:cNvPr id="108" name="Cifra LINE 2  ·  RESTAURANTS"/>
          <p:cNvSpPr txBox="1"/>
          <p:nvPr/>
        </p:nvSpPr>
        <p:spPr>
          <a:xfrm>
            <a:off x="9528048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n-US" sz="2200" b="1" i="0" dirty="0">
                <a:solidFill>
                  <a:srgbClr val="FCF1ED"/>
                </a:solidFill>
                <a:latin typeface="Arial"/>
              </a:rPr>
              <a:t xml:space="preserve">€345K</a:t>
            </a:r>
          </a:p>
          <a:p>
            <a:pPr algn="r"/>
            <a:r>
              <a:rPr lang="en-US" sz="800" b="1" i="0" spc="100" dirty="0">
                <a:solidFill>
                  <a:srgbClr val="9BC9AE"/>
                </a:solidFill>
                <a:latin typeface="Arial"/>
              </a:rPr>
              <a:t xml:space="preserve">REVENUE · YEAR 5</a:t>
            </a:r>
          </a:p>
        </p:txBody>
      </p:sp>
      <p:sp>
        <p:nvSpPr>
          <p:cNvPr id="109" name="Puntos LINE 2  ·  RESTAURANTS"/>
          <p:cNvSpPr txBox="1"/>
          <p:nvPr/>
        </p:nvSpPr>
        <p:spPr>
          <a:xfrm>
            <a:off x="6492240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D8ECDF"/>
                </a:solidFill>
                <a:latin typeface="Arial"/>
              </a:rPr>
              <a:t xml:space="preserve">123 restaurants across 8 hot zones in Madrid.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D8ECDF"/>
                </a:solidFill>
                <a:latin typeface="Arial"/>
              </a:rPr>
              <a:t xml:space="preserve">Two orders a week · average ticket of €28.93.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D8ECDF"/>
                </a:solidFill>
                <a:latin typeface="Arial"/>
              </a:rPr>
              <a:t xml:space="preserve">Delivered by 2 riders from a refrigerated microhub.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n-US" sz="1150" b="0" i="0" dirty="0">
                <a:solidFill>
                  <a:srgbClr val="D8ECDF"/>
                </a:solidFill>
                <a:latin typeface="Arial"/>
              </a:rPr>
              <a:t xml:space="preserve">Restaurant price list: €173/kg on average.</a:t>
            </a:r>
          </a:p>
        </p:txBody>
      </p:sp>
      <p:sp>
        <p:nvSpPr>
          <p:cNvPr id="110" name="Pie barras"/>
          <p:cNvSpPr txBox="1"/>
          <p:nvPr/>
        </p:nvSpPr>
        <p:spPr>
          <a:xfrm>
            <a:off x="777240" y="450799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50" b="1" i="0" spc="150" dirty="0">
                <a:solidFill>
                  <a:srgbClr val="8A827B"/>
                </a:solidFill>
                <a:latin typeface="Arial"/>
              </a:rPr>
              <a:t xml:space="preserve">YEAR 5  ·  BASE CASE</a:t>
            </a:r>
          </a:p>
        </p:txBody>
      </p:sp>
      <p:sp>
        <p:nvSpPr>
          <p:cNvPr id="111" name="Leyenda distribución"/>
          <p:cNvSpPr/>
          <p:nvPr/>
        </p:nvSpPr>
        <p:spPr>
          <a:xfrm>
            <a:off x="5440680" y="4544568"/>
            <a:ext cx="109728" cy="109728"/>
          </a:xfrm>
          <a:prstGeom prst="rect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2" name="Texto leyenda distribución"/>
          <p:cNvSpPr txBox="1"/>
          <p:nvPr/>
        </p:nvSpPr>
        <p:spPr>
          <a:xfrm>
            <a:off x="5596128" y="450799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50" b="0" i="0" dirty="0">
                <a:solidFill>
                  <a:srgbClr val="3A453F"/>
                </a:solidFill>
                <a:latin typeface="Arial"/>
              </a:rPr>
              <a:t xml:space="preserve">Distribution</a:t>
            </a:r>
          </a:p>
        </p:txBody>
      </p:sp>
      <p:sp>
        <p:nvSpPr>
          <p:cNvPr id="113" name="Leyenda restaurantes"/>
          <p:cNvSpPr/>
          <p:nvPr/>
        </p:nvSpPr>
        <p:spPr>
          <a:xfrm>
            <a:off x="6720840" y="4544568"/>
            <a:ext cx="109728" cy="109728"/>
          </a:xfrm>
          <a:prstGeom prst="rect">
            <a:avLst/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4" name="Texto leyenda restaurantes"/>
          <p:cNvSpPr txBox="1"/>
          <p:nvPr/>
        </p:nvSpPr>
        <p:spPr>
          <a:xfrm>
            <a:off x="6876288" y="450799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50" b="0" i="0" dirty="0">
                <a:solidFill>
                  <a:srgbClr val="3A453F"/>
                </a:solidFill>
                <a:latin typeface="Arial"/>
              </a:rPr>
              <a:t xml:space="preserve">Restaurants</a:t>
            </a:r>
          </a:p>
        </p:txBody>
      </p:sp>
      <p:sp>
        <p:nvSpPr>
          <p:cNvPr id="115" name="Etiqueta barra 0"/>
          <p:cNvSpPr txBox="1"/>
          <p:nvPr/>
        </p:nvSpPr>
        <p:spPr>
          <a:xfrm>
            <a:off x="777240" y="477316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1" i="0" dirty="0">
                <a:solidFill>
                  <a:srgbClr val="3A453F"/>
                </a:solidFill>
                <a:latin typeface="Arial"/>
              </a:rPr>
              <a:t xml:space="preserve">Kilos sold</a:t>
            </a:r>
          </a:p>
        </p:txBody>
      </p:sp>
      <p:sp>
        <p:nvSpPr>
          <p:cNvPr id="116" name="Barra distribución 0"/>
          <p:cNvSpPr/>
          <p:nvPr/>
        </p:nvSpPr>
        <p:spPr>
          <a:xfrm>
            <a:off x="2240280" y="4773168"/>
            <a:ext cx="5571576" cy="23774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</p:spPr>
        <p:txBody>
          <a:bodyPr wrap="square" lIns="91440" tIns="0" rIns="0" bIns="0" anchor="ctr"/>
          <a:lstStyle/>
          <a:p>
            <a:pPr algn="l"/>
            <a:r>
              <a:rPr lang="en-US" sz="950" b="1" i="0" dirty="0">
                <a:solidFill>
                  <a:srgbClr val="FCF1ED"/>
                </a:solidFill>
                <a:latin typeface="Arial"/>
              </a:rPr>
              <a:t xml:space="preserve">95%</a:t>
            </a:r>
          </a:p>
        </p:txBody>
      </p:sp>
      <p:sp>
        <p:nvSpPr>
          <p:cNvPr id="117" name="Barra restaurantes 0"/>
          <p:cNvSpPr/>
          <p:nvPr/>
        </p:nvSpPr>
        <p:spPr>
          <a:xfrm>
            <a:off x="7839288" y="4773168"/>
            <a:ext cx="298872" cy="237744"/>
          </a:xfrm>
          <a:prstGeom prst="roundRect">
            <a:avLst>
              <a:gd name="adj" fmla="val 12000"/>
            </a:avLst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 b="1" i="0" dirty="0">
                <a:solidFill>
                  <a:srgbClr val="FFFFFF"/>
                </a:solidFill>
                <a:latin typeface="Arial"/>
              </a:rPr>
              <a:t xml:space="preserve">5%</a:t>
            </a:r>
          </a:p>
        </p:txBody>
      </p:sp>
      <p:sp>
        <p:nvSpPr>
          <p:cNvPr id="118" name="Etiqueta barra 1"/>
          <p:cNvSpPr txBox="1"/>
          <p:nvPr/>
        </p:nvSpPr>
        <p:spPr>
          <a:xfrm>
            <a:off x="777240" y="510235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1" i="0" dirty="0">
                <a:solidFill>
                  <a:srgbClr val="3A453F"/>
                </a:solidFill>
                <a:latin typeface="Arial"/>
              </a:rPr>
              <a:t xml:space="preserve">Revenue</a:t>
            </a:r>
          </a:p>
        </p:txBody>
      </p:sp>
      <p:sp>
        <p:nvSpPr>
          <p:cNvPr id="119" name="Barra distribución 1"/>
          <p:cNvSpPr/>
          <p:nvPr/>
        </p:nvSpPr>
        <p:spPr>
          <a:xfrm>
            <a:off x="2240280" y="5102352"/>
            <a:ext cx="4698690" cy="23774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</p:spPr>
        <p:txBody>
          <a:bodyPr wrap="square" lIns="91440" tIns="0" rIns="0" bIns="0" anchor="ctr"/>
          <a:lstStyle/>
          <a:p>
            <a:pPr algn="l"/>
            <a:r>
              <a:rPr lang="en-US" sz="950" b="1" i="0" dirty="0">
                <a:solidFill>
                  <a:srgbClr val="FCF1ED"/>
                </a:solidFill>
                <a:latin typeface="Arial"/>
              </a:rPr>
              <a:t xml:space="preserve">80%</a:t>
            </a:r>
          </a:p>
        </p:txBody>
      </p:sp>
      <p:sp>
        <p:nvSpPr>
          <p:cNvPr id="120" name="Barra restaurantes 1"/>
          <p:cNvSpPr/>
          <p:nvPr/>
        </p:nvSpPr>
        <p:spPr>
          <a:xfrm>
            <a:off x="6966402" y="5102352"/>
            <a:ext cx="1171758" cy="237744"/>
          </a:xfrm>
          <a:prstGeom prst="roundRect">
            <a:avLst>
              <a:gd name="adj" fmla="val 12000"/>
            </a:avLst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950" b="1" i="0" dirty="0">
                <a:solidFill>
                  <a:srgbClr val="FFFFFF"/>
                </a:solidFill>
                <a:latin typeface="Arial"/>
              </a:rPr>
              <a:t xml:space="preserve">20%</a:t>
            </a:r>
          </a:p>
        </p:txBody>
      </p:sp>
      <p:sp>
        <p:nvSpPr>
          <p:cNvPr id="121" name="Margen por kilo"/>
          <p:cNvSpPr/>
          <p:nvPr/>
        </p:nvSpPr>
        <p:spPr>
          <a:xfrm>
            <a:off x="8503920" y="4507992"/>
            <a:ext cx="2907792" cy="822960"/>
          </a:xfrm>
          <a:prstGeom prst="roundRect">
            <a:avLst>
              <a:gd name="adj" fmla="val 8000"/>
            </a:avLst>
          </a:prstGeom>
          <a:solidFill>
            <a:srgbClr val="D8ECDF"/>
          </a:solidFill>
          <a:ln>
            <a:noFill/>
          </a:ln>
        </p:spPr>
        <p:txBody>
          <a:bodyPr wrap="square" lIns="164592" tIns="36576" rIns="109728" bIns="36576" anchor="ctr"/>
          <a:lstStyle/>
          <a:p>
            <a:pPr algn="l"/>
            <a:r>
              <a:rPr lang="en-US" sz="2200" b="1" i="0" dirty="0">
                <a:solidFill>
                  <a:srgbClr val="ED7E1F"/>
                </a:solidFill>
                <a:latin typeface="Arial"/>
              </a:rPr>
              <a:t xml:space="preserve">× 4.4</a:t>
            </a:r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  margin per kilo</a:t>
            </a:r>
          </a:p>
          <a:p>
            <a:pPr algn="l">
              <a:lnSpc>
                <a:spcPct val="105000"/>
              </a:lnSpc>
            </a:pPr>
            <a:r>
              <a:rPr lang="en-US" sz="850" b="0" i="0" dirty="0">
                <a:solidFill>
                  <a:srgbClr val="2C5F47"/>
                </a:solidFill>
                <a:latin typeface="Arial"/>
              </a:rPr>
              <a:t xml:space="preserve">restaurants €120/kg vs €27/kg in distribution, after delivery and acquisition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RESTAURANT DELIVERY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HOT ZONES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Eight neighborhoods,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 xml:space="preserve">one microhub, two riders.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 xml:space="preserve">Living, gourmet, locally grown.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100" name="Mapa zonas calientes" descr="Map of central Madrid highlighting the Ríos Rosas, Trafalgar, Almagro, Castellana, Lista, Justicia, Recoletos and Goya neighborhoods, with the 585 open restaurants shown as dot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2212848"/>
            <a:ext cx="5120640" cy="3886200"/>
          </a:xfrm>
          <a:prstGeom prst="rect">
            <a:avLst/>
          </a:prstGeom>
        </p:spPr>
      </p:pic>
      <p:sp>
        <p:nvSpPr>
          <p:cNvPr id="101" name="Marco mapa"/>
          <p:cNvSpPr/>
          <p:nvPr/>
        </p:nvSpPr>
        <p:spPr>
          <a:xfrm>
            <a:off x="777240" y="2212848"/>
            <a:ext cx="5120640" cy="3886200"/>
          </a:xfrm>
          <a:prstGeom prst="rect">
            <a:avLst/>
          </a:prstGeom>
          <a:noFill/>
          <a:ln w="12700">
            <a:solidFill>
              <a:srgbClr val="E3D9D1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102" name="Cabecera barrios"/>
          <p:cNvSpPr txBox="1"/>
          <p:nvPr/>
        </p:nvSpPr>
        <p:spPr>
          <a:xfrm>
            <a:off x="6263640" y="22402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50" b="1" i="0" spc="150" dirty="0">
                <a:solidFill>
                  <a:srgbClr val="8A827B"/>
                </a:solidFill>
                <a:latin typeface="Arial"/>
              </a:rPr>
              <a:t xml:space="preserve">OPEN RESTAURANTS BY NEIGHBORHOOD  ·  CITY CENSUS</a:t>
            </a:r>
          </a:p>
        </p:txBody>
      </p:sp>
      <p:sp>
        <p:nvSpPr>
          <p:cNvPr id="103" name="Barrio Justicia"/>
          <p:cNvSpPr txBox="1"/>
          <p:nvPr/>
        </p:nvSpPr>
        <p:spPr>
          <a:xfrm>
            <a:off x="6263640" y="250545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Justicia</a:t>
            </a:r>
          </a:p>
        </p:txBody>
      </p:sp>
      <p:sp>
        <p:nvSpPr>
          <p:cNvPr id="104" name="Barra Justicia"/>
          <p:cNvSpPr/>
          <p:nvPr/>
        </p:nvSpPr>
        <p:spPr>
          <a:xfrm>
            <a:off x="7452360" y="2542032"/>
            <a:ext cx="3154680" cy="128016"/>
          </a:xfrm>
          <a:prstGeom prst="roundRect">
            <a:avLst>
              <a:gd name="adj" fmla="val 30000"/>
            </a:avLst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05" name="Cifra Justicia"/>
          <p:cNvSpPr txBox="1"/>
          <p:nvPr/>
        </p:nvSpPr>
        <p:spPr>
          <a:xfrm>
            <a:off x="10680192" y="2505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140</a:t>
            </a:r>
          </a:p>
        </p:txBody>
      </p:sp>
      <p:sp>
        <p:nvSpPr>
          <p:cNvPr id="106" name="Barrio Recoletos"/>
          <p:cNvSpPr txBox="1"/>
          <p:nvPr/>
        </p:nvSpPr>
        <p:spPr>
          <a:xfrm>
            <a:off x="6263640" y="27477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Recoletos</a:t>
            </a:r>
          </a:p>
        </p:txBody>
      </p:sp>
      <p:sp>
        <p:nvSpPr>
          <p:cNvPr id="107" name="Barra Recoletos"/>
          <p:cNvSpPr/>
          <p:nvPr/>
        </p:nvSpPr>
        <p:spPr>
          <a:xfrm>
            <a:off x="7452360" y="2784348"/>
            <a:ext cx="2073075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08" name="Cifra Recoletos"/>
          <p:cNvSpPr txBox="1"/>
          <p:nvPr/>
        </p:nvSpPr>
        <p:spPr>
          <a:xfrm>
            <a:off x="9598587" y="27477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92</a:t>
            </a:r>
          </a:p>
        </p:txBody>
      </p:sp>
      <p:sp>
        <p:nvSpPr>
          <p:cNvPr id="109" name="Barrio Castellana"/>
          <p:cNvSpPr txBox="1"/>
          <p:nvPr/>
        </p:nvSpPr>
        <p:spPr>
          <a:xfrm>
            <a:off x="6263640" y="299008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Castellana</a:t>
            </a:r>
          </a:p>
        </p:txBody>
      </p:sp>
      <p:sp>
        <p:nvSpPr>
          <p:cNvPr id="110" name="Barra Castellana"/>
          <p:cNvSpPr/>
          <p:nvPr/>
        </p:nvSpPr>
        <p:spPr>
          <a:xfrm>
            <a:off x="7452360" y="3026664"/>
            <a:ext cx="1554807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1" name="Cifra Castellana"/>
          <p:cNvSpPr txBox="1"/>
          <p:nvPr/>
        </p:nvSpPr>
        <p:spPr>
          <a:xfrm>
            <a:off x="9080319" y="299008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69</a:t>
            </a:r>
          </a:p>
        </p:txBody>
      </p:sp>
      <p:sp>
        <p:nvSpPr>
          <p:cNvPr id="112" name="Barrio Goya"/>
          <p:cNvSpPr txBox="1"/>
          <p:nvPr/>
        </p:nvSpPr>
        <p:spPr>
          <a:xfrm>
            <a:off x="6263640" y="323240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Goya</a:t>
            </a:r>
          </a:p>
        </p:txBody>
      </p:sp>
      <p:sp>
        <p:nvSpPr>
          <p:cNvPr id="113" name="Barra Goya"/>
          <p:cNvSpPr/>
          <p:nvPr/>
        </p:nvSpPr>
        <p:spPr>
          <a:xfrm>
            <a:off x="7452360" y="3268980"/>
            <a:ext cx="1442139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4" name="Cifra Goya"/>
          <p:cNvSpPr txBox="1"/>
          <p:nvPr/>
        </p:nvSpPr>
        <p:spPr>
          <a:xfrm>
            <a:off x="8967651" y="323240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64</a:t>
            </a:r>
          </a:p>
        </p:txBody>
      </p:sp>
      <p:sp>
        <p:nvSpPr>
          <p:cNvPr id="115" name="Barrio Trafalgar"/>
          <p:cNvSpPr txBox="1"/>
          <p:nvPr/>
        </p:nvSpPr>
        <p:spPr>
          <a:xfrm>
            <a:off x="6263640" y="347472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Trafalgar</a:t>
            </a:r>
          </a:p>
        </p:txBody>
      </p:sp>
      <p:sp>
        <p:nvSpPr>
          <p:cNvPr id="116" name="Barra Trafalgar"/>
          <p:cNvSpPr/>
          <p:nvPr/>
        </p:nvSpPr>
        <p:spPr>
          <a:xfrm>
            <a:off x="7452360" y="3511296"/>
            <a:ext cx="1397073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7" name="Cifra Trafalgar"/>
          <p:cNvSpPr txBox="1"/>
          <p:nvPr/>
        </p:nvSpPr>
        <p:spPr>
          <a:xfrm>
            <a:off x="8922585" y="347472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62</a:t>
            </a:r>
          </a:p>
        </p:txBody>
      </p:sp>
      <p:sp>
        <p:nvSpPr>
          <p:cNvPr id="118" name="Barrio Almagro"/>
          <p:cNvSpPr txBox="1"/>
          <p:nvPr/>
        </p:nvSpPr>
        <p:spPr>
          <a:xfrm>
            <a:off x="6263640" y="371703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Almagro</a:t>
            </a:r>
          </a:p>
        </p:txBody>
      </p:sp>
      <p:sp>
        <p:nvSpPr>
          <p:cNvPr id="119" name="Barra Almagro"/>
          <p:cNvSpPr/>
          <p:nvPr/>
        </p:nvSpPr>
        <p:spPr>
          <a:xfrm>
            <a:off x="7452360" y="3753612"/>
            <a:ext cx="1284405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20" name="Cifra Almagro"/>
          <p:cNvSpPr txBox="1"/>
          <p:nvPr/>
        </p:nvSpPr>
        <p:spPr>
          <a:xfrm>
            <a:off x="8809917" y="371703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57</a:t>
            </a:r>
          </a:p>
        </p:txBody>
      </p:sp>
      <p:sp>
        <p:nvSpPr>
          <p:cNvPr id="121" name="Barrio Ríos Rosas"/>
          <p:cNvSpPr txBox="1"/>
          <p:nvPr/>
        </p:nvSpPr>
        <p:spPr>
          <a:xfrm>
            <a:off x="6263640" y="395935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Ríos Rosas</a:t>
            </a:r>
          </a:p>
        </p:txBody>
      </p:sp>
      <p:sp>
        <p:nvSpPr>
          <p:cNvPr id="122" name="Barra Ríos Rosas"/>
          <p:cNvSpPr/>
          <p:nvPr/>
        </p:nvSpPr>
        <p:spPr>
          <a:xfrm>
            <a:off x="7452360" y="3995928"/>
            <a:ext cx="1216805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23" name="Cifra Ríos Rosas"/>
          <p:cNvSpPr txBox="1"/>
          <p:nvPr/>
        </p:nvSpPr>
        <p:spPr>
          <a:xfrm>
            <a:off x="8742317" y="39593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54</a:t>
            </a:r>
          </a:p>
        </p:txBody>
      </p:sp>
      <p:sp>
        <p:nvSpPr>
          <p:cNvPr id="124" name="Barrio Lista"/>
          <p:cNvSpPr txBox="1"/>
          <p:nvPr/>
        </p:nvSpPr>
        <p:spPr>
          <a:xfrm>
            <a:off x="6263640" y="420166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Lista</a:t>
            </a:r>
          </a:p>
        </p:txBody>
      </p:sp>
      <p:sp>
        <p:nvSpPr>
          <p:cNvPr id="125" name="Barra Lista"/>
          <p:cNvSpPr/>
          <p:nvPr/>
        </p:nvSpPr>
        <p:spPr>
          <a:xfrm>
            <a:off x="7452360" y="4238244"/>
            <a:ext cx="1059071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26" name="Cifra Lista"/>
          <p:cNvSpPr txBox="1"/>
          <p:nvPr/>
        </p:nvSpPr>
        <p:spPr>
          <a:xfrm>
            <a:off x="8584583" y="42016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i="0" dirty="0">
                <a:solidFill>
                  <a:srgbClr val="1D4F37"/>
                </a:solidFill>
                <a:latin typeface="Arial"/>
              </a:rPr>
              <a:t xml:space="preserve">47</a:t>
            </a:r>
          </a:p>
        </p:txBody>
      </p:sp>
      <p:sp>
        <p:nvSpPr>
          <p:cNvPr id="127" name="Total zonas"/>
          <p:cNvSpPr txBox="1"/>
          <p:nvPr/>
        </p:nvSpPr>
        <p:spPr>
          <a:xfrm>
            <a:off x="6263640" y="4480560"/>
            <a:ext cx="51480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n-US" sz="1100" b="1" i="0" dirty="0">
                <a:solidFill>
                  <a:srgbClr val="ED7E1F"/>
                </a:solidFill>
                <a:latin typeface="Arial"/>
              </a:rPr>
              <a:t xml:space="preserve">585 restaurants </a:t>
            </a:r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across the 8 zones, plus 714 bar-restaurants we don't count.</a:t>
            </a:r>
          </a:p>
          <a:p>
            <a:pPr algn="l">
              <a:lnSpc>
                <a:spcPct val="105000"/>
              </a:lnSpc>
            </a:pPr>
            <a:r>
              <a:rPr lang="en-US" sz="1050" b="0" i="0" dirty="0">
                <a:solidFill>
                  <a:srgbClr val="3A453F"/>
                </a:solidFill>
                <a:latin typeface="Arial"/>
              </a:rPr>
              <a:t xml:space="preserve">Refrigerated microhub inside the zone · two orders a week to every restaurant.</a:t>
            </a:r>
          </a:p>
        </p:txBody>
      </p:sp>
      <p:sp>
        <p:nvSpPr>
          <p:cNvPr id="128" name="Dato 0"/>
          <p:cNvSpPr/>
          <p:nvPr/>
        </p:nvSpPr>
        <p:spPr>
          <a:xfrm>
            <a:off x="6263640" y="5074920"/>
            <a:ext cx="1600200" cy="749808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i="0" dirty="0">
                <a:solidFill>
                  <a:srgbClr val="FCF1ED"/>
                </a:solidFill>
                <a:latin typeface="Arial"/>
              </a:rPr>
              <a:t xml:space="preserve">123</a:t>
            </a:r>
          </a:p>
          <a:p>
            <a:pPr algn="ctr"/>
            <a:r>
              <a:rPr lang="en-US" sz="700" b="1" i="0" spc="60" dirty="0">
                <a:solidFill>
                  <a:srgbClr val="9BC9AE"/>
                </a:solidFill>
                <a:latin typeface="Arial"/>
              </a:rPr>
              <a:t xml:space="preserve">TARGET RESTAURANTS</a:t>
            </a:r>
          </a:p>
          <a:p>
            <a:pPr algn="ctr"/>
            <a:r>
              <a:rPr lang="en-US" sz="700" b="1" i="0" spc="60" dirty="0">
                <a:solidFill>
                  <a:srgbClr val="9BC9AE"/>
                </a:solidFill>
                <a:latin typeface="Arial"/>
              </a:rPr>
              <a:t xml:space="preserve">1 IN 5 IN THE ZONE</a:t>
            </a:r>
          </a:p>
        </p:txBody>
      </p:sp>
      <p:sp>
        <p:nvSpPr>
          <p:cNvPr id="129" name="Dato 1"/>
          <p:cNvSpPr/>
          <p:nvPr/>
        </p:nvSpPr>
        <p:spPr>
          <a:xfrm>
            <a:off x="8037576" y="5074920"/>
            <a:ext cx="1600200" cy="749808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270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i="0" dirty="0">
                <a:solidFill>
                  <a:srgbClr val="ED7E1F"/>
                </a:solidFill>
                <a:latin typeface="Arial"/>
              </a:rPr>
              <a:t xml:space="preserve">~40</a:t>
            </a:r>
          </a:p>
          <a:p>
            <a:pPr algn="ctr"/>
            <a:r>
              <a:rPr lang="en-US" sz="700" b="1" i="0" spc="60" dirty="0">
                <a:solidFill>
                  <a:srgbClr val="2C5F47"/>
                </a:solidFill>
                <a:latin typeface="Arial"/>
              </a:rPr>
              <a:t xml:space="preserve">DELIVERIES A DAY</a:t>
            </a:r>
          </a:p>
          <a:p>
            <a:pPr algn="ctr"/>
            <a:r>
              <a:rPr lang="en-US" sz="700" b="1" i="0" spc="60" dirty="0">
                <a:solidFill>
                  <a:srgbClr val="2C5F47"/>
                </a:solidFill>
                <a:latin typeface="Arial"/>
              </a:rPr>
              <a:t xml:space="preserve">2 RIDERS · 7 PER HOUR</a:t>
            </a:r>
          </a:p>
        </p:txBody>
      </p:sp>
      <p:sp>
        <p:nvSpPr>
          <p:cNvPr id="130" name="Dato 2"/>
          <p:cNvSpPr/>
          <p:nvPr/>
        </p:nvSpPr>
        <p:spPr>
          <a:xfrm>
            <a:off x="9811512" y="5074920"/>
            <a:ext cx="1600200" cy="749808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270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i="0" dirty="0">
                <a:solidFill>
                  <a:srgbClr val="ED7E1F"/>
                </a:solidFill>
                <a:latin typeface="Arial"/>
              </a:rPr>
              <a:t xml:space="preserve">€4.4</a:t>
            </a:r>
          </a:p>
          <a:p>
            <a:pPr algn="ctr"/>
            <a:r>
              <a:rPr lang="en-US" sz="700" b="1" i="0" spc="60" dirty="0">
                <a:solidFill>
                  <a:srgbClr val="2C5F47"/>
                </a:solidFill>
                <a:latin typeface="Arial"/>
              </a:rPr>
              <a:t xml:space="preserve">LAST MILE PER ORDER</a:t>
            </a:r>
          </a:p>
          <a:p>
            <a:pPr algn="ctr"/>
            <a:r>
              <a:rPr lang="en-US" sz="700" b="1" i="0" spc="60" dirty="0">
                <a:solidFill>
                  <a:srgbClr val="2C5F47"/>
                </a:solidFill>
                <a:latin typeface="Arial"/>
              </a:rPr>
              <a:t xml:space="preserve">15% OF THE TICKET</a:t>
            </a:r>
          </a:p>
        </p:txBody>
      </p:sp>
      <p:sp>
        <p:nvSpPr>
          <p:cNvPr id="131" name="Fuente mapa"/>
          <p:cNvSpPr txBox="1"/>
          <p:nvPr/>
        </p:nvSpPr>
        <p:spPr>
          <a:xfrm>
            <a:off x="6263640" y="589788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n-US" sz="700" b="0" i="1" dirty="0">
                <a:solidFill>
                  <a:srgbClr val="8A827B"/>
                </a:solidFill>
                <a:latin typeface="Arial"/>
              </a:rPr>
              <a:t xml:space="preserve">Source: Madrid City Council premises and activities census (datos.madrid.es), open premises under code 561001 Restaurant, Oct. 2026. Target and delivery: financial model V17, base case, year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1931</Words>
  <Application>Microsoft Office PowerPoint</Application>
  <PresentationFormat>Panorámica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Domecq Vergara</cp:lastModifiedBy>
  <cp:revision>8</cp:revision>
  <dcterms:created xsi:type="dcterms:W3CDTF">2013-01-27T09:14:16Z</dcterms:created>
  <dcterms:modified xsi:type="dcterms:W3CDTF">2026-06-10T15:19:06Z</dcterms:modified>
  <cp:category/>
</cp:coreProperties>
</file>