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73" r:id="rId2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24"/>
    <p:sldId id="267" r:id="rId14"/>
    <p:sldId id="271" r:id="rId21"/>
    <p:sldId id="272" r:id="rId22"/>
    <p:sldId id="275" r:id="rId25"/>
    <p:sldId id="276" r:id="rId26"/>
    <p:sldId id="277" r:id="rId27"/>
    <p:sldId id="278" r:id="rId28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6.xml"/><Relationship Id="rId22" Type="http://schemas.openxmlformats.org/officeDocument/2006/relationships/slide" Target="slides/slide17.xml"/>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1DD953D5-D3C3-C25A-3B9E-6A455336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497324" y="1063809"/>
            <a:ext cx="1167327" cy="11673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>
                <a:solidFill>
                  <a:srgbClr val="2C5F47"/>
                </a:solidFill>
                <a:latin typeface="Arial"/>
              </a:rPr>
              <a:t>DOSSIER DE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289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1D4F37"/>
                </a:solidFill>
                <a:latin typeface="Arial"/>
              </a:rPr>
              <a:t>Microbrotes vivos,</a:t>
            </a:r>
          </a:p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ED7E1F"/>
                </a:solidFill>
                <a:latin typeface="Arial"/>
              </a:rPr>
              <a:t>cultivados en Madrid.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3A453F"/>
                </a:solidFill>
                <a:latin typeface="Arial"/>
              </a:rPr>
              <a:t>Hidroponía de precisión · Cosecha viva bajo pedido · KM 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98348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25780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 spc="260" dirty="0">
                <a:solidFill>
                  <a:srgbClr val="2C5F47"/>
                </a:solidFill>
                <a:latin typeface="Arial"/>
              </a:rPr>
              <a:t xml:space="preserve">SEPTIEMBRE 2026</a:t>
            </a:r>
            <a:endParaRPr sz="1250" b="1" i="0" spc="260" dirty="0">
              <a:solidFill>
                <a:srgbClr val="2C5F47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SOBRE NOSOTROS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QUIÉNES SOMOS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>Cultivamos como artesanos.</a:t>
            </a:r>
          </a:p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ED7E1F"/>
                </a:solidFill>
                <a:latin typeface="Arial"/>
              </a:rPr>
              <a:t>Operamos como una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>Rootflow Hydroponics nace en Madrid en 2026 con una idea simple: que la cocina profesional reciba el microbrote vivo, en su mejor momento, horas después del corte.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>Cultivamos con hidroponía LED de precisión y cosechamos solo bajo pedido, para distribución, mayoristas y restauración. Sin stock, sin merma y siempre a medida.</a:t>
            </a:r>
          </a:p>
        </p:txBody>
      </p:sp>
      <p:pic>
        <p:nvPicPr>
          <p:cNvPr id="9" name="Picture 8" descr="pin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32918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KM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PRODUCIDO EN MADRID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5858" y="5106670"/>
            <a:ext cx="222427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+ 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858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VARIEDADES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5106670"/>
            <a:ext cx="186080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24</a:t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>–</a:t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>48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DE COSECHA A ENTREGA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3094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094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ADAPTADO AL CLIENTE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A6D5305-8B58-EC77-D0C8-14643B712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3FF5B4-33D5-04E7-678F-B434EAE1C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26" y="1428326"/>
            <a:ext cx="4435405" cy="332655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CONTEXTO DE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EL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54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ES" sz="3000" b="1" i="0" dirty="0">
                <a:solidFill>
                  <a:srgbClr val="1D4F37"/>
                </a:solidFill>
                <a:latin typeface="Arial"/>
              </a:rPr>
              <a:t xml:space="preserve">Categoría joven, </a:t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ED7E1F"/>
                </a:solidFill>
                <a:latin typeface="Arial"/>
              </a:rPr>
              <a:t xml:space="preserve">crecimiento a doble dígito*.</a:t>
            </a:r>
            <a:r>
              <a:rPr sz="300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30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989320" cy="490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El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microbrote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ya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no es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una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rareza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alta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cocina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: es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una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categoría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global de ~3.000 M$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que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duplicará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su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tamaño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esta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década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 y Europa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lidera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mercado.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14878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>—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2622"/>
            <a:ext cx="5989320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El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microbrote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concentra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hasta 40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veces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más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nutrientes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que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la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hortaliza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adulta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8110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>— PROXIMIDAD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4165854"/>
            <a:ext cx="6107137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 err="1">
                <a:solidFill>
                  <a:srgbClr val="3A453F"/>
                </a:solidFill>
                <a:latin typeface="Arial"/>
              </a:rPr>
              <a:t>Consumidor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restauración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premian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producto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local, fresco y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sostenible</a:t>
            </a:r>
            <a:r>
              <a:rPr lang="es-ES" sz="1150" dirty="0">
                <a:solidFill>
                  <a:srgbClr val="3A453F"/>
                </a:solidFill>
                <a:latin typeface="Arial"/>
              </a:rPr>
              <a:t>,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corazón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del KM0.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41342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>— TECNOLOGÍA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79086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53F"/>
                </a:solidFill>
                <a:latin typeface="Arial"/>
              </a:rPr>
              <a:t>El cultivo vertical indoor es el formato que más crece dentro de la categoría (12,5% anual).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8896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~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>3.000 M$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MERCADO GLOBAL</a:t>
            </a:r>
            <a:endParaRPr lang="es-ES" sz="850" b="1" i="0" spc="100" dirty="0">
              <a:solidFill>
                <a:srgbClr val="9BC9AE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×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>2</a:t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>TAMAÑO PREVISTO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 2031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+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>11%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CRECIMIENTO ANUAL (CAGR)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~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>36%</a:t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>CUOTA EUROPA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0634472" cy="566928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 dirty="0" err="1">
                <a:solidFill>
                  <a:srgbClr val="FCF1ED"/>
                </a:solidFill>
                <a:latin typeface="Arial"/>
              </a:rPr>
              <a:t>Rootflow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opera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en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el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cruce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exacto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de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estas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tendencias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:  </a:t>
            </a:r>
            <a:r>
              <a:rPr lang="es-ES" sz="1250" dirty="0">
                <a:solidFill>
                  <a:srgbClr val="D8ECDF"/>
                </a:solidFill>
                <a:latin typeface="Arial"/>
              </a:rPr>
              <a:t>M</a:t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>icrobrote</a:t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> premium, </a:t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>cultivo</a:t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> vertical y KM 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9905"/>
            <a:ext cx="106070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850" b="0" i="1" dirty="0">
                <a:solidFill>
                  <a:srgbClr val="8A827B"/>
                </a:solidFill>
                <a:latin typeface="Arial"/>
              </a:rPr>
              <a:t xml:space="preserve">* </a:t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>Fuentes: Mordor Intelligence, Microgreens Market Report (</a:t>
            </a:r>
            <a:r>
              <a:rPr sz="850" b="0" i="1" dirty="0" err="1">
                <a:solidFill>
                  <a:srgbClr val="8A827B"/>
                </a:solidFill>
                <a:latin typeface="Arial"/>
              </a:rPr>
              <a:t>ene</a:t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>. 2026) · Grand View Research, Microgreens Market Analysis (2023).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32764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400800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20F61E5-EB05-75A2-2AA1-934A10B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 9" descr="Foto montaje de la cara de un hombre serio  El contenido generado por IA puede ser incorrecto.">
            <a:extLst>
              <a:ext uri="{FF2B5EF4-FFF2-40B4-BE49-F238E27FC236}">
                <a16:creationId xmlns:a16="http://schemas.microsoft.com/office/drawing/2014/main" id="{F74BCA9C-1A37-9992-3A15-5C823990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2511923"/>
            <a:ext cx="1144800" cy="1144800"/>
          </a:xfrm>
          <a:prstGeom prst="flowChartConnector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5A27087-FE0E-1E79-77A6-D1B791916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140" y="25146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FEA949A-ECCE-A2EF-2F98-406661649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888" y="25128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EL EQUIPO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 dirty="0">
                <a:solidFill>
                  <a:srgbClr val="ED7E1F"/>
                </a:solidFill>
                <a:latin typeface="Arial"/>
              </a:rPr>
              <a:t xml:space="preserve">QUIÉNES </a:t>
            </a:r>
            <a:r>
              <a:rPr lang="es-ES" sz="1150" b="1" i="0" spc="260" dirty="0">
                <a:solidFill>
                  <a:srgbClr val="ED7E1F"/>
                </a:solidFill>
                <a:latin typeface="Arial"/>
              </a:rPr>
              <a:t>SOMOS</a:t>
            </a:r>
            <a:endParaRPr sz="115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 dirty="0">
                <a:solidFill>
                  <a:srgbClr val="1D4F37"/>
                </a:solidFill>
                <a:latin typeface="Arial"/>
              </a:rPr>
              <a:t xml:space="preserve">Tres </a:t>
            </a:r>
            <a:r>
              <a:rPr sz="3100" b="1" i="0" dirty="0" err="1">
                <a:solidFill>
                  <a:srgbClr val="1D4F37"/>
                </a:solidFill>
                <a:latin typeface="Arial"/>
              </a:rPr>
              <a:t>socios</a:t>
            </a:r>
            <a:r>
              <a:rPr sz="3100" b="1" i="0" dirty="0">
                <a:solidFill>
                  <a:srgbClr val="1D4F37"/>
                </a:solidFill>
                <a:latin typeface="Arial"/>
              </a:rPr>
              <a:t xml:space="preserve">,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>tres</a:t>
            </a:r>
            <a:r>
              <a:rPr sz="3300" b="1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>frentes</a:t>
            </a:r>
            <a:r>
              <a:rPr sz="3300" b="1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>cubiertos</a:t>
            </a:r>
            <a:r>
              <a:rPr sz="3300" b="1" dirty="0">
                <a:solidFill>
                  <a:srgbClr val="ED7E1F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Vergara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960" y="4416552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>ADMINISTRACIÓN &amp; FINANZAS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543" y="4737468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ADE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(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ICADE) </a:t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>T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rayectoria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consultoría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estratégica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Fusiones &amp; Adquisiciones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.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Gestión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finan</a:t>
            </a:r>
            <a:r>
              <a:rPr lang="es-ES" sz="1250" b="0" i="0" dirty="0" err="1">
                <a:solidFill>
                  <a:srgbClr val="3A453F"/>
                </a:solidFill>
                <a:latin typeface="Arial"/>
              </a:rPr>
              <a:t>ciera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administración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estructura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societaria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Nicolás Bustamante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Thams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4421124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>COMERCIAL &amp; HOSTELERÍA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323" y="4732020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>ADE (Richmond University)</a:t>
            </a: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>Trayectoria en d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esarrollo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negocio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HORECA.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Gestión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relaci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ones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con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restaurantes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,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distribuidores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la apertura de mercado.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Domingo de G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uzmán</a:t>
            </a:r>
            <a:r>
              <a:rPr lang="es-ES" sz="1650" b="1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Greus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5912" y="4416552"/>
            <a:ext cx="331012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>PRODUCCIÓN &amp; AGR</a:t>
            </a:r>
            <a:r>
              <a:rPr lang="es-ES" sz="1000" b="1" i="0" spc="260" dirty="0">
                <a:solidFill>
                  <a:srgbClr val="ED7E1F"/>
                </a:solidFill>
                <a:latin typeface="Arial"/>
              </a:rPr>
              <a:t>ÍCOLA</a:t>
            </a:r>
            <a:endParaRPr sz="100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65592" y="4727448"/>
            <a:ext cx="2794508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Ingeniero Agrónomo 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(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UPM)</a:t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Formación en automatización con IA y Arduino de invernaderos.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Gestión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de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cultivo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, I+D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variedades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la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operativa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producción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B4DD586-3912-993E-7C9A-731269625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BB50B5D-2AF7-22D9-FDB0-733514B44D66}"/>
              </a:ext>
            </a:extLst>
          </p:cNvPr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PRODUCTO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QUÉ HACEMOS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0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 err="1">
                <a:solidFill>
                  <a:srgbClr val="1D4F37"/>
                </a:solidFill>
                <a:latin typeface="Arial"/>
              </a:rPr>
              <a:t>Pocos</a:t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sz="3300" b="1" i="0" dirty="0" err="1">
                <a:solidFill>
                  <a:srgbClr val="1D4F37"/>
                </a:solidFill>
                <a:latin typeface="Arial"/>
              </a:rPr>
              <a:t>gramos</a:t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>.</a:t>
            </a:r>
          </a:p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Mucho </a:t>
            </a:r>
            <a:r>
              <a:rPr lang="es-ES" sz="3300" b="1" i="0" dirty="0">
                <a:solidFill>
                  <a:srgbClr val="ED7E1F"/>
                </a:solidFill>
                <a:latin typeface="Arial"/>
              </a:rPr>
              <a:t>valor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5943600" cy="109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 dirty="0" err="1">
                <a:solidFill>
                  <a:srgbClr val="3A453F"/>
                </a:solidFill>
                <a:latin typeface="Arial"/>
              </a:rPr>
              <a:t>Microbrotes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y flores comestibles de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máxima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frescura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cosechados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su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punto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exacto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sabor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, aroma y color.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Producto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de bajo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gramaje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altísimo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valor: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unos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pocos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gramos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cambian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un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plato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 y la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percepción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toda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una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carta.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14 + 5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variedades en producción, y cinco más en desarrollo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5–100 g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cualquier gramaje: bandeja viva, granel o monodosis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6–10 días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de vida útil según variedad, gracias al corte en vivo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E32DF22-DD28-A80B-9EDA-45C8D3FD1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C503205-90E0-92C0-9335-E5DC33F326E7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3EF81A-FD04-F374-2C11-B17AEF073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70" r="16076"/>
          <a:stretch>
            <a:fillRect/>
          </a:stretch>
        </p:blipFill>
        <p:spPr>
          <a:xfrm>
            <a:off x="7258882" y="1450965"/>
            <a:ext cx="4125398" cy="4330113"/>
          </a:xfrm>
          <a:prstGeom prst="snip2Diag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PROPUESTA DE VALOR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POR QUÉ ROOTFLOW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Producto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gourmet</a:t>
            </a:r>
            <a:r>
              <a:rPr sz="3100" b="1" i="0">
                <a:solidFill>
                  <a:srgbClr val="1D4F37"/>
                </a:solidFill>
                <a:latin typeface="Arial"/>
              </a:rPr>
              <a:t xml:space="preserve"> de cercanía,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>sin atajos.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ORIGEN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KM 0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Cultivado y entregado en Madrid. Una frescura que el producto importado o de larga distribución no puede igualar.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Estructura ágil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Decisiones rápidas y producción a medida: la agilidad propia de un equipo pequeño y especializado.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CERCANÍA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Origen directo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Trato directo con quien cultiva: respuesta inmediata, transparencia y control real del origen.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IV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COSECHA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Cosecha viva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El producto llega vivo y sigue creciendo. Aroma, color y textura intactos hasta el emplatado.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LA GAMA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VARIEDADES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14 variedades.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Y las que pida el mercado.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Cilantro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Coriandrum sativum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Hinojo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Foeniculum vulgare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Rábano Rojo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Guisante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Pisum sativum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05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Remolacha Amarilla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06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Albahaca Genovesa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07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Cebollino Chino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tuberosum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08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Rábano Daikon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09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Albahaca Morada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10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Remolacha Roja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Cebolla Barbra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cepa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Mostaza Red Giant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Brassica juncea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Rábano Pink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Amaranto Rojo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Amaranthus tricolor</a:t>
            </a:r>
          </a:p>
        </p:txBody>
      </p:sp>
      <p:pic>
        <p:nvPicPr>
          <p:cNvPr id="22" name="Picture 21" descr="cebollino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cebolla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777240" y="5842762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>+5 en desarrollo para una micromezcla co-desarrollada</a:t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>  ·  la gama crece con cada cliente.</a:t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FC4B6E3-EAB7-5CB8-AAB6-D72626857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32" name="Picture 12" descr="rabano_r.png">
            <a:extLst>
              <a:ext uri="{FF2B5EF4-FFF2-40B4-BE49-F238E27FC236}">
                <a16:creationId xmlns:a16="http://schemas.microsoft.com/office/drawing/2014/main" id="{00DCAB08-AA3D-4AEB-F3B1-78D4CDE27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280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4" descr="albahaca_r.png">
            <a:extLst>
              <a:ext uri="{FF2B5EF4-FFF2-40B4-BE49-F238E27FC236}">
                <a16:creationId xmlns:a16="http://schemas.microsoft.com/office/drawing/2014/main" id="{905E74BB-8564-B262-EACA-50B8A8DDD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4945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EA82E80-4966-428A-FFC5-61419ADC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83" y="2652119"/>
            <a:ext cx="668556" cy="66855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5F21B29-1320-3B90-524B-9809EE83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40" y="2690119"/>
            <a:ext cx="580633" cy="580633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MODELO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CÓMO LO HACEMOS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Cosecha viva,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>cero 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 xml:space="preserve">Bajo </a:t>
            </a:r>
            <a:r>
              <a:rPr sz="1650" b="1" i="0" dirty="0" err="1">
                <a:solidFill>
                  <a:srgbClr val="1D4F37"/>
                </a:solidFill>
                <a:latin typeface="Arial"/>
              </a:rPr>
              <a:t>pedido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Cortamos cuando nos lo pides. Producimos exactamente lo que se va a consumir: cero stock, cero merma, máxima frescura.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>Hidroponía 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Cultivo sin tierra y sin pesticidas, en condiciones controladas. Misma calidad y mismo calibre, las 52 semanas del año.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>Flexibilidad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De 5 a 100 g; bandeja viva, granel o monodosis. Formato, punto de corte y mezclas a medida de cada cliente.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>Marca blanca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Tu etiqueta sobre nuestro producto. El distribuidor pone la marca; nosotros, la calidad y la constancia.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F1B8F9-55AE-1CA8-4293-2FC19B11D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756" y="2717182"/>
            <a:ext cx="630930" cy="63093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5B263A2-FD9F-C8A3-2E21-CFE6C99A5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716" y="2671462"/>
            <a:ext cx="630930" cy="630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PROCESO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CÓMO PRODUCIMOS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Del pedido a la mesa,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en seis pasos.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01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El cliente define variedad, formato y fecha. Producimos contra demanda real, no contra previsión.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02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Siembra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Bandeja a bandeja, sobre sustrato limpio y con densidad calibrada por variedad.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03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Oscuridad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Germinación en blackout (3–7 días) para lograr un brote uniforme y vigoroso.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04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Luz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Crecimiento bajo LED, con riego y clima controlados (2–13 días según variedad).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05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Cosecha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Corte en vivo en el punto justo — o entrega en bandeja viva, sin cortar.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06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449318"/>
            <a:ext cx="3346704" cy="40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 dirty="0">
                <a:solidFill>
                  <a:srgbClr val="3A453F"/>
                </a:solidFill>
                <a:latin typeface="Arial"/>
              </a:rPr>
              <a:t>En 24</a:t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>–</a:t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48 h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Madrid,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etiquetado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a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medida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y con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trazabilidad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por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lote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sp>
        <p:nvSpPr>
          <p:cNvPr id="20" name="Chevron 19"/>
          <p:cNvSpPr/>
          <p:nvPr/>
        </p:nvSpPr>
        <p:spPr>
          <a:xfrm>
            <a:off x="3886200" y="2940558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7653528" y="299542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3886200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644384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Todo el ciclo queda registrado en nuestro ERP: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cada bandeja es trazable de la semilla a la entrega.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OPERACIÓN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PRODUCCIÓN Y CAPACIDAD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Sabemos cuánto producimos,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al gramo.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>Cada variedad tiene su ciclo —germinación en oscuridad y crecimiento en luz— y un rendimiento por bandeja que medimos y registramos. Esa disciplina nos permite comprometer volúmenes y fechas con total fiabilidad.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VARIEDAD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015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CICLO (OSCURIDAD + LUZ)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4015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ROTACIÓN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40156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RENDIMIENTO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730752"/>
            <a:ext cx="10607040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>Rábano · ciclo corto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587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3 + 2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587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15 ciclos/mes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245 g / bandeja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2611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3159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>Cilantro · ciclo medio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3988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>6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+ 9 días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398820"/>
            <a:ext cx="23774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3 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ciclos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>/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mes</a:t>
            </a:r>
            <a:endParaRPr sz="1300" b="0" i="0" dirty="0">
              <a:solidFill>
                <a:srgbClr val="3A453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98280" y="439882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>145 g / bandeja</a:t>
            </a:r>
            <a:r>
              <a:rPr lang="es-ES"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endParaRPr sz="1300" b="1" i="0" dirty="0">
              <a:solidFill>
                <a:srgbClr val="ED7E1F"/>
              </a:solidFill>
              <a:latin typeface="Arial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7183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>Albahaca · ciclo largo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560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>6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+ 1</a:t>
            </a:r>
            <a:r>
              <a:rPr lang="es-ES" sz="1300" b="0" i="0" dirty="0">
                <a:solidFill>
                  <a:srgbClr val="3A453F"/>
                </a:solidFill>
                <a:latin typeface="Arial"/>
              </a:rPr>
              <a:t>2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7731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2,3 ciclos/mes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773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90 g / bandeja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>Estimación sobre 96 bandejas en luz simultánea (3 torres, 14,4 m² de cultivo) · mix comercial: 40% ciclo corto, 40% medio, 20% largo.</a:t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>Capacidad</a:t>
            </a:r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 actual: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>~160 kg/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mes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con mix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comercial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de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variedades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 · 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pico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de ~350 kg/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mes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en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monocultivo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de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ciclo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corto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TECNOLOGÍA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SISTEMA PROPIO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Un ERP a medida, 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>construido desde cero.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35224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No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adaptamos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un software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genérico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: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hemos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construido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nuestro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propio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ERP.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Pedidos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producción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trazabilidad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facturación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viven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un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único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sistema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diseñado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para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cómo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trabajamos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. Y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siguiente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paso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ya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está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dibujado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: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cuando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la nave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incorpore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sensórica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clima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riego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esos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datos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se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volcarán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directamente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al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sistema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pic>
        <p:nvPicPr>
          <p:cNvPr id="9" name="Picture 8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44568"/>
            <a:ext cx="170993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5262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Pedidos, clientes y facturación en un único flujo</a:t>
            </a:r>
          </a:p>
        </p:txBody>
      </p:sp>
      <p:pic>
        <p:nvPicPr>
          <p:cNvPr id="11" name="Picture 10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56048"/>
            <a:ext cx="170993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4937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Planificación de producción y trazabilidad por lote</a:t>
            </a:r>
          </a:p>
        </p:txBody>
      </p:sp>
      <p:pic>
        <p:nvPicPr>
          <p:cNvPr id="13" name="Picture 12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67528"/>
            <a:ext cx="170993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53492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Stock estimado y rendimiento real por variedad</a:t>
            </a:r>
          </a:p>
        </p:txBody>
      </p:sp>
      <p:pic>
        <p:nvPicPr>
          <p:cNvPr id="15" name="Picture 14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79008"/>
            <a:ext cx="170993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5760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3A453F"/>
                </a:solidFill>
                <a:latin typeface="Arial"/>
              </a:rPr>
              <a:t>Preparado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para 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conectar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la 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sensórica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de la nave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463040"/>
            <a:ext cx="4233672" cy="457200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7830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9BC9AE"/>
                </a:solidFill>
                <a:latin typeface="Arial"/>
              </a:rPr>
              <a:t>ROOTFLOW ERP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>Pedidos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DE LA 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>Producción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POR BANDEJA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>Trazabilidad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POR LOTE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>
                <a:solidFill>
                  <a:srgbClr val="FCF1ED"/>
                </a:solidFill>
                <a:latin typeface="Arial"/>
              </a:rPr>
              <a:t>Stock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ESTIMADO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0940" y="4559014"/>
            <a:ext cx="3611880" cy="876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React ·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Supabase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·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datos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en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tiempo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real.
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Hoy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gestiona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el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negocio</a:t>
            </a:r>
            <a:r>
              <a:rPr lang="es-ES" sz="1150" b="0" dirty="0">
                <a:solidFill>
                  <a:srgbClr val="D8ECDF"/>
                </a:solidFill>
                <a:latin typeface="Arial"/>
              </a:rPr>
              <a:t>,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mañana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, también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el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cultivo</a:t>
            </a:r>
            <a:endParaRPr lang="es-ES" sz="1150" b="0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lang="es-ES" sz="1600" b="1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sz="1150" b="0" dirty="0">
              <a:solidFill>
                <a:srgbClr val="D8ECDF"/>
              </a:solidFill>
              <a:latin typeface="Arial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279EC401-9780-85FC-70A4-938CFF74D018}"/>
              </a:ext>
            </a:extLst>
          </p:cNvPr>
          <p:cNvSpPr/>
          <p:nvPr/>
        </p:nvSpPr>
        <p:spPr>
          <a:xfrm>
            <a:off x="8449056" y="5128534"/>
            <a:ext cx="1691640" cy="69723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lang="es-ES" sz="1400" b="1" i="0" dirty="0">
                <a:solidFill>
                  <a:srgbClr val="FCF1ED"/>
                </a:solidFill>
                <a:latin typeface="Arial"/>
              </a:rPr>
              <a:t>+ 25.000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lang="es-ES" sz="850" b="1" i="0" spc="100" dirty="0">
                <a:solidFill>
                  <a:srgbClr val="9BC9AE"/>
                </a:solidFill>
                <a:latin typeface="Arial"/>
              </a:rPr>
              <a:t>LÍNEAS DE CÓDIGO</a:t>
            </a:r>
            <a:endParaRPr sz="850" b="1" i="0" spc="100" dirty="0">
              <a:solidFill>
                <a:srgbClr val="9BC9AE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BF9D78D-06CE-2CC6-4202-422299333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TRACCIÓN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DÓNDE ESTAMOS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Pequeños, pero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ya facturando.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Operamos desde un local de 58 m² en Madrid con tres torres de cultivo en producción continua. Una base compacta y eficiente que ya genera ingresos recurrentes.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0309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>58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>LOCAL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1417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 xml:space="preserve"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TORRES EN CONTINUO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88620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ED7E1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>CLIENTES FACTURANDO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2C5F47"/>
                </a:solidFill>
                <a:latin typeface="Arial"/>
              </a:rPr>
              <a:t>CLIENTES ACTIVOS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9824"/>
            <a:ext cx="5120640" cy="20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Dos distribuidores con pedido semanal recurrente, uno de ellos con acuerdo de consignación en marcha en Mercamadrid.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5102352" cy="324612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9BC9AE"/>
                </a:solidFill>
                <a:latin typeface="Arial"/>
              </a:rPr>
              <a:t>YA CO-DESARROLLAMOS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37560"/>
            <a:ext cx="4480560" cy="285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 dirty="0" err="1">
                <a:solidFill>
                  <a:srgbClr val="FCF1ED"/>
                </a:solidFill>
                <a:latin typeface="Arial"/>
              </a:rPr>
              <a:t xml:space="preserve">Micromezcla exclusiva</a:t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1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Una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mezcla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exclusiva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para uno de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nuestros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distribuidores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,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que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incorpora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5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variedades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nuevas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a la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gama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>.</a:t>
            </a:r>
          </a:p>
          <a:p>
            <a:pPr>
              <a:lnSpc>
                <a:spcPct val="124000"/>
              </a:lnSpc>
            </a:pPr>
            <a:r>
              <a:rPr sz="1300" b="0" i="1" dirty="0">
                <a:solidFill>
                  <a:srgbClr val="E6F2EA"/>
                </a:solidFill>
                <a:latin typeface="Arial"/>
              </a:rPr>
              <a:t>El co-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desarrollo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no es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una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promesa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: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ya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lo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estamos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haciendo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FB94539-0AE8-C137-72FC-3DC0DB29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HOJA DE RUTA · HITO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HACIA DÓNDE 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El salto: de 58 m² a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una nave de 350 m².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En 3–6 meses trasladamos la producción a una nave de 350 m² en el sur de Madrid. Tres racks de gran formato suman 2.880 posiciones de luz y llevan la superficie de cultivo de 14,4 m² a 432 m².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La capacidad de cultivo se multiplica por 30. En régimen, el plan prevé ~2.900 kg al mes con el mix comercial previsto: volumen suficiente para servir distribución a escala manteniendo el modelo de cosecha viva bajo pedido.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Crecimiento financiado con la ronda y una línea de circulante; nave en alquiler para no inmovilizar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>350 m²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>NAVE · SUR DE MADRID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432 m²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>SUPERFICIE DE CULTIVO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× 30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CAPACIDAD VS.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~2.900 kg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AL MES · EN RÉGIMEN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Concebida para automatizarse por fases: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sensórica y control de clima y riego, con datos en tiempo real integrados en nuestro ERP.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Crecimiento ordenado, financiado con cabeza.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 dirty="0">
                <a:solidFill>
                  <a:srgbClr val="2C5F47"/>
                </a:solidFill>
                <a:latin typeface="Arial"/>
              </a:rPr>
              <a:t>CONOZCÁMONOS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28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 dirty="0" err="1">
                <a:solidFill>
                  <a:srgbClr val="1D4F37"/>
                </a:solidFill>
                <a:latin typeface="Arial"/>
              </a:rPr>
              <a:t>Hablemos</a:t>
            </a:r>
            <a:r>
              <a:rPr sz="4800" b="1" i="0" dirty="0">
                <a:solidFill>
                  <a:srgbClr val="1D4F37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49039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>
                <a:solidFill>
                  <a:srgbClr val="3A453F"/>
                </a:solidFill>
                <a:latin typeface="Arial"/>
              </a:rPr>
              <a:t>Nos encantaría enseñaros el cultivo en Madrid y explorar juntos cómo sumaros a este proyecto.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89204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166360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sz="1400" b="1" i="0" dirty="0">
                <a:solidFill>
                  <a:srgbClr val="1D4F37"/>
                </a:solidFill>
                <a:latin typeface="Arial"/>
              </a:rPr>
              <a:t xml:space="preserve">·  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>ROOTFLOW HYDROPONICS SL</a:t>
            </a:r>
            <a:endParaRPr sz="140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57784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3A453F"/>
                </a:solidFill>
                <a:latin typeface="Arial"/>
              </a:rPr>
              <a:t>+34 6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38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16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1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9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9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0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     </a:t>
            </a:r>
            <a:r>
              <a:rPr lang="es-ES" sz="1250" b="1" i="0" dirty="0" err="1">
                <a:solidFill>
                  <a:srgbClr val="ED7E1F"/>
                </a:solidFill>
                <a:latin typeface="Arial"/>
              </a:rPr>
              <a:t>p.domecq</a:t>
            </a:r>
            <a:r>
              <a:rPr sz="1250" b="1" i="0" dirty="0">
                <a:solidFill>
                  <a:srgbClr val="ED7E1F"/>
                </a:solidFill>
                <a:latin typeface="Arial"/>
              </a:rPr>
              <a:t xml:space="preserve">@rootflow.es      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rootflow.es</a:t>
            </a:r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A393336C-FE95-1659-B7E2-FA651E8A9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2184" y="1077998"/>
            <a:ext cx="1167327" cy="11673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LA RONDA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QUÉ BUSCAMOS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Buscamos 100.000 €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para dar el salto.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Colchón de seguridad: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caja mínima de 30.000 €, DSCR de 11,4× (años 2-7) y circulante con póliza de crédito, no con la ronda.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Crecimiento ordenado, financiado con cabeza.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601" name="X601"/>
          <p:cNvSpPr txBox="1"/>
          <p:nvPr/>
        </p:nvSpPr>
        <p:spPr>
          <a:xfrm>
            <a:off x="777240" y="2340864"/>
            <a:ext cx="45720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CAPITAL STACK</a:t>
            </a:r>
          </a:p>
        </p:txBody>
      </p:sp>
      <p:sp>
        <p:nvSpPr>
          <p:cNvPr id="602" name="X602"/>
          <p:cNvSpPr/>
          <p:nvPr/>
        </p:nvSpPr>
        <p:spPr>
          <a:xfrm>
            <a:off x="777240" y="2542032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X603"/>
          <p:cNvSpPr txBox="1"/>
          <p:nvPr/>
        </p:nvSpPr>
        <p:spPr>
          <a:xfrm>
            <a:off x="960120" y="254203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1" i="0" spc="60">
                <a:solidFill>
                  <a:srgbClr val="D8ECDF"/>
                </a:solidFill>
                <a:latin typeface="Arial"/>
              </a:rPr>
              <a:t>INVERSOR PRIVADO · capital, 10 %</a:t>
            </a:r>
          </a:p>
        </p:txBody>
      </p:sp>
      <p:sp>
        <p:nvSpPr>
          <p:cNvPr id="604" name="X604"/>
          <p:cNvSpPr txBox="1"/>
          <p:nvPr/>
        </p:nvSpPr>
        <p:spPr>
          <a:xfrm>
            <a:off x="3840480" y="254203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s-ES" sz="1400" b="1" i="0">
                <a:solidFill>
                  <a:srgbClr val="FCF1ED"/>
                </a:solidFill>
                <a:latin typeface="Arial"/>
              </a:rPr>
              <a:t>100.000 €</a:t>
            </a:r>
          </a:p>
        </p:txBody>
      </p:sp>
      <p:sp>
        <p:nvSpPr>
          <p:cNvPr id="605" name="X605"/>
          <p:cNvSpPr/>
          <p:nvPr/>
        </p:nvSpPr>
        <p:spPr>
          <a:xfrm>
            <a:off x="777240" y="3035808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 w="12700">
            <a:solidFill>
              <a:srgbClr val="1D4F37"/>
            </a:solidFill>
          </a:ln>
        </p:spPr>
        <p:txBody>
          <a:bodyPr/>
          <a:lstStyle/>
          <a:p/>
        </p:txBody>
      </p:sp>
      <p:sp>
        <p:nvSpPr>
          <p:cNvPr id="606" name="X606"/>
          <p:cNvSpPr txBox="1"/>
          <p:nvPr/>
        </p:nvSpPr>
        <p:spPr>
          <a:xfrm>
            <a:off x="960120" y="3035808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1" i="0" spc="60">
                <a:solidFill>
                  <a:srgbClr val="1D4F37"/>
                </a:solidFill>
                <a:latin typeface="Arial"/>
              </a:rPr>
              <a:t>ENISA AGROINNPULSO · préstamo en tramitación</a:t>
            </a:r>
          </a:p>
        </p:txBody>
      </p:sp>
      <p:sp>
        <p:nvSpPr>
          <p:cNvPr id="607" name="X607"/>
          <p:cNvSpPr txBox="1"/>
          <p:nvPr/>
        </p:nvSpPr>
        <p:spPr>
          <a:xfrm>
            <a:off x="3840480" y="3035808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s-ES" sz="1400" b="1" i="0">
                <a:solidFill>
                  <a:srgbClr val="1D4F37"/>
                </a:solidFill>
                <a:latin typeface="Arial"/>
              </a:rPr>
              <a:t>100.000 €</a:t>
            </a:r>
          </a:p>
        </p:txBody>
      </p:sp>
      <p:sp>
        <p:nvSpPr>
          <p:cNvPr id="608" name="X608"/>
          <p:cNvSpPr txBox="1"/>
          <p:nvPr/>
        </p:nvSpPr>
        <p:spPr>
          <a:xfrm>
            <a:off x="777240" y="35478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1" i="0" spc="100">
                <a:solidFill>
                  <a:srgbClr val="8A827B"/>
                </a:solidFill>
                <a:latin typeface="Arial"/>
              </a:rPr>
              <a:t>TOTAL LEVANTADO</a:t>
            </a:r>
          </a:p>
        </p:txBody>
      </p:sp>
      <p:sp>
        <p:nvSpPr>
          <p:cNvPr id="609" name="X609"/>
          <p:cNvSpPr txBox="1"/>
          <p:nvPr/>
        </p:nvSpPr>
        <p:spPr>
          <a:xfrm>
            <a:off x="3840480" y="35478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s-ES" sz="1400" b="1" i="0">
                <a:solidFill>
                  <a:srgbClr val="1D4F37"/>
                </a:solidFill>
                <a:latin typeface="Arial"/>
              </a:rPr>
              <a:t>200.000 €</a:t>
            </a:r>
          </a:p>
        </p:txBody>
      </p:sp>
      <p:sp>
        <p:nvSpPr>
          <p:cNvPr id="610" name="X610"/>
          <p:cNvSpPr txBox="1"/>
          <p:nvPr/>
        </p:nvSpPr>
        <p:spPr>
          <a:xfrm>
            <a:off x="777240" y="3822192"/>
            <a:ext cx="48920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0" i="0">
                <a:solidFill>
                  <a:srgbClr val="8A827B"/>
                </a:solidFill>
                <a:latin typeface="Arial"/>
              </a:rPr>
              <a:t>Cubre la necesidad de 161.278 € del plan  ·  cobertura 1,24×</a:t>
            </a:r>
          </a:p>
        </p:txBody>
      </p:sp>
      <p:sp>
        <p:nvSpPr>
          <p:cNvPr id="611" name="X611"/>
          <p:cNvSpPr txBox="1"/>
          <p:nvPr/>
        </p:nvSpPr>
        <p:spPr>
          <a:xfrm>
            <a:off x="6035040" y="2340864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RETORNO PARA EL INVERSOR  ·  ESCENARIO BASE</a:t>
            </a:r>
          </a:p>
        </p:txBody>
      </p:sp>
      <p:sp>
        <p:nvSpPr>
          <p:cNvPr id="612" name="X612"/>
          <p:cNvSpPr txBox="1"/>
          <p:nvPr/>
        </p:nvSpPr>
        <p:spPr>
          <a:xfrm>
            <a:off x="603504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2400" b="1" i="0">
                <a:solidFill>
                  <a:srgbClr val="1D4F37"/>
                </a:solidFill>
                <a:latin typeface="Arial"/>
              </a:rPr>
              <a:t>35 %</a:t>
            </a:r>
          </a:p>
        </p:txBody>
      </p:sp>
      <p:sp>
        <p:nvSpPr>
          <p:cNvPr id="613" name="X613"/>
          <p:cNvSpPr txBox="1"/>
          <p:nvPr/>
        </p:nvSpPr>
        <p:spPr>
          <a:xfrm>
            <a:off x="603504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50" b="1" i="0" spc="100">
                <a:solidFill>
                  <a:srgbClr val="8A827B"/>
                </a:solidFill>
                <a:latin typeface="Arial"/>
              </a:rPr>
              <a:t>TIR ANUAL</a:t>
            </a:r>
          </a:p>
        </p:txBody>
      </p:sp>
      <p:sp>
        <p:nvSpPr>
          <p:cNvPr id="614" name="X614"/>
          <p:cNvSpPr txBox="1"/>
          <p:nvPr/>
        </p:nvSpPr>
        <p:spPr>
          <a:xfrm>
            <a:off x="781812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2400" b="1" i="0">
                <a:solidFill>
                  <a:srgbClr val="3A453F"/>
                </a:solidFill>
                <a:latin typeface="Arial"/>
              </a:rPr>
              <a:t>3,3×</a:t>
            </a:r>
          </a:p>
        </p:txBody>
      </p:sp>
      <p:sp>
        <p:nvSpPr>
          <p:cNvPr id="615" name="X615"/>
          <p:cNvSpPr txBox="1"/>
          <p:nvPr/>
        </p:nvSpPr>
        <p:spPr>
          <a:xfrm>
            <a:off x="781812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50" b="1" i="0" spc="10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616" name="X616"/>
          <p:cNvSpPr txBox="1"/>
          <p:nvPr/>
        </p:nvSpPr>
        <p:spPr>
          <a:xfrm>
            <a:off x="960120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2400" b="1" i="0">
                <a:solidFill>
                  <a:srgbClr val="3A453F"/>
                </a:solidFill>
                <a:latin typeface="Arial"/>
              </a:rPr>
              <a:t>Año 4</a:t>
            </a:r>
          </a:p>
        </p:txBody>
      </p:sp>
      <p:sp>
        <p:nvSpPr>
          <p:cNvPr id="617" name="X617"/>
          <p:cNvSpPr txBox="1"/>
          <p:nvPr/>
        </p:nvSpPr>
        <p:spPr>
          <a:xfrm>
            <a:off x="960120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50" b="1" i="0" spc="100">
                <a:solidFill>
                  <a:srgbClr val="8A827B"/>
                </a:solidFill>
                <a:latin typeface="Arial"/>
              </a:rPr>
              <a:t>HORIZONTE DE SALIDA</a:t>
            </a:r>
          </a:p>
        </p:txBody>
      </p:sp>
      <p:sp>
        <p:nvSpPr>
          <p:cNvPr id="618" name="X618"/>
          <p:cNvSpPr/>
          <p:nvPr/>
        </p:nvSpPr>
        <p:spPr>
          <a:xfrm>
            <a:off x="6035040" y="3200400"/>
            <a:ext cx="53492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X619"/>
          <p:cNvSpPr txBox="1"/>
          <p:nvPr/>
        </p:nvSpPr>
        <p:spPr>
          <a:xfrm>
            <a:off x="6035040" y="3273552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CONDICIONES · TRAMO INVERSOR</a:t>
            </a:r>
          </a:p>
        </p:txBody>
      </p:sp>
      <p:sp>
        <p:nvSpPr>
          <p:cNvPr id="620" name="X620"/>
          <p:cNvSpPr txBox="1"/>
          <p:nvPr/>
        </p:nvSpPr>
        <p:spPr>
          <a:xfrm>
            <a:off x="6035040" y="3474720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Entrada en capital: 10 % de la sociedad por 100.000 € · derecho de salida pactado a partir del año 4 · suelo de protección de 1,5× sobre lo invertido · sin aval personal · los fundadores conservan el 90 % y el control.</a:t>
            </a:r>
          </a:p>
        </p:txBody>
      </p:sp>
      <p:sp>
        <p:nvSpPr>
          <p:cNvPr id="621" name="X621"/>
          <p:cNvSpPr/>
          <p:nvPr/>
        </p:nvSpPr>
        <p:spPr>
          <a:xfrm>
            <a:off x="777240" y="4114800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X622"/>
          <p:cNvSpPr txBox="1"/>
          <p:nvPr/>
        </p:nvSpPr>
        <p:spPr>
          <a:xfrm>
            <a:off x="960120" y="411480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Por qué capital:  </a:t>
            </a:r>
            <a:r>
              <a:rPr lang="es-ES" sz="900" b="0" i="0">
                <a:solidFill>
                  <a:srgbClr val="2C5F47"/>
                </a:solidFill>
                <a:latin typeface="Arial"/>
              </a:rPr>
              <a:t>ENISA exige fondos propios ≥ préstamo, y el tramo privado entra como capital para cumplirlo. Cada euro del inversor desbloquea otro euro público.</a:t>
            </a:r>
          </a:p>
        </p:txBody>
      </p:sp>
      <p:sp>
        <p:nvSpPr>
          <p:cNvPr id="623" name="X623"/>
          <p:cNvSpPr txBox="1"/>
          <p:nvPr/>
        </p:nvSpPr>
        <p:spPr>
          <a:xfrm>
            <a:off x="777240" y="4572000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EN QUÉ SE INVIERTE  ·  161.278 €</a:t>
            </a:r>
          </a:p>
        </p:txBody>
      </p:sp>
      <p:sp>
        <p:nvSpPr>
          <p:cNvPr id="624" name="X624"/>
          <p:cNvSpPr/>
          <p:nvPr/>
        </p:nvSpPr>
        <p:spPr>
          <a:xfrm>
            <a:off x="777240" y="4791456"/>
            <a:ext cx="4195267" cy="219456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X625"/>
          <p:cNvSpPr/>
          <p:nvPr/>
        </p:nvSpPr>
        <p:spPr>
          <a:xfrm>
            <a:off x="5027371" y="4791456"/>
            <a:ext cx="4053535" cy="219456"/>
          </a:xfrm>
          <a:prstGeom prst="roundRect">
            <a:avLst>
              <a:gd name="adj" fmla="val 14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" name="X626"/>
          <p:cNvSpPr/>
          <p:nvPr/>
        </p:nvSpPr>
        <p:spPr>
          <a:xfrm>
            <a:off x="9135770" y="4791456"/>
            <a:ext cx="1545336" cy="219456"/>
          </a:xfrm>
          <a:prstGeom prst="roundRect">
            <a:avLst>
              <a:gd name="adj" fmla="val 14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X627"/>
          <p:cNvSpPr/>
          <p:nvPr/>
        </p:nvSpPr>
        <p:spPr>
          <a:xfrm>
            <a:off x="10735970" y="4791456"/>
            <a:ext cx="647395" cy="219456"/>
          </a:xfrm>
          <a:prstGeom prst="roundRect">
            <a:avLst>
              <a:gd name="adj" fmla="val 14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28" name="X628"/>
          <p:cNvSpPr/>
          <p:nvPr/>
        </p:nvSpPr>
        <p:spPr>
          <a:xfrm>
            <a:off x="77724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X629"/>
          <p:cNvSpPr txBox="1"/>
          <p:nvPr/>
        </p:nvSpPr>
        <p:spPr>
          <a:xfrm>
            <a:off x="96012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64.800 €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Nave, racks y equipo</a:t>
            </a:r>
          </a:p>
        </p:txBody>
      </p:sp>
      <p:sp>
        <p:nvSpPr>
          <p:cNvPr id="630" name="X630"/>
          <p:cNvSpPr/>
          <p:nvPr/>
        </p:nvSpPr>
        <p:spPr>
          <a:xfrm>
            <a:off x="342900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X631"/>
          <p:cNvSpPr txBox="1"/>
          <p:nvPr/>
        </p:nvSpPr>
        <p:spPr>
          <a:xfrm>
            <a:off x="361188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62.608 €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Colchón de arranque (4 meses)</a:t>
            </a:r>
          </a:p>
        </p:txBody>
      </p:sp>
      <p:sp>
        <p:nvSpPr>
          <p:cNvPr id="632" name="X632"/>
          <p:cNvSpPr/>
          <p:nvPr/>
        </p:nvSpPr>
        <p:spPr>
          <a:xfrm>
            <a:off x="608076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X633"/>
          <p:cNvSpPr txBox="1"/>
          <p:nvPr/>
        </p:nvSpPr>
        <p:spPr>
          <a:xfrm>
            <a:off x="626364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23.870 €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Licencias, legal y contingencia</a:t>
            </a:r>
          </a:p>
        </p:txBody>
      </p:sp>
      <p:sp>
        <p:nvSpPr>
          <p:cNvPr id="634" name="X634"/>
          <p:cNvSpPr/>
          <p:nvPr/>
        </p:nvSpPr>
        <p:spPr>
          <a:xfrm>
            <a:off x="873252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X635"/>
          <p:cNvSpPr txBox="1"/>
          <p:nvPr/>
        </p:nvSpPr>
        <p:spPr>
          <a:xfrm>
            <a:off x="891540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10.000 €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Automatización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INVERSIÓN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PROYECCIÓN FINANCIERA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Del arranque al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régimen pleno.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El Año 1 va en pérdidas (EBITDA −52 k€): es la nave llenándose y la plantilla entrando antes que los ingresos. A partir de ahí la facturación sube cliente a cliente hasta el régimen: ~1,30 M€ y un 35 % de margen EBITDA.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>Escenario base del modelo financiero V15 · régimen pleno en el año 5: nave llena y plantilla de 9 · cifras sin IVA, sujetas al cierre de cada ejercicio.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Apalancamiento operativo: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las palancas —minutos por bandeja, precio y coste— llevan el margen EBITDA en régimen del 11% (conservador) al 50% (optimista).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701" name="X701"/>
          <p:cNvSpPr txBox="1"/>
          <p:nvPr/>
        </p:nvSpPr>
        <p:spPr>
          <a:xfrm>
            <a:off x="777240" y="3931920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40">
                <a:solidFill>
                  <a:srgbClr val="8A827B"/>
                </a:solidFill>
                <a:latin typeface="Arial"/>
              </a:rPr>
              <a:t>INGRESOS</a:t>
            </a:r>
          </a:p>
        </p:txBody>
      </p:sp>
      <p:sp>
        <p:nvSpPr>
          <p:cNvPr id="702" name="X702"/>
          <p:cNvSpPr txBox="1"/>
          <p:nvPr/>
        </p:nvSpPr>
        <p:spPr>
          <a:xfrm>
            <a:off x="777240" y="479145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40">
                <a:solidFill>
                  <a:srgbClr val="8A827B"/>
                </a:solidFill>
                <a:latin typeface="Arial"/>
              </a:rPr>
              <a:t>EBITDA</a:t>
            </a:r>
          </a:p>
        </p:txBody>
      </p:sp>
      <p:sp>
        <p:nvSpPr>
          <p:cNvPr id="703" name="X703"/>
          <p:cNvSpPr txBox="1"/>
          <p:nvPr/>
        </p:nvSpPr>
        <p:spPr>
          <a:xfrm>
            <a:off x="777240" y="497433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40">
                <a:solidFill>
                  <a:srgbClr val="8A827B"/>
                </a:solidFill>
                <a:latin typeface="Arial"/>
              </a:rPr>
              <a:t>MARGEN</a:t>
            </a:r>
          </a:p>
        </p:txBody>
      </p:sp>
      <p:sp>
        <p:nvSpPr>
          <p:cNvPr id="704" name="X704"/>
          <p:cNvSpPr/>
          <p:nvPr/>
        </p:nvSpPr>
        <p:spPr>
          <a:xfrm>
            <a:off x="2148840" y="4498848"/>
            <a:ext cx="9235440" cy="1280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" name="X705"/>
          <p:cNvSpPr/>
          <p:nvPr/>
        </p:nvSpPr>
        <p:spPr>
          <a:xfrm>
            <a:off x="2569464" y="4364004"/>
            <a:ext cx="1005840" cy="134844"/>
          </a:xfrm>
          <a:prstGeom prst="roundRect">
            <a:avLst>
              <a:gd name="adj" fmla="val 5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" name="X706"/>
          <p:cNvSpPr txBox="1"/>
          <p:nvPr/>
        </p:nvSpPr>
        <p:spPr>
          <a:xfrm>
            <a:off x="2148840" y="4126260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183 k€</a:t>
            </a:r>
          </a:p>
        </p:txBody>
      </p:sp>
      <p:sp>
        <p:nvSpPr>
          <p:cNvPr id="707" name="X707"/>
          <p:cNvSpPr txBox="1"/>
          <p:nvPr/>
        </p:nvSpPr>
        <p:spPr>
          <a:xfrm>
            <a:off x="2148840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1</a:t>
            </a:r>
          </a:p>
        </p:txBody>
      </p:sp>
      <p:sp>
        <p:nvSpPr>
          <p:cNvPr id="708" name="X708"/>
          <p:cNvSpPr txBox="1"/>
          <p:nvPr/>
        </p:nvSpPr>
        <p:spPr>
          <a:xfrm>
            <a:off x="2148840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−52 k€</a:t>
            </a:r>
          </a:p>
        </p:txBody>
      </p:sp>
      <p:sp>
        <p:nvSpPr>
          <p:cNvPr id="709" name="X709"/>
          <p:cNvSpPr txBox="1"/>
          <p:nvPr/>
        </p:nvSpPr>
        <p:spPr>
          <a:xfrm>
            <a:off x="2148840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−28 %</a:t>
            </a:r>
          </a:p>
        </p:txBody>
      </p:sp>
      <p:sp>
        <p:nvSpPr>
          <p:cNvPr id="710" name="X710"/>
          <p:cNvSpPr/>
          <p:nvPr/>
        </p:nvSpPr>
        <p:spPr>
          <a:xfrm>
            <a:off x="4416552" y="3993367"/>
            <a:ext cx="1005840" cy="505481"/>
          </a:xfrm>
          <a:prstGeom prst="roundRect">
            <a:avLst>
              <a:gd name="adj" fmla="val 5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X711"/>
          <p:cNvSpPr txBox="1"/>
          <p:nvPr/>
        </p:nvSpPr>
        <p:spPr>
          <a:xfrm>
            <a:off x="3995928" y="3755623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686 k€</a:t>
            </a:r>
          </a:p>
        </p:txBody>
      </p:sp>
      <p:sp>
        <p:nvSpPr>
          <p:cNvPr id="712" name="X712"/>
          <p:cNvSpPr txBox="1"/>
          <p:nvPr/>
        </p:nvSpPr>
        <p:spPr>
          <a:xfrm>
            <a:off x="3995928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2</a:t>
            </a:r>
          </a:p>
        </p:txBody>
      </p:sp>
      <p:sp>
        <p:nvSpPr>
          <p:cNvPr id="713" name="X713"/>
          <p:cNvSpPr txBox="1"/>
          <p:nvPr/>
        </p:nvSpPr>
        <p:spPr>
          <a:xfrm>
            <a:off x="3995928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191 k€</a:t>
            </a:r>
          </a:p>
        </p:txBody>
      </p:sp>
      <p:sp>
        <p:nvSpPr>
          <p:cNvPr id="714" name="X714"/>
          <p:cNvSpPr txBox="1"/>
          <p:nvPr/>
        </p:nvSpPr>
        <p:spPr>
          <a:xfrm>
            <a:off x="3995928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28 %</a:t>
            </a:r>
          </a:p>
        </p:txBody>
      </p:sp>
      <p:sp>
        <p:nvSpPr>
          <p:cNvPr id="715" name="X715"/>
          <p:cNvSpPr/>
          <p:nvPr/>
        </p:nvSpPr>
        <p:spPr>
          <a:xfrm>
            <a:off x="6263640" y="3737678"/>
            <a:ext cx="1005840" cy="761170"/>
          </a:xfrm>
          <a:prstGeom prst="roundRect">
            <a:avLst>
              <a:gd name="adj" fmla="val 5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X716"/>
          <p:cNvSpPr txBox="1"/>
          <p:nvPr/>
        </p:nvSpPr>
        <p:spPr>
          <a:xfrm>
            <a:off x="5843016" y="3499934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1,03 M€</a:t>
            </a:r>
          </a:p>
        </p:txBody>
      </p:sp>
      <p:sp>
        <p:nvSpPr>
          <p:cNvPr id="717" name="X717"/>
          <p:cNvSpPr txBox="1"/>
          <p:nvPr/>
        </p:nvSpPr>
        <p:spPr>
          <a:xfrm>
            <a:off x="5843016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3</a:t>
            </a:r>
          </a:p>
        </p:txBody>
      </p:sp>
      <p:sp>
        <p:nvSpPr>
          <p:cNvPr id="718" name="X718"/>
          <p:cNvSpPr txBox="1"/>
          <p:nvPr/>
        </p:nvSpPr>
        <p:spPr>
          <a:xfrm>
            <a:off x="5843016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350 k€</a:t>
            </a:r>
          </a:p>
        </p:txBody>
      </p:sp>
      <p:sp>
        <p:nvSpPr>
          <p:cNvPr id="719" name="X719"/>
          <p:cNvSpPr txBox="1"/>
          <p:nvPr/>
        </p:nvSpPr>
        <p:spPr>
          <a:xfrm>
            <a:off x="5843016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34 %</a:t>
            </a:r>
          </a:p>
        </p:txBody>
      </p:sp>
      <p:sp>
        <p:nvSpPr>
          <p:cNvPr id="720" name="X720"/>
          <p:cNvSpPr/>
          <p:nvPr/>
        </p:nvSpPr>
        <p:spPr>
          <a:xfrm>
            <a:off x="8110728" y="3560097"/>
            <a:ext cx="1005840" cy="938751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1" name="X721"/>
          <p:cNvSpPr txBox="1"/>
          <p:nvPr/>
        </p:nvSpPr>
        <p:spPr>
          <a:xfrm>
            <a:off x="7690104" y="3322353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1,27 M€</a:t>
            </a:r>
          </a:p>
        </p:txBody>
      </p:sp>
      <p:sp>
        <p:nvSpPr>
          <p:cNvPr id="722" name="X722"/>
          <p:cNvSpPr txBox="1"/>
          <p:nvPr/>
        </p:nvSpPr>
        <p:spPr>
          <a:xfrm>
            <a:off x="7690104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4</a:t>
            </a:r>
          </a:p>
        </p:txBody>
      </p:sp>
      <p:sp>
        <p:nvSpPr>
          <p:cNvPr id="723" name="X723"/>
          <p:cNvSpPr txBox="1"/>
          <p:nvPr/>
        </p:nvSpPr>
        <p:spPr>
          <a:xfrm>
            <a:off x="7690104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468 k€</a:t>
            </a:r>
          </a:p>
        </p:txBody>
      </p:sp>
      <p:sp>
        <p:nvSpPr>
          <p:cNvPr id="724" name="X724"/>
          <p:cNvSpPr txBox="1"/>
          <p:nvPr/>
        </p:nvSpPr>
        <p:spPr>
          <a:xfrm>
            <a:off x="7690104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37 %</a:t>
            </a:r>
          </a:p>
        </p:txBody>
      </p:sp>
      <p:sp>
        <p:nvSpPr>
          <p:cNvPr id="725" name="X725"/>
          <p:cNvSpPr/>
          <p:nvPr/>
        </p:nvSpPr>
        <p:spPr>
          <a:xfrm>
            <a:off x="9957816" y="3538728"/>
            <a:ext cx="1005840" cy="960120"/>
          </a:xfrm>
          <a:prstGeom prst="roundRect">
            <a:avLst>
              <a:gd name="adj" fmla="val 5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" name="X726"/>
          <p:cNvSpPr txBox="1"/>
          <p:nvPr/>
        </p:nvSpPr>
        <p:spPr>
          <a:xfrm>
            <a:off x="9537192" y="3300984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ED7E1F"/>
                </a:solidFill>
                <a:latin typeface="Arial"/>
              </a:rPr>
              <a:t>1,30 M€</a:t>
            </a:r>
          </a:p>
        </p:txBody>
      </p:sp>
      <p:sp>
        <p:nvSpPr>
          <p:cNvPr id="727" name="X727"/>
          <p:cNvSpPr txBox="1"/>
          <p:nvPr/>
        </p:nvSpPr>
        <p:spPr>
          <a:xfrm>
            <a:off x="9537192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5 · régimen</a:t>
            </a:r>
          </a:p>
        </p:txBody>
      </p:sp>
      <p:sp>
        <p:nvSpPr>
          <p:cNvPr id="728" name="X728"/>
          <p:cNvSpPr txBox="1"/>
          <p:nvPr/>
        </p:nvSpPr>
        <p:spPr>
          <a:xfrm>
            <a:off x="9537192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ED7E1F"/>
                </a:solidFill>
                <a:latin typeface="Arial"/>
              </a:rPr>
              <a:t>460 k€</a:t>
            </a:r>
          </a:p>
        </p:txBody>
      </p:sp>
      <p:sp>
        <p:nvSpPr>
          <p:cNvPr id="729" name="X729"/>
          <p:cNvSpPr txBox="1"/>
          <p:nvPr/>
        </p:nvSpPr>
        <p:spPr>
          <a:xfrm>
            <a:off x="9537192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1" i="0">
                <a:solidFill>
                  <a:srgbClr val="ED7E1F"/>
                </a:solidFill>
                <a:latin typeface="Arial"/>
              </a:rPr>
              <a:t>35 %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CASO DE REFERENCIA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EL SECTOR YA SE FINANCIA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Tierra levanta 400.000 €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con ENISA.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>Tierra es el competidor directo más comparable a Rootflow: microbrotes y agricultura de precisión en Madrid, con software propio de control de cultivo. Acaba de cerrar una ronda de 400.000 € respaldada por ENISA.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>Destina los fondos a ampliar capacidad, desarrollar dos patentes y evolucionar su software. Su caso confirma que ENISA financia exactamente este perfil de proyecto, en nuestro mercado y en este momento.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>Rootflow compite con ventajas propias: un ERP a medida ya en producción, un modelo de cero stock difícil de replicar y venta directa al canal HORECA con márgenes altos.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>400 k€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>IMPORTE DE LA RONDA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ENISA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>RESPALDO PÚBLICO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Madrid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MISMO MERCADO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+2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>PATENTES PROPIAS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Ya operan en España: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Cangarus · Fronda · Groots · Tugas · Massa Greens. El mercado está activo y probado.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Mercado probado, capital disponible.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HOJA DE RUTA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EL CAMINO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De la idea al grupo,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en seis hitos.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El conocimiento ya está adquirido: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producto, clientes, ERP y operación validados antes de pedir un euro.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00" name="Z200"/>
          <p:cNvSpPr/>
          <p:nvPr/>
        </p:nvSpPr>
        <p:spPr>
          <a:xfrm>
            <a:off x="1188720" y="2606040"/>
            <a:ext cx="3063240" cy="235000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Z201"/>
          <p:cNvSpPr/>
          <p:nvPr/>
        </p:nvSpPr>
        <p:spPr>
          <a:xfrm>
            <a:off x="4434840" y="2606040"/>
            <a:ext cx="1645920" cy="2350008"/>
          </a:xfrm>
          <a:prstGeom prst="roundRect">
            <a:avLst>
              <a:gd name="adj" fmla="val 6000"/>
            </a:avLst>
          </a:prstGeom>
          <a:solidFill>
            <a:srgbClr val="F7DF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Z202"/>
          <p:cNvSpPr/>
          <p:nvPr/>
        </p:nvSpPr>
        <p:spPr>
          <a:xfrm>
            <a:off x="6263640" y="2606040"/>
            <a:ext cx="4846320" cy="2350008"/>
          </a:xfrm>
          <a:prstGeom prst="roundRect">
            <a:avLst>
              <a:gd name="adj" fmla="val 6000"/>
            </a:avLst>
          </a:prstGeom>
          <a:solidFill>
            <a:srgbClr val="EFE7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L203"/>
          <p:cNvSpPr>
            <a:spLocks noGrp="1"/>
          </p:cNvSpPr>
          <p:nvPr/>
        </p:nvSpPr>
        <p:spPr>
          <a:xfrm>
            <a:off x="1188720" y="2724912"/>
            <a:ext cx="306324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050" b="1" i="0" spc="260">
                <a:solidFill>
                  <a:srgbClr val="1D4F37"/>
                </a:solidFill>
                <a:latin typeface="Arial"/>
              </a:rPr>
              <a:t>DE DÓNDE VENIMOS</a:t>
            </a:r>
          </a:p>
        </p:txBody>
      </p:sp>
      <p:sp>
        <p:nvSpPr>
          <p:cNvPr id="204" name="TL204"/>
          <p:cNvSpPr>
            <a:spLocks noGrp="1"/>
          </p:cNvSpPr>
          <p:nvPr/>
        </p:nvSpPr>
        <p:spPr>
          <a:xfrm>
            <a:off x="4434840" y="2724912"/>
            <a:ext cx="16459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050" b="1" i="0" spc="200">
                <a:solidFill>
                  <a:srgbClr val="C25A12"/>
                </a:solidFill>
                <a:latin typeface="Arial"/>
              </a:rPr>
              <a:t>DÓNDE ESTAMOS</a:t>
            </a:r>
          </a:p>
        </p:txBody>
      </p:sp>
      <p:sp>
        <p:nvSpPr>
          <p:cNvPr id="205" name="TL205"/>
          <p:cNvSpPr>
            <a:spLocks noGrp="1"/>
          </p:cNvSpPr>
          <p:nvPr/>
        </p:nvSpPr>
        <p:spPr>
          <a:xfrm>
            <a:off x="6263640" y="2724912"/>
            <a:ext cx="48463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050" b="1" i="0" spc="260">
                <a:solidFill>
                  <a:srgbClr val="2C5F47"/>
                </a:solidFill>
                <a:latin typeface="Arial"/>
              </a:rPr>
              <a:t>HACIA DÓNDE VAMOS</a:t>
            </a:r>
          </a:p>
        </p:txBody>
      </p:sp>
      <p:sp>
        <p:nvSpPr>
          <p:cNvPr id="206" name="L206"/>
          <p:cNvSpPr/>
          <p:nvPr/>
        </p:nvSpPr>
        <p:spPr>
          <a:xfrm>
            <a:off x="1874520" y="3506724"/>
            <a:ext cx="8458200" cy="27432"/>
          </a:xfrm>
          <a:prstGeom prst="rect">
            <a:avLst/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C207"/>
          <p:cNvSpPr/>
          <p:nvPr/>
        </p:nvSpPr>
        <p:spPr>
          <a:xfrm>
            <a:off x="162763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00</a:t>
            </a:r>
          </a:p>
        </p:txBody>
      </p:sp>
      <p:sp>
        <p:nvSpPr>
          <p:cNvPr id="208" name="C208"/>
          <p:cNvSpPr/>
          <p:nvPr/>
        </p:nvSpPr>
        <p:spPr>
          <a:xfrm>
            <a:off x="331927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01</a:t>
            </a:r>
          </a:p>
        </p:txBody>
      </p:sp>
      <p:sp>
        <p:nvSpPr>
          <p:cNvPr id="209" name="C209"/>
          <p:cNvSpPr/>
          <p:nvPr/>
        </p:nvSpPr>
        <p:spPr>
          <a:xfrm>
            <a:off x="5010912" y="3273552"/>
            <a:ext cx="493776" cy="493776"/>
          </a:xfrm>
          <a:prstGeom prst="ellipse">
            <a:avLst/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0" name="C210"/>
          <p:cNvSpPr/>
          <p:nvPr/>
        </p:nvSpPr>
        <p:spPr>
          <a:xfrm>
            <a:off x="670255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03</a:t>
            </a:r>
          </a:p>
        </p:txBody>
      </p:sp>
      <p:sp>
        <p:nvSpPr>
          <p:cNvPr id="211" name="C211"/>
          <p:cNvSpPr/>
          <p:nvPr/>
        </p:nvSpPr>
        <p:spPr>
          <a:xfrm>
            <a:off x="839419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04</a:t>
            </a:r>
          </a:p>
        </p:txBody>
      </p:sp>
      <p:sp>
        <p:nvSpPr>
          <p:cNvPr id="212" name="C212"/>
          <p:cNvSpPr/>
          <p:nvPr/>
        </p:nvSpPr>
        <p:spPr>
          <a:xfrm>
            <a:off x="1008583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05</a:t>
            </a:r>
          </a:p>
        </p:txBody>
      </p:sp>
      <p:sp>
        <p:nvSpPr>
          <p:cNvPr id="213" name="TL213"/>
          <p:cNvSpPr>
            <a:spLocks noGrp="1"/>
          </p:cNvSpPr>
          <p:nvPr/>
        </p:nvSpPr>
        <p:spPr>
          <a:xfrm>
            <a:off x="10287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1D4F37"/>
                </a:solidFill>
                <a:latin typeface="Arial"/>
              </a:rPr>
              <a:t>Hecho</a:t>
            </a:r>
          </a:p>
        </p:txBody>
      </p:sp>
      <p:sp>
        <p:nvSpPr>
          <p:cNvPr id="214" name="TL214"/>
          <p:cNvSpPr>
            <a:spLocks noGrp="1"/>
          </p:cNvSpPr>
          <p:nvPr/>
        </p:nvSpPr>
        <p:spPr>
          <a:xfrm>
            <a:off x="272034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1D4F37"/>
                </a:solidFill>
                <a:latin typeface="Arial"/>
              </a:rPr>
              <a:t>Hecho</a:t>
            </a:r>
          </a:p>
        </p:txBody>
      </p:sp>
      <p:sp>
        <p:nvSpPr>
          <p:cNvPr id="215" name="TL215"/>
          <p:cNvSpPr>
            <a:spLocks noGrp="1"/>
          </p:cNvSpPr>
          <p:nvPr/>
        </p:nvSpPr>
        <p:spPr>
          <a:xfrm>
            <a:off x="441198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C25A12"/>
                </a:solidFill>
                <a:latin typeface="Arial"/>
              </a:rPr>
              <a:t>En curso</a:t>
            </a:r>
          </a:p>
        </p:txBody>
      </p:sp>
      <p:sp>
        <p:nvSpPr>
          <p:cNvPr id="216" name="TL216"/>
          <p:cNvSpPr>
            <a:spLocks noGrp="1"/>
          </p:cNvSpPr>
          <p:nvPr/>
        </p:nvSpPr>
        <p:spPr>
          <a:xfrm>
            <a:off x="610362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8A827B"/>
                </a:solidFill>
                <a:latin typeface="Arial"/>
              </a:rPr>
              <a:t>Próximo</a:t>
            </a:r>
          </a:p>
        </p:txBody>
      </p:sp>
      <p:sp>
        <p:nvSpPr>
          <p:cNvPr id="217" name="TL217"/>
          <p:cNvSpPr>
            <a:spLocks noGrp="1"/>
          </p:cNvSpPr>
          <p:nvPr/>
        </p:nvSpPr>
        <p:spPr>
          <a:xfrm>
            <a:off x="779526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8A827B"/>
                </a:solidFill>
                <a:latin typeface="Arial"/>
              </a:rPr>
              <a:t>Próximo</a:t>
            </a:r>
          </a:p>
        </p:txBody>
      </p:sp>
      <p:sp>
        <p:nvSpPr>
          <p:cNvPr id="218" name="TL218"/>
          <p:cNvSpPr>
            <a:spLocks noGrp="1"/>
          </p:cNvSpPr>
          <p:nvPr/>
        </p:nvSpPr>
        <p:spPr>
          <a:xfrm>
            <a:off x="94869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8A827B"/>
                </a:solidFill>
                <a:latin typeface="Arial"/>
              </a:rPr>
              <a:t>Próximo</a:t>
            </a:r>
          </a:p>
        </p:txBody>
      </p:sp>
      <p:sp>
        <p:nvSpPr>
          <p:cNvPr id="219" name="TL219"/>
          <p:cNvSpPr>
            <a:spLocks noGrp="1"/>
          </p:cNvSpPr>
          <p:nvPr/>
        </p:nvSpPr>
        <p:spPr>
          <a:xfrm>
            <a:off x="10287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Constituir</a:t>
            </a:r>
          </a:p>
        </p:txBody>
      </p:sp>
      <p:sp>
        <p:nvSpPr>
          <p:cNvPr id="220" name="TL220"/>
          <p:cNvSpPr>
            <a:spLocks noGrp="1"/>
          </p:cNvSpPr>
          <p:nvPr/>
        </p:nvSpPr>
        <p:spPr>
          <a:xfrm>
            <a:off x="272034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Validar</a:t>
            </a:r>
          </a:p>
        </p:txBody>
      </p:sp>
      <p:sp>
        <p:nvSpPr>
          <p:cNvPr id="221" name="TL221"/>
          <p:cNvSpPr>
            <a:spLocks noGrp="1"/>
          </p:cNvSpPr>
          <p:nvPr/>
        </p:nvSpPr>
        <p:spPr>
          <a:xfrm>
            <a:off x="441198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Financiar</a:t>
            </a:r>
          </a:p>
        </p:txBody>
      </p:sp>
      <p:sp>
        <p:nvSpPr>
          <p:cNvPr id="222" name="TL222"/>
          <p:cNvSpPr>
            <a:spLocks noGrp="1"/>
          </p:cNvSpPr>
          <p:nvPr/>
        </p:nvSpPr>
        <p:spPr>
          <a:xfrm>
            <a:off x="610362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Escalar</a:t>
            </a:r>
          </a:p>
        </p:txBody>
      </p:sp>
      <p:sp>
        <p:nvSpPr>
          <p:cNvPr id="223" name="TL223"/>
          <p:cNvSpPr>
            <a:spLocks noGrp="1"/>
          </p:cNvSpPr>
          <p:nvPr/>
        </p:nvSpPr>
        <p:spPr>
          <a:xfrm>
            <a:off x="779526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Diversificar</a:t>
            </a:r>
          </a:p>
        </p:txBody>
      </p:sp>
      <p:sp>
        <p:nvSpPr>
          <p:cNvPr id="224" name="TL224"/>
          <p:cNvSpPr>
            <a:spLocks noGrp="1"/>
          </p:cNvSpPr>
          <p:nvPr/>
        </p:nvSpPr>
        <p:spPr>
          <a:xfrm>
            <a:off x="94869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Consolidar</a:t>
            </a:r>
          </a:p>
        </p:txBody>
      </p:sp>
      <p:sp>
        <p:nvSpPr>
          <p:cNvPr id="225" name="TL225"/>
          <p:cNvSpPr>
            <a:spLocks noGrp="1"/>
          </p:cNvSpPr>
          <p:nvPr/>
        </p:nvSpPr>
        <p:spPr>
          <a:xfrm>
            <a:off x="10287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Sociedad creada y planta de 58 m² operativa.</a:t>
            </a:r>
          </a:p>
        </p:txBody>
      </p:sp>
      <p:sp>
        <p:nvSpPr>
          <p:cNvPr id="226" name="TL226"/>
          <p:cNvSpPr>
            <a:spLocks noGrp="1"/>
          </p:cNvSpPr>
          <p:nvPr/>
        </p:nvSpPr>
        <p:spPr>
          <a:xfrm>
            <a:off x="272034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MVP validado y 2 distribuidores recurrentes.</a:t>
            </a:r>
          </a:p>
        </p:txBody>
      </p:sp>
      <p:sp>
        <p:nvSpPr>
          <p:cNvPr id="227" name="TL227"/>
          <p:cNvSpPr>
            <a:spLocks noGrp="1"/>
          </p:cNvSpPr>
          <p:nvPr/>
        </p:nvSpPr>
        <p:spPr>
          <a:xfrm>
            <a:off x="441198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Break-even, cartera estable y ronda cerrada.</a:t>
            </a:r>
          </a:p>
        </p:txBody>
      </p:sp>
      <p:sp>
        <p:nvSpPr>
          <p:cNvPr id="228" name="TL228"/>
          <p:cNvSpPr>
            <a:spLocks noGrp="1"/>
          </p:cNvSpPr>
          <p:nvPr/>
        </p:nvSpPr>
        <p:spPr>
          <a:xfrm>
            <a:off x="610362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Nave en marcha, 2 grandes clientes y 1er empleado.</a:t>
            </a:r>
          </a:p>
        </p:txBody>
      </p:sp>
      <p:sp>
        <p:nvSpPr>
          <p:cNvPr id="229" name="TL229"/>
          <p:cNvSpPr>
            <a:spLocks noGrp="1"/>
          </p:cNvSpPr>
          <p:nvPr/>
        </p:nvSpPr>
        <p:spPr>
          <a:xfrm>
            <a:off x="779526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Nuevas líneas y adquisiciones con caja estable.</a:t>
            </a:r>
          </a:p>
        </p:txBody>
      </p:sp>
      <p:sp>
        <p:nvSpPr>
          <p:cNvPr id="230" name="TL230"/>
          <p:cNvSpPr>
            <a:spLocks noGrp="1"/>
          </p:cNvSpPr>
          <p:nvPr/>
        </p:nvSpPr>
        <p:spPr>
          <a:xfrm>
            <a:off x="94869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Grupo o holding con Rootflow como OpCo.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ESCENARIOS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RANGO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Del caso base al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potencial.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Suelo de protección: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en el caso conservador el inversor cobra 1,5× —150.000 € por sus 100.000 €— aunque el plan se quede corto. En base y optimista el suelo no cuesta nada.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401" name="X401"/>
          <p:cNvSpPr txBox="1"/>
          <p:nvPr/>
        </p:nvSpPr>
        <p:spPr>
          <a:xfrm>
            <a:off x="77724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s-ES" sz="1400" b="1" i="0">
                <a:solidFill>
                  <a:srgbClr val="1D4F37"/>
                </a:solidFill>
                <a:latin typeface="Arial"/>
              </a:rPr>
              <a:t>Un modelo, tres casos.</a:t>
            </a:r>
          </a:p>
        </p:txBody>
      </p:sp>
      <p:sp>
        <p:nvSpPr>
          <p:cNvPr id="402" name="X402"/>
          <p:cNvSpPr txBox="1"/>
          <p:nvPr/>
        </p:nvSpPr>
        <p:spPr>
          <a:xfrm>
            <a:off x="777240" y="2706624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El Base es el plan de negocio. Cambiar una sola palanca —los minutos por bandeja, el precio o la automatización— recalcula plantilla, EBITDA, caja y retorno del inversor.</a:t>
            </a:r>
          </a:p>
        </p:txBody>
      </p:sp>
      <p:sp>
        <p:nvSpPr>
          <p:cNvPr id="403" name="X403"/>
          <p:cNvSpPr/>
          <p:nvPr/>
        </p:nvSpPr>
        <p:spPr>
          <a:xfrm>
            <a:off x="315468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04" name="X404"/>
          <p:cNvSpPr txBox="1"/>
          <p:nvPr/>
        </p:nvSpPr>
        <p:spPr>
          <a:xfrm>
            <a:off x="315468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900" b="1" i="0" spc="140">
                <a:solidFill>
                  <a:srgbClr val="8A827B"/>
                </a:solidFill>
                <a:latin typeface="Arial"/>
              </a:rPr>
              <a:t>CONSERVADOR</a:t>
            </a:r>
          </a:p>
        </p:txBody>
      </p:sp>
      <p:sp>
        <p:nvSpPr>
          <p:cNvPr id="405" name="X405"/>
          <p:cNvSpPr txBox="1"/>
          <p:nvPr/>
        </p:nvSpPr>
        <p:spPr>
          <a:xfrm>
            <a:off x="315468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2600" b="1" i="0">
                <a:solidFill>
                  <a:srgbClr val="3A453F"/>
                </a:solidFill>
                <a:latin typeface="Arial"/>
              </a:rPr>
              <a:t>10,7 %</a:t>
            </a:r>
          </a:p>
        </p:txBody>
      </p:sp>
      <p:sp>
        <p:nvSpPr>
          <p:cNvPr id="406" name="X406"/>
          <p:cNvSpPr txBox="1"/>
          <p:nvPr/>
        </p:nvSpPr>
        <p:spPr>
          <a:xfrm>
            <a:off x="315468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640" b="1" i="0" spc="100">
                <a:solidFill>
                  <a:srgbClr val="8A827B"/>
                </a:solidFill>
                <a:latin typeface="Arial"/>
              </a:rPr>
              <a:t>TIR DEL INVERSOR</a:t>
            </a:r>
          </a:p>
        </p:txBody>
      </p:sp>
      <p:sp>
        <p:nvSpPr>
          <p:cNvPr id="407" name="X407"/>
          <p:cNvSpPr/>
          <p:nvPr/>
        </p:nvSpPr>
        <p:spPr>
          <a:xfrm>
            <a:off x="333756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" name="X408"/>
          <p:cNvSpPr txBox="1"/>
          <p:nvPr/>
        </p:nvSpPr>
        <p:spPr>
          <a:xfrm>
            <a:off x="331927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1,50×</a:t>
            </a:r>
          </a:p>
        </p:txBody>
      </p:sp>
      <p:sp>
        <p:nvSpPr>
          <p:cNvPr id="409" name="X409"/>
          <p:cNvSpPr txBox="1"/>
          <p:nvPr/>
        </p:nvSpPr>
        <p:spPr>
          <a:xfrm>
            <a:off x="331927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MOIC · POR EL SUELO</a:t>
            </a:r>
          </a:p>
        </p:txBody>
      </p:sp>
      <p:sp>
        <p:nvSpPr>
          <p:cNvPr id="410" name="X410"/>
          <p:cNvSpPr txBox="1"/>
          <p:nvPr/>
        </p:nvSpPr>
        <p:spPr>
          <a:xfrm>
            <a:off x="448056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0,79 M€</a:t>
            </a:r>
          </a:p>
        </p:txBody>
      </p:sp>
      <p:sp>
        <p:nvSpPr>
          <p:cNvPr id="411" name="X411"/>
          <p:cNvSpPr txBox="1"/>
          <p:nvPr/>
        </p:nvSpPr>
        <p:spPr>
          <a:xfrm>
            <a:off x="448056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VALOR EQUITY · SALIDA</a:t>
            </a:r>
          </a:p>
        </p:txBody>
      </p:sp>
      <p:sp>
        <p:nvSpPr>
          <p:cNvPr id="412" name="X412"/>
          <p:cNvSpPr txBox="1"/>
          <p:nvPr/>
        </p:nvSpPr>
        <p:spPr>
          <a:xfrm>
            <a:off x="331927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1,03 M€</a:t>
            </a:r>
          </a:p>
        </p:txBody>
      </p:sp>
      <p:sp>
        <p:nvSpPr>
          <p:cNvPr id="413" name="X413"/>
          <p:cNvSpPr txBox="1"/>
          <p:nvPr/>
        </p:nvSpPr>
        <p:spPr>
          <a:xfrm>
            <a:off x="331927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INGRESOS · RÉGIMEN</a:t>
            </a:r>
          </a:p>
        </p:txBody>
      </p:sp>
      <p:sp>
        <p:nvSpPr>
          <p:cNvPr id="414" name="X414"/>
          <p:cNvSpPr txBox="1"/>
          <p:nvPr/>
        </p:nvSpPr>
        <p:spPr>
          <a:xfrm>
            <a:off x="448056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115 k€ · 11 %</a:t>
            </a:r>
          </a:p>
        </p:txBody>
      </p:sp>
      <p:sp>
        <p:nvSpPr>
          <p:cNvPr id="415" name="X415"/>
          <p:cNvSpPr txBox="1"/>
          <p:nvPr/>
        </p:nvSpPr>
        <p:spPr>
          <a:xfrm>
            <a:off x="448056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EBITDA · RÉGIMEN</a:t>
            </a:r>
          </a:p>
        </p:txBody>
      </p:sp>
      <p:sp>
        <p:nvSpPr>
          <p:cNvPr id="416" name="X416"/>
          <p:cNvSpPr/>
          <p:nvPr/>
        </p:nvSpPr>
        <p:spPr>
          <a:xfrm>
            <a:off x="594360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417" name="X417"/>
          <p:cNvSpPr txBox="1"/>
          <p:nvPr/>
        </p:nvSpPr>
        <p:spPr>
          <a:xfrm>
            <a:off x="594360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900" b="1" i="0" spc="140">
                <a:solidFill>
                  <a:srgbClr val="D8ECDF"/>
                </a:solidFill>
                <a:latin typeface="Arial"/>
              </a:rPr>
              <a:t>BASE</a:t>
            </a:r>
          </a:p>
        </p:txBody>
      </p:sp>
      <p:sp>
        <p:nvSpPr>
          <p:cNvPr id="418" name="X418"/>
          <p:cNvSpPr/>
          <p:nvPr/>
        </p:nvSpPr>
        <p:spPr>
          <a:xfrm>
            <a:off x="6986016" y="2624328"/>
            <a:ext cx="566928" cy="25603"/>
          </a:xfrm>
          <a:prstGeom prst="rect">
            <a:avLst/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" name="X419"/>
          <p:cNvSpPr txBox="1"/>
          <p:nvPr/>
        </p:nvSpPr>
        <p:spPr>
          <a:xfrm>
            <a:off x="594360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2600" b="1" i="0">
                <a:solidFill>
                  <a:srgbClr val="FCF1ED"/>
                </a:solidFill>
                <a:latin typeface="Arial"/>
              </a:rPr>
              <a:t>35,1 %</a:t>
            </a:r>
          </a:p>
        </p:txBody>
      </p:sp>
      <p:sp>
        <p:nvSpPr>
          <p:cNvPr id="420" name="X420"/>
          <p:cNvSpPr txBox="1"/>
          <p:nvPr/>
        </p:nvSpPr>
        <p:spPr>
          <a:xfrm>
            <a:off x="594360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640" b="1" i="0" spc="100">
                <a:solidFill>
                  <a:srgbClr val="9BC9AE"/>
                </a:solidFill>
                <a:latin typeface="Arial"/>
              </a:rPr>
              <a:t>TIR DEL INVERSOR</a:t>
            </a:r>
          </a:p>
        </p:txBody>
      </p:sp>
      <p:sp>
        <p:nvSpPr>
          <p:cNvPr id="421" name="X421"/>
          <p:cNvSpPr/>
          <p:nvPr/>
        </p:nvSpPr>
        <p:spPr>
          <a:xfrm>
            <a:off x="6126480" y="3291840"/>
            <a:ext cx="2286000" cy="10973"/>
          </a:xfrm>
          <a:prstGeom prst="rect">
            <a:avLst/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2" name="X422"/>
          <p:cNvSpPr txBox="1"/>
          <p:nvPr/>
        </p:nvSpPr>
        <p:spPr>
          <a:xfrm>
            <a:off x="610819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3,33×</a:t>
            </a:r>
          </a:p>
        </p:txBody>
      </p:sp>
      <p:sp>
        <p:nvSpPr>
          <p:cNvPr id="423" name="X423"/>
          <p:cNvSpPr txBox="1"/>
          <p:nvPr/>
        </p:nvSpPr>
        <p:spPr>
          <a:xfrm>
            <a:off x="610819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MOIC</a:t>
            </a:r>
          </a:p>
        </p:txBody>
      </p:sp>
      <p:sp>
        <p:nvSpPr>
          <p:cNvPr id="424" name="X424"/>
          <p:cNvSpPr txBox="1"/>
          <p:nvPr/>
        </p:nvSpPr>
        <p:spPr>
          <a:xfrm>
            <a:off x="726948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3,33 M€</a:t>
            </a:r>
          </a:p>
        </p:txBody>
      </p:sp>
      <p:sp>
        <p:nvSpPr>
          <p:cNvPr id="425" name="X425"/>
          <p:cNvSpPr txBox="1"/>
          <p:nvPr/>
        </p:nvSpPr>
        <p:spPr>
          <a:xfrm>
            <a:off x="726948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VALOR EQUITY · SALIDA</a:t>
            </a:r>
          </a:p>
        </p:txBody>
      </p:sp>
      <p:sp>
        <p:nvSpPr>
          <p:cNvPr id="426" name="X426"/>
          <p:cNvSpPr txBox="1"/>
          <p:nvPr/>
        </p:nvSpPr>
        <p:spPr>
          <a:xfrm>
            <a:off x="610819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1,30 M€</a:t>
            </a:r>
          </a:p>
        </p:txBody>
      </p:sp>
      <p:sp>
        <p:nvSpPr>
          <p:cNvPr id="427" name="X427"/>
          <p:cNvSpPr txBox="1"/>
          <p:nvPr/>
        </p:nvSpPr>
        <p:spPr>
          <a:xfrm>
            <a:off x="610819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INGRESOS · RÉGIMEN</a:t>
            </a:r>
          </a:p>
        </p:txBody>
      </p:sp>
      <p:sp>
        <p:nvSpPr>
          <p:cNvPr id="428" name="X428"/>
          <p:cNvSpPr txBox="1"/>
          <p:nvPr/>
        </p:nvSpPr>
        <p:spPr>
          <a:xfrm>
            <a:off x="726948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460 k€ · 35 %</a:t>
            </a:r>
          </a:p>
        </p:txBody>
      </p:sp>
      <p:sp>
        <p:nvSpPr>
          <p:cNvPr id="429" name="X429"/>
          <p:cNvSpPr txBox="1"/>
          <p:nvPr/>
        </p:nvSpPr>
        <p:spPr>
          <a:xfrm>
            <a:off x="726948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EBITDA · RÉGIMEN</a:t>
            </a:r>
          </a:p>
        </p:txBody>
      </p:sp>
      <p:sp>
        <p:nvSpPr>
          <p:cNvPr id="430" name="X430"/>
          <p:cNvSpPr/>
          <p:nvPr/>
        </p:nvSpPr>
        <p:spPr>
          <a:xfrm>
            <a:off x="873252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31" name="X431"/>
          <p:cNvSpPr txBox="1"/>
          <p:nvPr/>
        </p:nvSpPr>
        <p:spPr>
          <a:xfrm>
            <a:off x="873252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900" b="1" i="0" spc="140">
                <a:solidFill>
                  <a:srgbClr val="1D4F37"/>
                </a:solidFill>
                <a:latin typeface="Arial"/>
              </a:rPr>
              <a:t>OPTIMISTA</a:t>
            </a:r>
          </a:p>
        </p:txBody>
      </p:sp>
      <p:sp>
        <p:nvSpPr>
          <p:cNvPr id="432" name="X432"/>
          <p:cNvSpPr txBox="1"/>
          <p:nvPr/>
        </p:nvSpPr>
        <p:spPr>
          <a:xfrm>
            <a:off x="873252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2600" b="1" i="0">
                <a:solidFill>
                  <a:srgbClr val="ED7E1F"/>
                </a:solidFill>
                <a:latin typeface="Arial"/>
              </a:rPr>
              <a:t>53,2 %</a:t>
            </a:r>
          </a:p>
        </p:txBody>
      </p:sp>
      <p:sp>
        <p:nvSpPr>
          <p:cNvPr id="433" name="X433"/>
          <p:cNvSpPr txBox="1"/>
          <p:nvPr/>
        </p:nvSpPr>
        <p:spPr>
          <a:xfrm>
            <a:off x="873252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640" b="1" i="0" spc="100">
                <a:solidFill>
                  <a:srgbClr val="8A827B"/>
                </a:solidFill>
                <a:latin typeface="Arial"/>
              </a:rPr>
              <a:t>TIR DEL INVERSOR</a:t>
            </a:r>
          </a:p>
        </p:txBody>
      </p:sp>
      <p:sp>
        <p:nvSpPr>
          <p:cNvPr id="434" name="X434"/>
          <p:cNvSpPr/>
          <p:nvPr/>
        </p:nvSpPr>
        <p:spPr>
          <a:xfrm>
            <a:off x="891540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" name="X435"/>
          <p:cNvSpPr txBox="1"/>
          <p:nvPr/>
        </p:nvSpPr>
        <p:spPr>
          <a:xfrm>
            <a:off x="889711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5,51×</a:t>
            </a:r>
          </a:p>
        </p:txBody>
      </p:sp>
      <p:sp>
        <p:nvSpPr>
          <p:cNvPr id="436" name="X436"/>
          <p:cNvSpPr txBox="1"/>
          <p:nvPr/>
        </p:nvSpPr>
        <p:spPr>
          <a:xfrm>
            <a:off x="889711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437" name="X437"/>
          <p:cNvSpPr txBox="1"/>
          <p:nvPr/>
        </p:nvSpPr>
        <p:spPr>
          <a:xfrm>
            <a:off x="1005840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5,51 M€</a:t>
            </a:r>
          </a:p>
        </p:txBody>
      </p:sp>
      <p:sp>
        <p:nvSpPr>
          <p:cNvPr id="438" name="X438"/>
          <p:cNvSpPr txBox="1"/>
          <p:nvPr/>
        </p:nvSpPr>
        <p:spPr>
          <a:xfrm>
            <a:off x="1005840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VALOR EQUITY · SALIDA</a:t>
            </a:r>
          </a:p>
        </p:txBody>
      </p:sp>
      <p:sp>
        <p:nvSpPr>
          <p:cNvPr id="439" name="X439"/>
          <p:cNvSpPr txBox="1"/>
          <p:nvPr/>
        </p:nvSpPr>
        <p:spPr>
          <a:xfrm>
            <a:off x="889711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1,52 M€</a:t>
            </a:r>
          </a:p>
        </p:txBody>
      </p:sp>
      <p:sp>
        <p:nvSpPr>
          <p:cNvPr id="440" name="X440"/>
          <p:cNvSpPr txBox="1"/>
          <p:nvPr/>
        </p:nvSpPr>
        <p:spPr>
          <a:xfrm>
            <a:off x="889711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INGRESOS · RÉGIMEN</a:t>
            </a:r>
          </a:p>
        </p:txBody>
      </p:sp>
      <p:sp>
        <p:nvSpPr>
          <p:cNvPr id="441" name="X441"/>
          <p:cNvSpPr txBox="1"/>
          <p:nvPr/>
        </p:nvSpPr>
        <p:spPr>
          <a:xfrm>
            <a:off x="1005840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757 k€ · 50 %</a:t>
            </a:r>
          </a:p>
        </p:txBody>
      </p:sp>
      <p:sp>
        <p:nvSpPr>
          <p:cNvPr id="442" name="X442"/>
          <p:cNvSpPr txBox="1"/>
          <p:nvPr/>
        </p:nvSpPr>
        <p:spPr>
          <a:xfrm>
            <a:off x="1005840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EBITDA · RÉGIMEN</a:t>
            </a:r>
          </a:p>
        </p:txBody>
      </p:sp>
      <p:sp>
        <p:nvSpPr>
          <p:cNvPr id="443" name="X443"/>
          <p:cNvSpPr txBox="1"/>
          <p:nvPr/>
        </p:nvSpPr>
        <p:spPr>
          <a:xfrm>
            <a:off x="777240" y="4224528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80" b="1" i="0" spc="160">
                <a:solidFill>
                  <a:srgbClr val="8A827B"/>
                </a:solidFill>
                <a:latin typeface="Arial"/>
              </a:rPr>
              <a:t>LO QUE SE MODIFICA EN CADA CASO</a:t>
            </a:r>
          </a:p>
        </p:txBody>
      </p:sp>
      <p:sp>
        <p:nvSpPr>
          <p:cNvPr id="444" name="X444"/>
          <p:cNvSpPr/>
          <p:nvPr/>
        </p:nvSpPr>
        <p:spPr>
          <a:xfrm>
            <a:off x="777240" y="4434840"/>
            <a:ext cx="106070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" name="X445"/>
          <p:cNvSpPr/>
          <p:nvPr/>
        </p:nvSpPr>
        <p:spPr>
          <a:xfrm>
            <a:off x="5943600" y="4462272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" name="X446"/>
          <p:cNvSpPr txBox="1"/>
          <p:nvPr/>
        </p:nvSpPr>
        <p:spPr>
          <a:xfrm>
            <a:off x="777240" y="4498848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Minutos por bandeja</a:t>
            </a:r>
          </a:p>
        </p:txBody>
      </p:sp>
      <p:sp>
        <p:nvSpPr>
          <p:cNvPr id="447" name="X447"/>
          <p:cNvSpPr txBox="1"/>
          <p:nvPr/>
        </p:nvSpPr>
        <p:spPr>
          <a:xfrm>
            <a:off x="315468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4</a:t>
            </a:r>
          </a:p>
        </p:txBody>
      </p:sp>
      <p:sp>
        <p:nvSpPr>
          <p:cNvPr id="448" name="X448"/>
          <p:cNvSpPr txBox="1"/>
          <p:nvPr/>
        </p:nvSpPr>
        <p:spPr>
          <a:xfrm>
            <a:off x="594360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3</a:t>
            </a:r>
          </a:p>
        </p:txBody>
      </p:sp>
      <p:sp>
        <p:nvSpPr>
          <p:cNvPr id="449" name="X449"/>
          <p:cNvSpPr txBox="1"/>
          <p:nvPr/>
        </p:nvSpPr>
        <p:spPr>
          <a:xfrm>
            <a:off x="873252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2</a:t>
            </a:r>
          </a:p>
        </p:txBody>
      </p:sp>
      <p:sp>
        <p:nvSpPr>
          <p:cNvPr id="450" name="X450"/>
          <p:cNvSpPr txBox="1"/>
          <p:nvPr/>
        </p:nvSpPr>
        <p:spPr>
          <a:xfrm>
            <a:off x="777240" y="4672584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Precio de venta (índice)</a:t>
            </a:r>
          </a:p>
        </p:txBody>
      </p:sp>
      <p:sp>
        <p:nvSpPr>
          <p:cNvPr id="451" name="X451"/>
          <p:cNvSpPr txBox="1"/>
          <p:nvPr/>
        </p:nvSpPr>
        <p:spPr>
          <a:xfrm>
            <a:off x="315468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100 %</a:t>
            </a:r>
          </a:p>
        </p:txBody>
      </p:sp>
      <p:sp>
        <p:nvSpPr>
          <p:cNvPr id="452" name="X452"/>
          <p:cNvSpPr txBox="1"/>
          <p:nvPr/>
        </p:nvSpPr>
        <p:spPr>
          <a:xfrm>
            <a:off x="594360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120 %</a:t>
            </a:r>
          </a:p>
        </p:txBody>
      </p:sp>
      <p:sp>
        <p:nvSpPr>
          <p:cNvPr id="453" name="X453"/>
          <p:cNvSpPr txBox="1"/>
          <p:nvPr/>
        </p:nvSpPr>
        <p:spPr>
          <a:xfrm>
            <a:off x="873252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135 %</a:t>
            </a:r>
          </a:p>
        </p:txBody>
      </p:sp>
      <p:sp>
        <p:nvSpPr>
          <p:cNvPr id="454" name="X454"/>
          <p:cNvSpPr txBox="1"/>
          <p:nvPr/>
        </p:nvSpPr>
        <p:spPr>
          <a:xfrm>
            <a:off x="777240" y="4846320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Coste de producto (índice)</a:t>
            </a:r>
          </a:p>
        </p:txBody>
      </p:sp>
      <p:sp>
        <p:nvSpPr>
          <p:cNvPr id="455" name="X455"/>
          <p:cNvSpPr txBox="1"/>
          <p:nvPr/>
        </p:nvSpPr>
        <p:spPr>
          <a:xfrm>
            <a:off x="315468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100 %</a:t>
            </a:r>
          </a:p>
        </p:txBody>
      </p:sp>
      <p:sp>
        <p:nvSpPr>
          <p:cNvPr id="456" name="X456"/>
          <p:cNvSpPr txBox="1"/>
          <p:nvPr/>
        </p:nvSpPr>
        <p:spPr>
          <a:xfrm>
            <a:off x="594360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85 %</a:t>
            </a:r>
          </a:p>
        </p:txBody>
      </p:sp>
      <p:sp>
        <p:nvSpPr>
          <p:cNvPr id="457" name="X457"/>
          <p:cNvSpPr txBox="1"/>
          <p:nvPr/>
        </p:nvSpPr>
        <p:spPr>
          <a:xfrm>
            <a:off x="873252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75 %</a:t>
            </a:r>
          </a:p>
        </p:txBody>
      </p:sp>
      <p:sp>
        <p:nvSpPr>
          <p:cNvPr id="458" name="X458"/>
          <p:cNvSpPr txBox="1"/>
          <p:nvPr/>
        </p:nvSpPr>
        <p:spPr>
          <a:xfrm>
            <a:off x="777240" y="5020056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Inversión en automatización</a:t>
            </a:r>
          </a:p>
        </p:txBody>
      </p:sp>
      <p:sp>
        <p:nvSpPr>
          <p:cNvPr id="459" name="X459"/>
          <p:cNvSpPr txBox="1"/>
          <p:nvPr/>
        </p:nvSpPr>
        <p:spPr>
          <a:xfrm>
            <a:off x="315468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0 €</a:t>
            </a:r>
          </a:p>
        </p:txBody>
      </p:sp>
      <p:sp>
        <p:nvSpPr>
          <p:cNvPr id="460" name="X460"/>
          <p:cNvSpPr txBox="1"/>
          <p:nvPr/>
        </p:nvSpPr>
        <p:spPr>
          <a:xfrm>
            <a:off x="594360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10.000 €</a:t>
            </a:r>
          </a:p>
        </p:txBody>
      </p:sp>
      <p:sp>
        <p:nvSpPr>
          <p:cNvPr id="461" name="X461"/>
          <p:cNvSpPr txBox="1"/>
          <p:nvPr/>
        </p:nvSpPr>
        <p:spPr>
          <a:xfrm>
            <a:off x="873252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35.000 €</a:t>
            </a:r>
          </a:p>
        </p:txBody>
      </p:sp>
      <p:sp>
        <p:nvSpPr>
          <p:cNvPr id="462" name="X462"/>
          <p:cNvSpPr txBox="1"/>
          <p:nvPr/>
        </p:nvSpPr>
        <p:spPr>
          <a:xfrm>
            <a:off x="777240" y="5193792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Plantilla en régimen</a:t>
            </a:r>
          </a:p>
        </p:txBody>
      </p:sp>
      <p:sp>
        <p:nvSpPr>
          <p:cNvPr id="463" name="X463"/>
          <p:cNvSpPr txBox="1"/>
          <p:nvPr/>
        </p:nvSpPr>
        <p:spPr>
          <a:xfrm>
            <a:off x="315468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11 personas</a:t>
            </a:r>
          </a:p>
        </p:txBody>
      </p:sp>
      <p:sp>
        <p:nvSpPr>
          <p:cNvPr id="464" name="X464"/>
          <p:cNvSpPr txBox="1"/>
          <p:nvPr/>
        </p:nvSpPr>
        <p:spPr>
          <a:xfrm>
            <a:off x="594360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9 personas</a:t>
            </a:r>
          </a:p>
        </p:txBody>
      </p:sp>
      <p:sp>
        <p:nvSpPr>
          <p:cNvPr id="465" name="X465"/>
          <p:cNvSpPr txBox="1"/>
          <p:nvPr/>
        </p:nvSpPr>
        <p:spPr>
          <a:xfrm>
            <a:off x="873252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7 personas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PALANCAS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CÓMO CRECE EL MARGEN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Cuatro palancas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 xml:space="preserve">de crecimiento.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COSTE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Automatización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Sensórica y control de clima y riego recortan el coste de mano de obra —la mayor partida en cultivo vertical— y elevan la producción por m².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Hoy vendemos en el rango bajo del sector. Con marca y relación con chefs consolidadas, hay recorrido de subida hacia precios premium.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MARGEN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Mix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Más peso de flores comestibles y variedades de alto valor por kilo: sube el ticket medio sin subir el coste de producción.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IV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Nuevas líneas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Cada rack adicional escala sobre una estructura de costes fija. La misma base sostiene nuevas líneas y áreas de negocio.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ESTRUCTURA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POR QUÉ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Entramos en capital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porque ENISA lo exige.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Instrumentación: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nota convertible, capitalizada antes de que ENISA formalice su préstamo, tal y como exige su procedimiento.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801" name="X801"/>
          <p:cNvSpPr/>
          <p:nvPr/>
        </p:nvSpPr>
        <p:spPr>
          <a:xfrm>
            <a:off x="77724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2" name="X802"/>
          <p:cNvSpPr txBox="1"/>
          <p:nvPr/>
        </p:nvSpPr>
        <p:spPr>
          <a:xfrm>
            <a:off x="94183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 — EL REQUISITO</a:t>
            </a:r>
          </a:p>
        </p:txBody>
      </p:sp>
      <p:sp>
        <p:nvSpPr>
          <p:cNvPr id="803" name="X803"/>
          <p:cNvSpPr txBox="1"/>
          <p:nvPr/>
        </p:nvSpPr>
        <p:spPr>
          <a:xfrm>
            <a:off x="94183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Fondos propios ≥ préstamo</a:t>
            </a:r>
          </a:p>
        </p:txBody>
      </p:sp>
      <p:sp>
        <p:nvSpPr>
          <p:cNvPr id="804" name="X804"/>
          <p:cNvSpPr txBox="1"/>
          <p:nvPr/>
        </p:nvSpPr>
        <p:spPr>
          <a:xfrm>
            <a:off x="94183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ENISA exige fondos propios iguales o superiores al importe solicitado. Un préstamo privado es deuda y no computa: para movilizar los 100.000 € públicos, el tramo privado tiene que ser capital.</a:t>
            </a:r>
          </a:p>
        </p:txBody>
      </p:sp>
      <p:sp>
        <p:nvSpPr>
          <p:cNvPr id="805" name="X805"/>
          <p:cNvSpPr/>
          <p:nvPr/>
        </p:nvSpPr>
        <p:spPr>
          <a:xfrm>
            <a:off x="347472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6" name="X806"/>
          <p:cNvSpPr txBox="1"/>
          <p:nvPr/>
        </p:nvSpPr>
        <p:spPr>
          <a:xfrm>
            <a:off x="363931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II — LA PROTECCIÓN</a:t>
            </a:r>
          </a:p>
        </p:txBody>
      </p:sp>
      <p:sp>
        <p:nvSpPr>
          <p:cNvPr id="807" name="X807"/>
          <p:cNvSpPr txBox="1"/>
          <p:nvPr/>
        </p:nvSpPr>
        <p:spPr>
          <a:xfrm>
            <a:off x="363931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Suelo de 1,5×</a:t>
            </a:r>
          </a:p>
        </p:txBody>
      </p:sp>
      <p:sp>
        <p:nvSpPr>
          <p:cNvPr id="808" name="X808"/>
          <p:cNvSpPr txBox="1"/>
          <p:nvPr/>
        </p:nvSpPr>
        <p:spPr>
          <a:xfrm>
            <a:off x="363931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El inversor cobra el mayor de estos dos: su 10 % del valor de la compañía, o 1,5× lo aportado. Recupera con rentabilidad incluso en el escenario conservador.</a:t>
            </a:r>
          </a:p>
        </p:txBody>
      </p:sp>
      <p:sp>
        <p:nvSpPr>
          <p:cNvPr id="809" name="X809"/>
          <p:cNvSpPr/>
          <p:nvPr/>
        </p:nvSpPr>
        <p:spPr>
          <a:xfrm>
            <a:off x="617220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0" name="X810"/>
          <p:cNvSpPr txBox="1"/>
          <p:nvPr/>
        </p:nvSpPr>
        <p:spPr>
          <a:xfrm>
            <a:off x="633679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III — LA LIQUIDEZ</a:t>
            </a:r>
          </a:p>
        </p:txBody>
      </p:sp>
      <p:sp>
        <p:nvSpPr>
          <p:cNvPr id="811" name="X811"/>
          <p:cNvSpPr txBox="1"/>
          <p:nvPr/>
        </p:nvSpPr>
        <p:spPr>
          <a:xfrm>
            <a:off x="633679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Salida desde el año 4</a:t>
            </a:r>
          </a:p>
        </p:txBody>
      </p:sp>
      <p:sp>
        <p:nvSpPr>
          <p:cNvPr id="812" name="X812"/>
          <p:cNvSpPr txBox="1"/>
          <p:nvPr/>
        </p:nvSpPr>
        <p:spPr>
          <a:xfrm>
            <a:off x="633679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Sin dividendos hasta amortizar ENISA. El retorno llega por un derecho de salida acordado desde el inicio, no por un cupón.</a:t>
            </a:r>
          </a:p>
        </p:txBody>
      </p:sp>
      <p:sp>
        <p:nvSpPr>
          <p:cNvPr id="813" name="X813"/>
          <p:cNvSpPr/>
          <p:nvPr/>
        </p:nvSpPr>
        <p:spPr>
          <a:xfrm>
            <a:off x="886968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4" name="X814"/>
          <p:cNvSpPr txBox="1"/>
          <p:nvPr/>
        </p:nvSpPr>
        <p:spPr>
          <a:xfrm>
            <a:off x="903427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IV — EL CONTROL</a:t>
            </a:r>
          </a:p>
        </p:txBody>
      </p:sp>
      <p:sp>
        <p:nvSpPr>
          <p:cNvPr id="815" name="X815"/>
          <p:cNvSpPr txBox="1"/>
          <p:nvPr/>
        </p:nvSpPr>
        <p:spPr>
          <a:xfrm>
            <a:off x="903427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Fundadores con el 90 %</a:t>
            </a:r>
          </a:p>
        </p:txBody>
      </p:sp>
      <p:sp>
        <p:nvSpPr>
          <p:cNvPr id="816" name="X816"/>
          <p:cNvSpPr txBox="1"/>
          <p:nvPr/>
        </p:nvSpPr>
        <p:spPr>
          <a:xfrm>
            <a:off x="903427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 xml:space="preserve">Participación minoritaria, sin veto sobre la operativa diaria: la gestión sigue en manos del equipo fundador.</a:t>
            </a:r>
          </a:p>
        </p:txBody>
      </p:sp>
      <p:sp>
        <p:nvSpPr>
          <p:cNvPr id="817" name="X817"/>
          <p:cNvSpPr txBox="1"/>
          <p:nvPr/>
        </p:nvSpPr>
        <p:spPr>
          <a:xfrm>
            <a:off x="777240" y="4261104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QUÉ COBRA EL INVERSOR EN LA SALIDA  ·  POR SUS 100.000 €</a:t>
            </a:r>
          </a:p>
        </p:txBody>
      </p:sp>
      <p:sp>
        <p:nvSpPr>
          <p:cNvPr id="818" name="X818"/>
          <p:cNvSpPr txBox="1"/>
          <p:nvPr/>
        </p:nvSpPr>
        <p:spPr>
          <a:xfrm>
            <a:off x="777240" y="449884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3A453F"/>
                </a:solidFill>
                <a:latin typeface="Arial"/>
              </a:rPr>
              <a:t>Conservador</a:t>
            </a:r>
          </a:p>
        </p:txBody>
      </p:sp>
      <p:sp>
        <p:nvSpPr>
          <p:cNvPr id="819" name="X819"/>
          <p:cNvSpPr/>
          <p:nvPr/>
        </p:nvSpPr>
        <p:spPr>
          <a:xfrm>
            <a:off x="2103120" y="4498848"/>
            <a:ext cx="1841408" cy="201168"/>
          </a:xfrm>
          <a:prstGeom prst="roundRect">
            <a:avLst>
              <a:gd name="adj" fmla="val 16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" name="X820"/>
          <p:cNvSpPr txBox="1"/>
          <p:nvPr/>
        </p:nvSpPr>
        <p:spPr>
          <a:xfrm>
            <a:off x="4072544" y="4498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3A453F"/>
                </a:solidFill>
                <a:latin typeface="Arial"/>
              </a:rPr>
              <a:t>150 k€  ·  1,5× por el suelo</a:t>
            </a:r>
          </a:p>
        </p:txBody>
      </p:sp>
      <p:sp>
        <p:nvSpPr>
          <p:cNvPr id="821" name="X821"/>
          <p:cNvSpPr txBox="1"/>
          <p:nvPr/>
        </p:nvSpPr>
        <p:spPr>
          <a:xfrm>
            <a:off x="777240" y="47731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Base</a:t>
            </a:r>
          </a:p>
        </p:txBody>
      </p:sp>
      <p:sp>
        <p:nvSpPr>
          <p:cNvPr id="822" name="X822"/>
          <p:cNvSpPr/>
          <p:nvPr/>
        </p:nvSpPr>
        <p:spPr>
          <a:xfrm>
            <a:off x="2103120" y="4773168"/>
            <a:ext cx="4086698" cy="201168"/>
          </a:xfrm>
          <a:prstGeom prst="roundRect">
            <a:avLst>
              <a:gd name="adj" fmla="val 1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X823"/>
          <p:cNvSpPr txBox="1"/>
          <p:nvPr/>
        </p:nvSpPr>
        <p:spPr>
          <a:xfrm>
            <a:off x="6317834" y="477316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333 k€  ·  3,3×</a:t>
            </a:r>
          </a:p>
        </p:txBody>
      </p:sp>
      <p:sp>
        <p:nvSpPr>
          <p:cNvPr id="824" name="X824"/>
          <p:cNvSpPr txBox="1"/>
          <p:nvPr/>
        </p:nvSpPr>
        <p:spPr>
          <a:xfrm>
            <a:off x="777240" y="504748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3A453F"/>
                </a:solidFill>
                <a:latin typeface="Arial"/>
              </a:rPr>
              <a:t>Optimista</a:t>
            </a:r>
          </a:p>
        </p:txBody>
      </p:sp>
      <p:sp>
        <p:nvSpPr>
          <p:cNvPr id="825" name="X825"/>
          <p:cNvSpPr/>
          <p:nvPr/>
        </p:nvSpPr>
        <p:spPr>
          <a:xfrm>
            <a:off x="2103120" y="5047488"/>
            <a:ext cx="6766560" cy="201168"/>
          </a:xfrm>
          <a:prstGeom prst="roundRect">
            <a:avLst>
              <a:gd name="adj" fmla="val 16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" name="X826"/>
          <p:cNvSpPr txBox="1"/>
          <p:nvPr/>
        </p:nvSpPr>
        <p:spPr>
          <a:xfrm>
            <a:off x="8997696" y="50474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C25A12"/>
                </a:solidFill>
                <a:latin typeface="Arial"/>
              </a:rPr>
              <a:t>551 k€  ·  5,5×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VISIÓN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MÁS ALLÁ DEL MICROBROTE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Rootflow es la primera OpCo.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No la última.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Primero el core: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cada nueva pata se abre con caja y cashflow, en su propia OpCo, sin distraer el plan de Rootflow.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951" name="X951"/>
          <p:cNvSpPr/>
          <p:nvPr/>
        </p:nvSpPr>
        <p:spPr>
          <a:xfrm>
            <a:off x="777240" y="2414016"/>
            <a:ext cx="10607040" cy="347472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" name="X952"/>
          <p:cNvSpPr txBox="1"/>
          <p:nvPr/>
        </p:nvSpPr>
        <p:spPr>
          <a:xfrm>
            <a:off x="777240" y="2414016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 spc="200">
                <a:solidFill>
                  <a:srgbClr val="FCF1ED"/>
                </a:solidFill>
                <a:latin typeface="Arial"/>
              </a:rPr>
              <a:t>HOLDING</a:t>
            </a:r>
            <a:r>
              <a:rPr lang="es-ES" sz="950" b="0" i="0">
                <a:solidFill>
                  <a:srgbClr val="D8ECDF"/>
                </a:solidFill>
                <a:latin typeface="Arial"/>
              </a:rPr>
              <a:t>   ·   estrategia, capital y adquisiciones   ·   cada proyecto, su propia OpCo</a:t>
            </a:r>
          </a:p>
        </p:txBody>
      </p:sp>
      <p:sp>
        <p:nvSpPr>
          <p:cNvPr id="953" name="X953"/>
          <p:cNvSpPr/>
          <p:nvPr/>
        </p:nvSpPr>
        <p:spPr>
          <a:xfrm>
            <a:off x="6073902" y="2761488"/>
            <a:ext cx="13716" cy="9144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" name="X954"/>
          <p:cNvSpPr/>
          <p:nvPr/>
        </p:nvSpPr>
        <p:spPr>
          <a:xfrm>
            <a:off x="2034540" y="2852928"/>
            <a:ext cx="8092440" cy="13716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" name="X955"/>
          <p:cNvSpPr/>
          <p:nvPr/>
        </p:nvSpPr>
        <p:spPr>
          <a:xfrm>
            <a:off x="202768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" name="X956"/>
          <p:cNvSpPr/>
          <p:nvPr/>
        </p:nvSpPr>
        <p:spPr>
          <a:xfrm>
            <a:off x="472516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" name="X957"/>
          <p:cNvSpPr/>
          <p:nvPr/>
        </p:nvSpPr>
        <p:spPr>
          <a:xfrm>
            <a:off x="742264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" name="X958"/>
          <p:cNvSpPr/>
          <p:nvPr/>
        </p:nvSpPr>
        <p:spPr>
          <a:xfrm>
            <a:off x="1012012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" name="X959"/>
          <p:cNvSpPr/>
          <p:nvPr/>
        </p:nvSpPr>
        <p:spPr>
          <a:xfrm>
            <a:off x="77724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960" name="X960"/>
          <p:cNvSpPr txBox="1"/>
          <p:nvPr/>
        </p:nvSpPr>
        <p:spPr>
          <a:xfrm>
            <a:off x="94183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OPCO 1  ·  HOY</a:t>
            </a:r>
          </a:p>
        </p:txBody>
      </p:sp>
      <p:sp>
        <p:nvSpPr>
          <p:cNvPr id="961" name="X961"/>
          <p:cNvSpPr txBox="1"/>
          <p:nvPr/>
        </p:nvSpPr>
        <p:spPr>
          <a:xfrm>
            <a:off x="94183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FCF1ED"/>
                </a:solidFill>
                <a:latin typeface="Arial"/>
              </a:rPr>
              <a:t>Rootflow</a:t>
            </a:r>
          </a:p>
        </p:txBody>
      </p:sp>
      <p:sp>
        <p:nvSpPr>
          <p:cNvPr id="962" name="X962"/>
          <p:cNvSpPr txBox="1"/>
          <p:nvPr/>
        </p:nvSpPr>
        <p:spPr>
          <a:xfrm>
            <a:off x="94183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D8ECDF"/>
                </a:solidFill>
                <a:latin typeface="Arial"/>
              </a:rPr>
              <a:t>Microbrotes vivos para restauración y distribución: poco capital, skin in the game y caja recurrente.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1" i="0">
                <a:solidFill>
                  <a:srgbClr val="FCF1ED"/>
                </a:solidFill>
                <a:latin typeface="Arial"/>
              </a:rPr>
              <a:t>Siguiente paso: </a:t>
            </a:r>
            <a:r>
              <a:rPr lang="es-ES" sz="830" b="0" i="0">
                <a:solidFill>
                  <a:srgbClr val="D8ECDF"/>
                </a:solidFill>
                <a:latin typeface="Arial"/>
              </a:rPr>
              <a:t>hubs urbanos en Salamanca, Chamberí y centro, con riders para la última milla.</a:t>
            </a:r>
          </a:p>
        </p:txBody>
      </p:sp>
      <p:sp>
        <p:nvSpPr>
          <p:cNvPr id="963" name="X963"/>
          <p:cNvSpPr/>
          <p:nvPr/>
        </p:nvSpPr>
        <p:spPr>
          <a:xfrm>
            <a:off x="347472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4" name="X964"/>
          <p:cNvSpPr txBox="1"/>
          <p:nvPr/>
        </p:nvSpPr>
        <p:spPr>
          <a:xfrm>
            <a:off x="363931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PATA 2  ·  GROWERS</a:t>
            </a:r>
          </a:p>
        </p:txBody>
      </p:sp>
      <p:sp>
        <p:nvSpPr>
          <p:cNvPr id="965" name="X965"/>
          <p:cNvSpPr txBox="1"/>
          <p:nvPr/>
        </p:nvSpPr>
        <p:spPr>
          <a:xfrm>
            <a:off x="363931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Semillas y Seed Mats</a:t>
            </a:r>
          </a:p>
        </p:txBody>
      </p:sp>
      <p:sp>
        <p:nvSpPr>
          <p:cNvPr id="966" name="X966"/>
          <p:cNvSpPr txBox="1"/>
          <p:nvPr/>
        </p:nvSpPr>
        <p:spPr>
          <a:xfrm>
            <a:off x="363931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Distribución de semilla especializada: nueva línea de ingresos y compra directa de nuestro principal coste.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Seed Mats biodegradables con la semilla ya distribuida y máquinas de siembra, para granjas (B2B) y kits retail vía e-commerce.</a:t>
            </a:r>
          </a:p>
        </p:txBody>
      </p:sp>
      <p:sp>
        <p:nvSpPr>
          <p:cNvPr id="967" name="X967"/>
          <p:cNvSpPr/>
          <p:nvPr/>
        </p:nvSpPr>
        <p:spPr>
          <a:xfrm>
            <a:off x="617220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8" name="X968"/>
          <p:cNvSpPr txBox="1"/>
          <p:nvPr/>
        </p:nvSpPr>
        <p:spPr>
          <a:xfrm>
            <a:off x="633679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PATA 3  ·  NUTRICIÓN</a:t>
            </a:r>
          </a:p>
        </p:txBody>
      </p:sp>
      <p:sp>
        <p:nvSpPr>
          <p:cNvPr id="969" name="X969"/>
          <p:cNvSpPr txBox="1"/>
          <p:nvPr/>
        </p:nvSpPr>
        <p:spPr>
          <a:xfrm>
            <a:off x="633679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Microgreens en polvo</a:t>
            </a:r>
          </a:p>
        </p:txBody>
      </p:sp>
      <p:sp>
        <p:nvSpPr>
          <p:cNvPr id="970" name="X970"/>
          <p:cNvSpPr txBox="1"/>
          <p:nvPr/>
        </p:nvSpPr>
        <p:spPr>
          <a:xfrm>
            <a:off x="633679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Excedentes y mermas, deshidratados o liofilizados: un suplemento nutricional de marca propia, concepto tipo AG1.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Larga vida útil, sin presión logística y con canal online propio.</a:t>
            </a:r>
          </a:p>
        </p:txBody>
      </p:sp>
      <p:sp>
        <p:nvSpPr>
          <p:cNvPr id="971" name="X971"/>
          <p:cNvSpPr/>
          <p:nvPr/>
        </p:nvSpPr>
        <p:spPr>
          <a:xfrm>
            <a:off x="886968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CF1ED"/>
          </a:solidFill>
          <a:ln w="12700">
            <a:solidFill>
              <a:srgbClr val="8A827B"/>
            </a:solidFill>
            <a:prstDash val="dash"/>
          </a:ln>
        </p:spPr>
        <p:txBody>
          <a:bodyPr/>
          <a:lstStyle/>
          <a:p/>
        </p:txBody>
      </p:sp>
      <p:sp>
        <p:nvSpPr>
          <p:cNvPr id="972" name="X972"/>
          <p:cNvSpPr txBox="1"/>
          <p:nvPr/>
        </p:nvSpPr>
        <p:spPr>
          <a:xfrm>
            <a:off x="903427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8A827B"/>
                </a:solidFill>
                <a:latin typeface="Arial"/>
              </a:rPr>
              <a:t>PATA N  ·  INORGÁNICO</a:t>
            </a:r>
          </a:p>
        </p:txBody>
      </p:sp>
      <p:sp>
        <p:nvSpPr>
          <p:cNvPr id="973" name="X973"/>
          <p:cNvSpPr txBox="1"/>
          <p:nvPr/>
        </p:nvSpPr>
        <p:spPr>
          <a:xfrm>
            <a:off x="903427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Nuevas OpCos</a:t>
            </a:r>
          </a:p>
        </p:txBody>
      </p:sp>
      <p:sp>
        <p:nvSpPr>
          <p:cNvPr id="974" name="X974"/>
          <p:cNvSpPr txBox="1"/>
          <p:nvPr/>
        </p:nvSpPr>
        <p:spPr>
          <a:xfrm>
            <a:off x="903427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Adquisiciones en las patas que ya tengamos o en otras nuevas.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Cada proyecto, su propia OpCo bajo el holding: riesgo aislado y financiación a medida.</a:t>
            </a:r>
          </a:p>
        </p:txBody>
      </p:sp>
      <p:sp>
        <p:nvSpPr>
          <p:cNvPr id="975" name="X975"/>
          <p:cNvSpPr/>
          <p:nvPr/>
        </p:nvSpPr>
        <p:spPr>
          <a:xfrm>
            <a:off x="777240" y="4864608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" name="X976"/>
          <p:cNvSpPr txBox="1"/>
          <p:nvPr/>
        </p:nvSpPr>
        <p:spPr>
          <a:xfrm>
            <a:off x="960120" y="48646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Sinergias:  </a:t>
            </a:r>
            <a:r>
              <a:rPr lang="es-ES" sz="900" b="0" i="0">
                <a:solidFill>
                  <a:srgbClr val="2C5F47"/>
                </a:solidFill>
                <a:latin typeface="Arial"/>
              </a:rPr>
              <a:t>todas las patas comparten know-how de cultivo, ERP, clientes y marca. La semilla baja nuestro coste; el polvo convierte la merma en margen.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1931</Words>
  <Application>Microsoft Office PowerPoint</Application>
  <PresentationFormat>Panorámica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Domecq Vergara</cp:lastModifiedBy>
  <cp:revision>8</cp:revision>
  <dcterms:created xsi:type="dcterms:W3CDTF">2013-01-27T09:14:16Z</dcterms:created>
  <dcterms:modified xsi:type="dcterms:W3CDTF">2026-06-10T15:19:06Z</dcterms:modified>
  <cp:category/>
</cp:coreProperties>
</file>