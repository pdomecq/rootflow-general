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70" r:id="rId4"/>
    <p:sldId id="273" r:id="rId23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74" r:id="rId24"/>
    <p:sldId id="267" r:id="rId14"/>
    <p:sldId id="279" r:id="rId29"/>
    <p:sldId id="280" r:id="rId30"/>
    <p:sldId id="271" r:id="rId21"/>
    <p:sldId id="272" r:id="rId22"/>
    <p:sldId id="275" r:id="rId25"/>
    <p:sldId id="276" r:id="rId26"/>
    <p:sldId id="277" r:id="rId27"/>
    <p:sldId id="278" r:id="rId28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0" d="100"/>
          <a:sy n="150" d="100"/>
        </p:scale>
        <p:origin x="2886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1" Type="http://schemas.openxmlformats.org/officeDocument/2006/relationships/slide" Target="slides/slide16.xml"/><Relationship Id="rId22" Type="http://schemas.openxmlformats.org/officeDocument/2006/relationships/slide" Target="slides/slide17.xml"/>  <Relationship Id="rId23" Type="http://schemas.openxmlformats.org/officeDocument/2006/relationships/slide" Target="slides/slide18.xml"/>
  <Relationship Id="rId24" Type="http://schemas.openxmlformats.org/officeDocument/2006/relationships/slide" Target="slides/slide19.xml"/>
  <Relationship Id="rId25" Type="http://schemas.openxmlformats.org/officeDocument/2006/relationships/slide" Target="slides/slide20.xml"/>
  <Relationship Id="rId26" Type="http://schemas.openxmlformats.org/officeDocument/2006/relationships/slide" Target="slides/slide21.xml"/>
  <Relationship Id="rId27" Type="http://schemas.openxmlformats.org/officeDocument/2006/relationships/slide" Target="slides/slide22.xml"/>
  <Relationship Id="rId28" Type="http://schemas.openxmlformats.org/officeDocument/2006/relationships/slide" Target="slides/slide23.xml"/>
  <Relationship Id="rId29" Type="http://schemas.openxmlformats.org/officeDocument/2006/relationships/slide" Target="slides/slide24.xml"/>
  <Relationship Id="rId30" Type="http://schemas.openxmlformats.org/officeDocument/2006/relationships/slide" Target="slides/slide25.xml"/>
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4.png"/><Relationship Id="rId4" Type="http://schemas.openxmlformats.org/officeDocument/2006/relationships/image" Target="../media/image11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?>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2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1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4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5.xml.rels><?xml version="1.0" encoding="UTF-8"?>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9" Type="http://schemas.openxmlformats.org/officeDocument/2006/relationships/image" Target="../media/mapa_zonas_v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0" y="9144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1DD953D5-D3C3-C25A-3B9E-6A4553368A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497324" y="1063809"/>
            <a:ext cx="1167327" cy="1167327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>
                <a:solidFill>
                  <a:srgbClr val="2C5F47"/>
                </a:solidFill>
                <a:latin typeface="Arial"/>
              </a:rPr>
              <a:t>DOSSIER DE PRESENTACIÓN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10362895" cy="1737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1D4F37"/>
                </a:solidFill>
                <a:latin typeface="Arial"/>
              </a:rPr>
              <a:t>Microbrotes vivos,</a:t>
            </a:r>
          </a:p>
          <a:p>
            <a:pPr algn="ctr">
              <a:lnSpc>
                <a:spcPct val="104000"/>
              </a:lnSpc>
            </a:pPr>
            <a:r>
              <a:rPr sz="4600" b="1" i="0">
                <a:solidFill>
                  <a:srgbClr val="ED7E1F"/>
                </a:solidFill>
                <a:latin typeface="Arial"/>
              </a:rPr>
              <a:t>cultivados en Madrid.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97680"/>
            <a:ext cx="10362895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3A453F"/>
                </a:solidFill>
                <a:latin typeface="Arial"/>
              </a:rPr>
              <a:t>Hidroponía de precisión · Cosecha viva bajo pedido · KM 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98348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25780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1250" b="1" i="0" spc="260" dirty="0">
                <a:solidFill>
                  <a:srgbClr val="2C5F47"/>
                </a:solidFill>
                <a:latin typeface="Arial"/>
              </a:rPr>
              <a:t xml:space="preserve">OCTUBRE 2026</a:t>
            </a:r>
            <a:endParaRPr sz="1250" b="1" i="0" spc="260" dirty="0">
              <a:solidFill>
                <a:srgbClr val="2C5F47"/>
              </a:solidFill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SOBRE NOSOTROS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QUIÉNES SOMOS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>Cultivamos como artesanos.</a:t>
            </a:r>
          </a:p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ED7E1F"/>
                </a:solidFill>
                <a:latin typeface="Arial"/>
              </a:rPr>
              <a:t>Operamos como una empresa.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71800"/>
            <a:ext cx="5943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>Rootflow Hydroponics nace en Madrid en 2026 con una idea simple: que la cocina profesional reciba el microbrote vivo, en su mejor momento, horas después del corte.</a:t>
            </a:r>
          </a:p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>
                <a:solidFill>
                  <a:srgbClr val="3A453F"/>
                </a:solidFill>
                <a:latin typeface="Arial"/>
              </a:rPr>
              <a:t>Cultivamos con hidroponía LED de precisión y cosechamos solo bajo pedido, para distribución, mayoristas y restauración. Sin stock, sin merma y siempre a medida.</a:t>
            </a:r>
          </a:p>
        </p:txBody>
      </p:sp>
      <p:pic>
        <p:nvPicPr>
          <p:cNvPr id="9" name="Picture 8" descr="pink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417320"/>
            <a:ext cx="329184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KM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PRODUCIDO EN MADRID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35858" y="5106670"/>
            <a:ext cx="2224278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+ 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>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35858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VARIEDADES EN PRODUCCIÓN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94476" y="5106670"/>
            <a:ext cx="1860804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24</a:t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>–</a:t>
            </a:r>
            <a:r>
              <a:rPr lang="es-ES" sz="27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700" b="1" i="0" dirty="0">
                <a:solidFill>
                  <a:srgbClr val="ED7E1F"/>
                </a:solidFill>
                <a:latin typeface="Arial"/>
              </a:rPr>
              <a:t>48 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4476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DE COSECHA A ENTREGA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53094" y="5106670"/>
            <a:ext cx="1764792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1" i="0" dirty="0">
                <a:solidFill>
                  <a:srgbClr val="ED7E1F"/>
                </a:solidFill>
                <a:latin typeface="Arial"/>
              </a:rPr>
              <a:t>100%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53094" y="5655310"/>
            <a:ext cx="2475738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130">
                <a:solidFill>
                  <a:srgbClr val="2C5F47"/>
                </a:solidFill>
                <a:latin typeface="Arial"/>
              </a:rPr>
              <a:t>ADAPTADO AL CLIENTE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8A6D5305-8B58-EC77-D0C8-14643B7122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403FF5B4-33D5-04E7-678F-B434EAE1C4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96726" y="1428326"/>
            <a:ext cx="4435405" cy="3326554"/>
          </a:xfrm>
          <a:prstGeom prst="round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CONTEXTO DE MERCADO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EL SECTOR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4545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lang="es-ES" sz="3000" b="1" i="0" dirty="0">
                <a:solidFill>
                  <a:srgbClr val="1D4F37"/>
                </a:solidFill>
                <a:latin typeface="Arial"/>
              </a:rPr>
              <a:t xml:space="preserve">Categoría joven, </a:t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 err="1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1D4F37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ED7E1F"/>
                </a:solidFill>
                <a:latin typeface="Arial"/>
              </a:rPr>
              <a:t xml:space="preserve">crecimiento a doble dígito*.</a:t>
            </a:r>
            <a:r>
              <a:rPr sz="300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30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3000" b="1" i="0" dirty="0">
                <a:solidFill>
                  <a:srgbClr val="ED7E1F"/>
                </a:solidFill>
                <a:latin typeface="Arial"/>
              </a:rPr>
              <a:t xml:space="preserve"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95728"/>
            <a:ext cx="5989320" cy="4902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</a:pP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El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microbrote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ya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no es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una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rareza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alta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cocina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: es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una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categoría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global de ~3.000 M$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que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duplicará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su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tamaño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esta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década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 y Europa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lidera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350" b="0" i="0" dirty="0">
                <a:solidFill>
                  <a:srgbClr val="3A453F"/>
                </a:solidFill>
                <a:latin typeface="Arial"/>
              </a:rPr>
              <a:t xml:space="preserve"> mercado.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14878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>— SALUD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52622"/>
            <a:ext cx="5989320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El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microbrote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concentra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hasta 40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veces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más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nutrientes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que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la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hortaliza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adulta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928110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>— PROXIMIDAD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39" y="4165854"/>
            <a:ext cx="6107137" cy="1862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 dirty="0" err="1">
                <a:solidFill>
                  <a:srgbClr val="3A453F"/>
                </a:solidFill>
                <a:latin typeface="Arial"/>
              </a:rPr>
              <a:t>Consumidor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restauración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premian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producto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local, fresco y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sostenible</a:t>
            </a:r>
            <a:r>
              <a:rPr lang="es-ES" sz="1150" dirty="0">
                <a:solidFill>
                  <a:srgbClr val="3A453F"/>
                </a:solidFill>
                <a:latin typeface="Arial"/>
              </a:rPr>
              <a:t>,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corazón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del KM0.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641342"/>
            <a:ext cx="59893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1" i="0" spc="220" dirty="0">
                <a:solidFill>
                  <a:srgbClr val="ED7E1F"/>
                </a:solidFill>
                <a:latin typeface="Arial"/>
              </a:rPr>
              <a:t>— TECNOLOGÍA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79086"/>
            <a:ext cx="59893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 i="0">
                <a:solidFill>
                  <a:srgbClr val="3A453F"/>
                </a:solidFill>
                <a:latin typeface="Arial"/>
              </a:rPr>
              <a:t>El cultivo vertical indoor es el formato que más crece dentro de la categoría (12,5% anual).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168896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~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>3.000 M$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MERCADO GLOBAL</a:t>
            </a:r>
            <a:endParaRPr lang="es-ES" sz="850" b="1" i="0" spc="100" dirty="0">
              <a:solidFill>
                <a:srgbClr val="9BC9AE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32" y="23317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×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>2</a:t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>TAMAÑO PREVISTO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 2031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68896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+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>11%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CRECIMIENTO ANUAL (CAGR)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00032" y="388620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~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>36%</a:t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>CUOTA EUROPA</a:t>
            </a:r>
            <a:endParaRPr lang="es-ES" sz="850" b="1" i="0" spc="100" dirty="0">
              <a:solidFill>
                <a:srgbClr val="2C5F47"/>
              </a:solidFill>
              <a:latin typeface="Arial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77240" y="5440680"/>
            <a:ext cx="10634472" cy="566928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 dirty="0" err="1">
                <a:solidFill>
                  <a:srgbClr val="FCF1ED"/>
                </a:solidFill>
                <a:latin typeface="Arial"/>
              </a:rPr>
              <a:t>Rootflow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opera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en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el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cruce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exacto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de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estas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 </a:t>
            </a:r>
            <a:r>
              <a:rPr sz="1250" b="1" i="0" dirty="0" err="1">
                <a:solidFill>
                  <a:srgbClr val="FCF1ED"/>
                </a:solidFill>
                <a:latin typeface="Arial"/>
              </a:rPr>
              <a:t>tendencias</a:t>
            </a:r>
            <a:r>
              <a:rPr sz="1250" b="1" i="0" dirty="0">
                <a:solidFill>
                  <a:srgbClr val="FCF1ED"/>
                </a:solidFill>
                <a:latin typeface="Arial"/>
              </a:rPr>
              <a:t xml:space="preserve">:  </a:t>
            </a:r>
            <a:r>
              <a:rPr lang="es-ES" sz="1250" dirty="0">
                <a:solidFill>
                  <a:srgbClr val="D8ECDF"/>
                </a:solidFill>
                <a:latin typeface="Arial"/>
              </a:rPr>
              <a:t>M</a:t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>icrobrote</a:t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> premium, </a:t>
            </a:r>
            <a:r>
              <a:rPr sz="1250" b="0" i="0" dirty="0" err="1">
                <a:solidFill>
                  <a:srgbClr val="D8ECDF"/>
                </a:solidFill>
                <a:latin typeface="Arial"/>
              </a:rPr>
              <a:t>cultivo</a:t>
            </a:r>
            <a:r>
              <a:rPr sz="1250" b="0" i="0" dirty="0">
                <a:solidFill>
                  <a:srgbClr val="D8ECDF"/>
                </a:solidFill>
                <a:latin typeface="Arial"/>
              </a:rPr>
              <a:t xml:space="preserve"> vertical y KM 0.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089905"/>
            <a:ext cx="10607040" cy="13080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850" b="0" i="1" dirty="0">
                <a:solidFill>
                  <a:srgbClr val="8A827B"/>
                </a:solidFill>
                <a:latin typeface="Arial"/>
              </a:rPr>
              <a:t xml:space="preserve">* </a:t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>Fuentes: Mordor Intelligence, Microgreens Market Report (</a:t>
            </a:r>
            <a:r>
              <a:rPr sz="850" b="0" i="1" dirty="0" err="1">
                <a:solidFill>
                  <a:srgbClr val="8A827B"/>
                </a:solidFill>
                <a:latin typeface="Arial"/>
              </a:rPr>
              <a:t>ene</a:t>
            </a:r>
            <a:r>
              <a:rPr sz="850" b="0" i="1" dirty="0">
                <a:solidFill>
                  <a:srgbClr val="8A827B"/>
                </a:solidFill>
                <a:latin typeface="Arial"/>
              </a:rPr>
              <a:t>. 2026) · Grand View Research, Microgreens Market Analysis (2023).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32764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400800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400800"/>
            <a:ext cx="4736592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D20F61E5-EB05-75A2-2AA1-934A10B427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Imagen 9" descr="Foto montaje de la cara de un hombre serio  El contenido generado por IA puede ser incorrecto.">
            <a:extLst>
              <a:ext uri="{FF2B5EF4-FFF2-40B4-BE49-F238E27FC236}">
                <a16:creationId xmlns:a16="http://schemas.microsoft.com/office/drawing/2014/main" id="{F74BCA9C-1A37-9992-3A15-5C8239900F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6360" y="2511923"/>
            <a:ext cx="1144800" cy="1144800"/>
          </a:xfrm>
          <a:prstGeom prst="flowChartConnector">
            <a:avLst/>
          </a:prstGeom>
          <a:ln>
            <a:solidFill>
              <a:schemeClr val="bg2">
                <a:lumMod val="40000"/>
                <a:lumOff val="60000"/>
              </a:schemeClr>
            </a:solidFill>
          </a:ln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65A27087-FE0E-1E79-77A6-D1B791916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3140" y="25146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0" name="Imagen 29">
            <a:extLst>
              <a:ext uri="{FF2B5EF4-FFF2-40B4-BE49-F238E27FC236}">
                <a16:creationId xmlns:a16="http://schemas.microsoft.com/office/drawing/2014/main" id="{1FEA949A-ECCE-A2EF-2F98-4066616493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31888" y="2512800"/>
            <a:ext cx="1144800" cy="1144800"/>
          </a:xfrm>
          <a:prstGeom prst="ellipse">
            <a:avLst/>
          </a:prstGeom>
          <a:solidFill>
            <a:srgbClr val="1D4F37"/>
          </a:solidFill>
          <a:ln>
            <a:noFill/>
          </a:ln>
          <a:effectLst/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EL EQUIPO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 dirty="0">
                <a:solidFill>
                  <a:srgbClr val="ED7E1F"/>
                </a:solidFill>
                <a:latin typeface="Arial"/>
              </a:rPr>
              <a:t xml:space="preserve">QUIÉNES </a:t>
            </a:r>
            <a:r>
              <a:rPr lang="es-ES" sz="1150" b="1" i="0" spc="260" dirty="0">
                <a:solidFill>
                  <a:srgbClr val="ED7E1F"/>
                </a:solidFill>
                <a:latin typeface="Arial"/>
              </a:rPr>
              <a:t>SOMOS</a:t>
            </a:r>
            <a:endParaRPr sz="115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5001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 dirty="0">
                <a:solidFill>
                  <a:srgbClr val="1D4F37"/>
                </a:solidFill>
                <a:latin typeface="Arial"/>
              </a:rPr>
              <a:t xml:space="preserve">Tres </a:t>
            </a:r>
            <a:r>
              <a:rPr sz="3100" b="1" i="0" dirty="0" err="1">
                <a:solidFill>
                  <a:srgbClr val="1D4F37"/>
                </a:solidFill>
                <a:latin typeface="Arial"/>
              </a:rPr>
              <a:t>socios</a:t>
            </a:r>
            <a:r>
              <a:rPr sz="3100" b="1" i="0" dirty="0">
                <a:solidFill>
                  <a:srgbClr val="1D4F37"/>
                </a:solidFill>
                <a:latin typeface="Arial"/>
              </a:rPr>
              <a:t xml:space="preserve">,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>tres</a:t>
            </a:r>
            <a:r>
              <a:rPr sz="3300" b="1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>frentes</a:t>
            </a:r>
            <a:r>
              <a:rPr sz="3300" b="1" dirty="0">
                <a:solidFill>
                  <a:srgbClr val="ED7E1F"/>
                </a:solidFill>
                <a:latin typeface="Arial"/>
              </a:rPr>
              <a:t xml:space="preserve"> </a:t>
            </a:r>
            <a:r>
              <a:rPr sz="3300" b="1" dirty="0" err="1">
                <a:solidFill>
                  <a:srgbClr val="ED7E1F"/>
                </a:solidFill>
                <a:latin typeface="Arial"/>
              </a:rPr>
              <a:t>cubiertos</a:t>
            </a:r>
            <a:r>
              <a:rPr sz="3300" b="1" dirty="0">
                <a:solidFill>
                  <a:srgbClr val="ED7E1F"/>
                </a:solidFill>
                <a:latin typeface="Arial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Vergara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95960" y="4416552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>ADMINISTRACIÓN &amp; FINANZAS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3543" y="4737468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ADE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(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ICADE) </a:t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>T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rayectoria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consultoría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estratégica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Fusiones &amp; Adquisiciones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.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Gestión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finan</a:t>
            </a:r>
            <a:r>
              <a:rPr lang="es-ES" sz="1250" b="0" i="0" dirty="0" err="1">
                <a:solidFill>
                  <a:srgbClr val="3A453F"/>
                </a:solidFill>
                <a:latin typeface="Arial"/>
              </a:rPr>
              <a:t>ciera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administración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estructura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societaria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1416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Nicolás Bustamante</a:t>
            </a:r>
            <a:r>
              <a:rPr lang="es-ES" sz="1650" b="1" i="0" dirty="0">
                <a:solidFill>
                  <a:srgbClr val="1D4F37"/>
                </a:solidFill>
                <a:latin typeface="Arial"/>
              </a:rPr>
              <a:t xml:space="preserve"> Thams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572000" y="4421124"/>
            <a:ext cx="3310128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>COMERCIAL &amp; HOSTELERÍA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50323" y="4732020"/>
            <a:ext cx="2710434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>ADE (Richmond University)</a:t>
            </a: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>Trayectoria en d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esarrollo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negocio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HORECA.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Gestión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relaci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ones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con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restaurantes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,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distribuidores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la apertura de mercado.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65592" y="3840480"/>
            <a:ext cx="3310128" cy="25391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>Domingo de G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uzmán</a:t>
            </a:r>
            <a:r>
              <a:rPr lang="es-ES" sz="1650" b="1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lang="es-ES" sz="1650" b="1" dirty="0" err="1">
                <a:solidFill>
                  <a:srgbClr val="1D4F37"/>
                </a:solidFill>
                <a:latin typeface="Arial"/>
              </a:rPr>
              <a:t>Greus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285912" y="4416552"/>
            <a:ext cx="331012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ED7E1F"/>
                </a:solidFill>
                <a:latin typeface="Arial"/>
              </a:rPr>
              <a:t>PRODUCCIÓN &amp; AGR</a:t>
            </a:r>
            <a:r>
              <a:rPr lang="es-ES" sz="1000" b="1" i="0" spc="260" dirty="0">
                <a:solidFill>
                  <a:srgbClr val="ED7E1F"/>
                </a:solidFill>
                <a:latin typeface="Arial"/>
              </a:rPr>
              <a:t>ÍCOLA</a:t>
            </a:r>
            <a:endParaRPr sz="1000" b="1" i="0" spc="260" dirty="0">
              <a:solidFill>
                <a:srgbClr val="ED7E1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65592" y="4727448"/>
            <a:ext cx="2794508" cy="11842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400"/>
              </a:spcAft>
            </a:pP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>Ingeniero Agrónomo 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(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UPM)</a:t>
            </a:r>
            <a:endParaRPr lang="es-ES" sz="1250" dirty="0">
              <a:solidFill>
                <a:srgbClr val="3A453F"/>
              </a:solidFill>
              <a:latin typeface="Arial"/>
            </a:endParaRPr>
          </a:p>
          <a:p>
            <a:pPr algn="just">
              <a:lnSpc>
                <a:spcPct val="120000"/>
              </a:lnSpc>
              <a:spcAft>
                <a:spcPts val="400"/>
              </a:spcAft>
            </a:pPr>
            <a:r>
              <a:rPr lang="es-ES" sz="1250" dirty="0">
                <a:solidFill>
                  <a:srgbClr val="3A453F"/>
                </a:solidFill>
                <a:latin typeface="Arial"/>
              </a:rPr>
              <a:t xml:space="preserve">Formación en automatización con IA y Arduino de invernaderos.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Gestión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de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cultivo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, I+D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variedades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y la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operativa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>producción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1B4DD586-3912-993E-7C9A-7312696254F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">
            <a:extLst>
              <a:ext uri="{FF2B5EF4-FFF2-40B4-BE49-F238E27FC236}">
                <a16:creationId xmlns:a16="http://schemas.microsoft.com/office/drawing/2014/main" id="{DBB50B5D-2AF7-22D9-FDB0-733514B44D66}"/>
              </a:ext>
            </a:extLst>
          </p:cNvPr>
          <p:cNvSpPr/>
          <p:nvPr/>
        </p:nvSpPr>
        <p:spPr>
          <a:xfrm>
            <a:off x="30632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PRODUCTO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QUÉ HACEMOS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400800" cy="103842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 err="1">
                <a:solidFill>
                  <a:srgbClr val="1D4F37"/>
                </a:solidFill>
                <a:latin typeface="Arial"/>
              </a:rPr>
              <a:t>Pocos</a:t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sz="3300" b="1" i="0" dirty="0" err="1">
                <a:solidFill>
                  <a:srgbClr val="1D4F37"/>
                </a:solidFill>
                <a:latin typeface="Arial"/>
              </a:rPr>
              <a:t>gramos</a:t>
            </a:r>
            <a:r>
              <a:rPr sz="3300" b="1" i="0" dirty="0">
                <a:solidFill>
                  <a:srgbClr val="1D4F37"/>
                </a:solidFill>
                <a:latin typeface="Arial"/>
              </a:rPr>
              <a:t>.</a:t>
            </a:r>
          </a:p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Mucho </a:t>
            </a:r>
            <a:r>
              <a:rPr lang="es-ES" sz="3300" b="1" i="0" dirty="0">
                <a:solidFill>
                  <a:srgbClr val="ED7E1F"/>
                </a:solidFill>
                <a:latin typeface="Arial"/>
              </a:rPr>
              <a:t>valor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5943600" cy="1096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50" b="0" i="0" dirty="0" err="1">
                <a:solidFill>
                  <a:srgbClr val="3A453F"/>
                </a:solidFill>
                <a:latin typeface="Arial"/>
              </a:rPr>
              <a:t>Microbrotes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y flores comestibles de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máxima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frescura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cosechados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su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punto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exacto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sabor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, aroma y color.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Producto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de bajo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gramaje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altísimo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valor: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unos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pocos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gramos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cambian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un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plato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 y la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percepción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toda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50" b="0" i="0" dirty="0" err="1">
                <a:solidFill>
                  <a:srgbClr val="3A453F"/>
                </a:solidFill>
                <a:latin typeface="Arial"/>
              </a:rPr>
              <a:t>una</a:t>
            </a:r>
            <a:r>
              <a:rPr sz="1450" b="0" i="0" dirty="0">
                <a:solidFill>
                  <a:srgbClr val="3A453F"/>
                </a:solidFill>
                <a:latin typeface="Arial"/>
              </a:rPr>
              <a:t xml:space="preserve"> carta.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48056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14 + 5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variedades en producción, y cinco más en desarrollo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5–100 g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cualquier gramaje: bandeja viva, granel o monodosis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486400"/>
            <a:ext cx="603504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ED7E1F"/>
                </a:solidFill>
                <a:latin typeface="Arial"/>
              </a:rPr>
              <a:t xml:space="preserve">6–10 días   </a:t>
            </a:r>
            <a:r>
              <a:rPr sz="1350" b="0" i="0">
                <a:solidFill>
                  <a:srgbClr val="3A453F"/>
                </a:solidFill>
                <a:latin typeface="Arial"/>
              </a:rPr>
              <a:t>de vida útil según variedad, gracias al corte en vivo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AE32DF22-DD28-A80B-9EDA-45C8D3FD1F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2" name="CuadroTexto 21">
            <a:extLst>
              <a:ext uri="{FF2B5EF4-FFF2-40B4-BE49-F238E27FC236}">
                <a16:creationId xmlns:a16="http://schemas.microsoft.com/office/drawing/2014/main" id="{8C503205-90E0-92C0-9335-E5DC33F326E7}"/>
              </a:ext>
            </a:extLst>
          </p:cNvPr>
          <p:cNvSpPr txBox="1"/>
          <p:nvPr/>
        </p:nvSpPr>
        <p:spPr>
          <a:xfrm>
            <a:off x="3047215" y="3246690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s-ES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643EF81A-FD04-F374-2C11-B17AEF0739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2470" r="16076"/>
          <a:stretch>
            <a:fillRect/>
          </a:stretch>
        </p:blipFill>
        <p:spPr>
          <a:xfrm>
            <a:off x="7258882" y="1450965"/>
            <a:ext cx="4125398" cy="4330113"/>
          </a:xfrm>
          <a:prstGeom prst="snip2Diag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PROPUESTA DE VALOR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POR QUÉ ROOTFLOW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Producto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gourmet</a:t>
            </a:r>
            <a:r>
              <a:rPr sz="3100" b="1" i="0">
                <a:solidFill>
                  <a:srgbClr val="1D4F37"/>
                </a:solidFill>
                <a:latin typeface="Arial"/>
              </a:rPr>
              <a:t xml:space="preserve"> de cercanía,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>sin atajos.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ORIGEN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KM 0 real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Cultivado y entregado en Madrid. Una frescura que el producto importado o de larga distribución no puede igualar.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ESCALA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Estructura ágil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Decisiones rápidas y producción a medida: la agilidad propia de un equipo pequeño y especializado.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CERCANÍA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Origen directo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Trato directo con quien cultiva: respuesta inmediata, transparencia y control real del origen.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IV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COSECHA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Cosecha viva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El producto llega vivo y sigue creciendo. Aroma, color y textura intactos hasta el emplatado.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LA GAMA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VARIEDADES EN PRODUCCIÓN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96012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14 variedades.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Y las que pida el mercado.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Cilantro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Coriandrum sativum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Hinojo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Foeniculum vulgare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Rábano Rojo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Guisante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Pisum sativum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05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Remolacha Amarilla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06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Albahaca Genovesa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07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Cebollino Chino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tuberosum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74920" y="2481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08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Rábano Daikon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2938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09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Albahaca Morada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Ocimum basilicum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33959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10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Remolacha Roja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Beta vulgaris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38531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11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Cebolla Barbra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Allium cepa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43103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12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Mostaza Red Giant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Brassica juncea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47675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13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Rábano Pink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Raphanus sativus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74920" y="5224780"/>
            <a:ext cx="4114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50" b="1" i="0">
                <a:solidFill>
                  <a:srgbClr val="ED7E1F"/>
                </a:solidFill>
                <a:latin typeface="Arial"/>
              </a:rPr>
              <a:t xml:space="preserve">14  </a:t>
            </a:r>
            <a:r>
              <a:rPr sz="1350" b="1" i="0">
                <a:solidFill>
                  <a:srgbClr val="1D4F37"/>
                </a:solidFill>
                <a:latin typeface="Arial"/>
              </a:rPr>
              <a:t>Amaranto Rojo</a:t>
            </a:r>
            <a:r>
              <a:rPr sz="1150" b="0" i="1">
                <a:solidFill>
                  <a:srgbClr val="8A827B"/>
                </a:solidFill>
                <a:latin typeface="Arial"/>
              </a:rPr>
              <a:t xml:space="preserve">  ·  Amaranthus tricolor</a:t>
            </a:r>
          </a:p>
        </p:txBody>
      </p:sp>
      <p:pic>
        <p:nvPicPr>
          <p:cNvPr id="22" name="Picture 21" descr="cebollino_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13064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 descr="cebolla_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3064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4" name="TextBox 23"/>
          <p:cNvSpPr txBox="1"/>
          <p:nvPr/>
        </p:nvSpPr>
        <p:spPr>
          <a:xfrm>
            <a:off x="777240" y="5842762"/>
            <a:ext cx="8595360" cy="1769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>+5 en desarrollo para una micromezcla co-desarrollada</a:t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lang="es-ES"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>  ·  la gama crece con cada cliente.</a:t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150" b="0" i="1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FC4B6E3-EAB7-5CB8-AAB6-D726268574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32" name="Picture 12" descr="rabano_r.png">
            <a:extLst>
              <a:ext uri="{FF2B5EF4-FFF2-40B4-BE49-F238E27FC236}">
                <a16:creationId xmlns:a16="http://schemas.microsoft.com/office/drawing/2014/main" id="{00DCAB08-AA3D-4AEB-F3B1-78D4CDE275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95280" y="2408106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4" name="Picture 14" descr="albahaca_r.png">
            <a:extLst>
              <a:ext uri="{FF2B5EF4-FFF2-40B4-BE49-F238E27FC236}">
                <a16:creationId xmlns:a16="http://schemas.microsoft.com/office/drawing/2014/main" id="{905E74BB-8564-B262-EACA-50B8A8DDDB1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24945" y="4190668"/>
            <a:ext cx="1512000" cy="151200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5EA82E80-4966-428A-FFC5-61419ADC39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7583" y="2652119"/>
            <a:ext cx="668556" cy="668556"/>
          </a:xfrm>
          <a:prstGeom prst="rect">
            <a:avLst/>
          </a:prstGeom>
        </p:spPr>
      </p:pic>
      <p:pic>
        <p:nvPicPr>
          <p:cNvPr id="31" name="Imagen 30">
            <a:extLst>
              <a:ext uri="{FF2B5EF4-FFF2-40B4-BE49-F238E27FC236}">
                <a16:creationId xmlns:a16="http://schemas.microsoft.com/office/drawing/2014/main" id="{15F21B29-1320-3B90-524B-9809EE8352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040" y="2690119"/>
            <a:ext cx="580633" cy="580633"/>
          </a:xfrm>
          <a:prstGeom prst="rect">
            <a:avLst/>
          </a:prstGeom>
        </p:spPr>
      </p:pic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MODELO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CÓMO LO HACEMOS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Cosecha viva,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>cero stock.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 dirty="0">
                <a:solidFill>
                  <a:srgbClr val="1D4F37"/>
                </a:solidFill>
                <a:latin typeface="Arial"/>
              </a:rPr>
              <a:t xml:space="preserve">Bajo </a:t>
            </a:r>
            <a:r>
              <a:rPr sz="1650" b="1" i="0" dirty="0" err="1">
                <a:solidFill>
                  <a:srgbClr val="1D4F37"/>
                </a:solidFill>
                <a:latin typeface="Arial"/>
              </a:rPr>
              <a:t>pedido</a:t>
            </a:r>
            <a:endParaRPr sz="165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Cortamos cuando nos lo pides. Producimos exactamente lo que se va a consumir: cero stock, cero merma, máxima frescura.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>Hidroponía 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Cultivo sin tierra y sin pesticidas, en condiciones controladas. Misma calidad y mismo calibre, las 52 semanas del año.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>Flexibilidad total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De 5 a 100 g; bandeja viva, granel o monodosis. Formato, punto de corte y mezclas a medida de cada cliente.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3469248"/>
            <a:ext cx="2505456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1" i="0">
                <a:solidFill>
                  <a:srgbClr val="1D4F37"/>
                </a:solidFill>
                <a:latin typeface="Arial"/>
              </a:rPr>
              <a:t>Marca blanca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3926448"/>
            <a:ext cx="2505456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Tu etiqueta sobre nuestro producto. El distribuidor pone la marca; nosotros, la calidad y la constancia.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ADF1B8F9-55AE-1CA8-4293-2FC19B11DC4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0756" y="2717182"/>
            <a:ext cx="630930" cy="63093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35B263A2-FD9F-C8A3-2E21-CFE6C99A50B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37716" y="2671462"/>
            <a:ext cx="630930" cy="6309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PROCESO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CÓMO PRODUCIMOS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Del pedido a la mesa,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en seis pasos.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01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Pedido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El cliente define variedad, formato y fecha. Producimos contra demanda real, no contra previsión.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16552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02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Siembra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Bandeja a bandeja, sobre sustrato limpio y con densidad calibrada por variedad.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55864" y="264795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03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Oscuridad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303199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Germinación en blackout (3–7 días) para lograr un brote uniforme y vigoroso.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04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Luz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Crecimiento bajo LED, con riego y clima controlados (2–13 días según variedad).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16552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05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Cosecha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16552" y="4449318"/>
            <a:ext cx="3346704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>
                <a:solidFill>
                  <a:srgbClr val="3A453F"/>
                </a:solidFill>
                <a:latin typeface="Arial"/>
              </a:rPr>
              <a:t>Corte en vivo en el punto justo — o entrega en bandeja viva, sin cortar.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55864" y="4065270"/>
            <a:ext cx="3346704" cy="34747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ED7E1F"/>
                </a:solidFill>
                <a:latin typeface="Arial"/>
              </a:rPr>
              <a:t xml:space="preserve">06   </a:t>
            </a:r>
            <a:r>
              <a:rPr sz="1500" b="1" i="0">
                <a:solidFill>
                  <a:srgbClr val="1D4F37"/>
                </a:solidFill>
                <a:latin typeface="Arial"/>
              </a:rPr>
              <a:t>Entrega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55864" y="4449318"/>
            <a:ext cx="3346704" cy="40517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150" b="0" i="0" dirty="0">
                <a:solidFill>
                  <a:srgbClr val="3A453F"/>
                </a:solidFill>
                <a:latin typeface="Arial"/>
              </a:rPr>
              <a:t>En 24</a:t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>–</a:t>
            </a: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48 h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Madrid,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etiquetado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a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medida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y con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trazabilidad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por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150" b="0" i="0" dirty="0" err="1">
                <a:solidFill>
                  <a:srgbClr val="3A453F"/>
                </a:solidFill>
                <a:latin typeface="Arial"/>
              </a:rPr>
              <a:t>lote</a:t>
            </a:r>
            <a:r>
              <a:rPr sz="115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sp>
        <p:nvSpPr>
          <p:cNvPr id="20" name="Chevron 19"/>
          <p:cNvSpPr/>
          <p:nvPr/>
        </p:nvSpPr>
        <p:spPr>
          <a:xfrm>
            <a:off x="3886200" y="2940558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Chevron 20"/>
          <p:cNvSpPr/>
          <p:nvPr/>
        </p:nvSpPr>
        <p:spPr>
          <a:xfrm>
            <a:off x="7653528" y="299542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Chevron 21"/>
          <p:cNvSpPr/>
          <p:nvPr/>
        </p:nvSpPr>
        <p:spPr>
          <a:xfrm>
            <a:off x="3886200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Chevron 22"/>
          <p:cNvSpPr/>
          <p:nvPr/>
        </p:nvSpPr>
        <p:spPr>
          <a:xfrm>
            <a:off x="7644384" y="4321302"/>
            <a:ext cx="237744" cy="237744"/>
          </a:xfrm>
          <a:prstGeom prst="chevron">
            <a:avLst/>
          </a:prstGeom>
          <a:solidFill>
            <a:srgbClr val="D8C9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Todo el ciclo queda registrado en nuestro ERP: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cada bandeja es trazable de la semilla a la entrega.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OPERACIÓN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PRODUCCIÓN Y CAPACIDAD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Sabemos cuánto producimos,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al gramo.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>Cada variedad tiene su ciclo —germinación en oscuridad y crecimiento en luz— y un rendimiento por bandeja que medimos y registramos. Esa disciplina nos permite comprometer volúmenes y fechas con total fiabilidad.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01568"/>
            <a:ext cx="310896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VARIEDAD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3401568"/>
            <a:ext cx="28346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CICLO (OSCURIDAD + LUZ)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3401568"/>
            <a:ext cx="237744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ROTACIÓN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3401568"/>
            <a:ext cx="22860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120">
                <a:solidFill>
                  <a:srgbClr val="2C5F47"/>
                </a:solidFill>
                <a:latin typeface="Arial"/>
              </a:rPr>
              <a:t>RENDIMIENTO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3730752"/>
            <a:ext cx="10607040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38587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>Rábano · ciclo corto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0" y="3858768"/>
            <a:ext cx="28346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3 + 3 días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20840" y="38587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10 ciclos/mes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8587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245 g / bandeja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77240" y="42611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777240" y="43159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>Cilantro · ciclo medio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86200" y="43988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>5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+ 10 días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4398820"/>
            <a:ext cx="23774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3 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ciclos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>/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mes</a:t>
            </a:r>
            <a:endParaRPr sz="1300" b="0" i="0" dirty="0">
              <a:solidFill>
                <a:srgbClr val="3A453F"/>
              </a:solidFill>
              <a:latin typeface="Arial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98280" y="4398820"/>
            <a:ext cx="228600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>145 g / bandeja</a:t>
            </a:r>
            <a:r>
              <a:rPr lang="es-ES"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1300" b="1" i="0" dirty="0" err="1">
                <a:solidFill>
                  <a:srgbClr val="ED7E1F"/>
                </a:solidFill>
                <a:latin typeface="Arial"/>
              </a:rPr>
              <a:t xml:space="preserve"/>
            </a:r>
            <a:endParaRPr sz="1300" b="1" i="0" dirty="0">
              <a:solidFill>
                <a:srgbClr val="ED7E1F"/>
              </a:solidFill>
              <a:latin typeface="Arial"/>
            </a:endParaRPr>
          </a:p>
        </p:txBody>
      </p:sp>
      <p:cxnSp>
        <p:nvCxnSpPr>
          <p:cNvPr id="23" name="Connector 22"/>
          <p:cNvCxnSpPr/>
          <p:nvPr/>
        </p:nvCxnSpPr>
        <p:spPr>
          <a:xfrm>
            <a:off x="777240" y="4718304"/>
            <a:ext cx="10607040" cy="0"/>
          </a:xfrm>
          <a:prstGeom prst="bentConnector3">
            <a:avLst/>
          </a:prstGeom>
          <a:ln w="13970">
            <a:solidFill>
              <a:srgbClr val="EFE7E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77240" y="4773168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50" b="1" i="0">
                <a:solidFill>
                  <a:srgbClr val="1D4F37"/>
                </a:solidFill>
                <a:latin typeface="Arial"/>
              </a:rPr>
              <a:t>Albahaca · ciclo largo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86200" y="4856020"/>
            <a:ext cx="2834640" cy="20005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lang="es-ES" sz="1300" dirty="0">
                <a:solidFill>
                  <a:srgbClr val="3A453F"/>
                </a:solidFill>
                <a:latin typeface="Arial"/>
              </a:rPr>
              <a:t>5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+ 1</a:t>
            </a:r>
            <a:r>
              <a:rPr lang="es-ES" sz="1300" b="0" i="0" dirty="0">
                <a:solidFill>
                  <a:srgbClr val="3A453F"/>
                </a:solidFill>
                <a:latin typeface="Arial"/>
              </a:rPr>
              <a:t>3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días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773168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2,3 ciclos/mes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47731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300" b="1" i="0">
                <a:solidFill>
                  <a:srgbClr val="ED7E1F"/>
                </a:solidFill>
                <a:latin typeface="Arial"/>
              </a:rPr>
              <a:t xml:space="preserve">90 g / bandeja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>Estimación sobre 96 bandejas en luz simultánea (3 torres, 14,4 m² de cultivo) · mix de variedades del plan · rendimientos medidos por producción.</a:t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 err="1">
                <a:solidFill>
                  <a:srgbClr val="8A827B"/>
                </a:solidFill>
                <a:latin typeface="Arial"/>
              </a:rPr>
              <a:t xml:space="preserve"/>
            </a:r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/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>Capacidad</a:t>
            </a:r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 actual: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>~120 kg/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mes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con mix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comercial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de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variedades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 · 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pico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de ~240 kg/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mes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en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monocultivo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de </a:t>
            </a:r>
            <a:r>
              <a:rPr sz="1350" b="0" i="0" dirty="0" err="1">
                <a:solidFill>
                  <a:srgbClr val="D8ECDF"/>
                </a:solidFill>
                <a:latin typeface="Arial"/>
              </a:rPr>
              <a:t>ciclo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 corto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TECNOLOGÍA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SISTEMA PROPIO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676656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Un ERP a medida, 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>construido desde cero.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935224"/>
            <a:ext cx="5943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6000"/>
              </a:lnSpc>
              <a:spcAft>
                <a:spcPts val="400"/>
              </a:spcAft>
            </a:pP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No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adaptamos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un software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genérico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: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hemos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construido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nuestro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propio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ERP.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Pedidos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producción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trazabilidad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facturación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viven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un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único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sistema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diseñado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para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cómo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trabajamos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. Y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el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siguiente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paso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ya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está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dibujado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: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cuando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la nave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incorpore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sensórica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de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clima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y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riego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,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esos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datos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se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volcarán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directamente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 xml:space="preserve"> al </a:t>
            </a:r>
            <a:r>
              <a:rPr sz="1400" b="0" i="0" dirty="0" err="1">
                <a:solidFill>
                  <a:srgbClr val="3A453F"/>
                </a:solidFill>
                <a:latin typeface="Arial"/>
              </a:rPr>
              <a:t>sistema</a:t>
            </a:r>
            <a:r>
              <a:rPr sz="1400" b="0" i="0" dirty="0">
                <a:solidFill>
                  <a:srgbClr val="3A453F"/>
                </a:solidFill>
                <a:latin typeface="Arial"/>
              </a:rPr>
              <a:t>.</a:t>
            </a:r>
          </a:p>
        </p:txBody>
      </p:sp>
      <p:pic>
        <p:nvPicPr>
          <p:cNvPr id="9" name="Picture 8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544568"/>
            <a:ext cx="170993" cy="2011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97280" y="452628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Pedidos, clientes y facturación en un único flujo</a:t>
            </a:r>
          </a:p>
        </p:txBody>
      </p:sp>
      <p:pic>
        <p:nvPicPr>
          <p:cNvPr id="11" name="Picture 10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956048"/>
            <a:ext cx="170993" cy="20116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97280" y="493776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Planificación de producción y trazabilidad por lote</a:t>
            </a:r>
          </a:p>
        </p:txBody>
      </p:sp>
      <p:pic>
        <p:nvPicPr>
          <p:cNvPr id="13" name="Picture 12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367528"/>
            <a:ext cx="170993" cy="2011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097280" y="534924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>
                <a:solidFill>
                  <a:srgbClr val="3A453F"/>
                </a:solidFill>
                <a:latin typeface="Arial"/>
              </a:rPr>
              <a:t>Stock estimado y rendimiento real por variedad</a:t>
            </a:r>
          </a:p>
        </p:txBody>
      </p:sp>
      <p:pic>
        <p:nvPicPr>
          <p:cNvPr id="15" name="Picture 14" descr="le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5779008"/>
            <a:ext cx="170993" cy="20116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97280" y="5760720"/>
            <a:ext cx="5669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 i="0" dirty="0" err="1">
                <a:solidFill>
                  <a:srgbClr val="3A453F"/>
                </a:solidFill>
                <a:latin typeface="Arial"/>
              </a:rPr>
              <a:t>Preparado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para 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conectar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la </a:t>
            </a:r>
            <a:r>
              <a:rPr sz="1300" b="0" i="0" dirty="0" err="1">
                <a:solidFill>
                  <a:srgbClr val="3A453F"/>
                </a:solidFill>
                <a:latin typeface="Arial"/>
              </a:rPr>
              <a:t>sensórica</a:t>
            </a:r>
            <a:r>
              <a:rPr sz="1300" b="0" i="0" dirty="0">
                <a:solidFill>
                  <a:srgbClr val="3A453F"/>
                </a:solidFill>
                <a:latin typeface="Arial"/>
              </a:rPr>
              <a:t xml:space="preserve"> de la nave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78040" y="1463040"/>
            <a:ext cx="4233672" cy="457200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79" y="1783080"/>
            <a:ext cx="36118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 i="0" spc="200">
                <a:solidFill>
                  <a:srgbClr val="9BC9AE"/>
                </a:solidFill>
                <a:latin typeface="Arial"/>
              </a:rPr>
              <a:t>ROOTFLOW ERP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498079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>Pedidos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DE LA SEMANA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26880" y="2286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>Producción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POR BANDEJA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79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 err="1">
                <a:solidFill>
                  <a:srgbClr val="FCF1ED"/>
                </a:solidFill>
                <a:latin typeface="Arial"/>
              </a:rPr>
              <a:t>Trazabilidad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POR LOTE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3429000"/>
            <a:ext cx="1691640" cy="100584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sz="1400" b="1" i="0" dirty="0">
                <a:solidFill>
                  <a:srgbClr val="FCF1ED"/>
                </a:solidFill>
                <a:latin typeface="Arial"/>
              </a:rPr>
              <a:t>Stock</a:t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ESTIMADO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20940" y="4559014"/>
            <a:ext cx="3611880" cy="8763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React ·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Supabase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·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datos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en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i="1" dirty="0" err="1">
                <a:solidFill>
                  <a:srgbClr val="D8ECDF"/>
                </a:solidFill>
                <a:latin typeface="Arial"/>
              </a:rPr>
              <a:t>tiempo</a:t>
            </a:r>
            <a:r>
              <a:rPr sz="1150" b="0" i="1" dirty="0">
                <a:solidFill>
                  <a:srgbClr val="D8ECDF"/>
                </a:solidFill>
                <a:latin typeface="Arial"/>
              </a:rPr>
              <a:t xml:space="preserve"> real.
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Hoy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gestiona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el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negocio</a:t>
            </a:r>
            <a:r>
              <a:rPr lang="es-ES" sz="1150" b="0" dirty="0">
                <a:solidFill>
                  <a:srgbClr val="D8ECDF"/>
                </a:solidFill>
                <a:latin typeface="Arial"/>
              </a:rPr>
              <a:t>,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mañana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, también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el</a:t>
            </a:r>
            <a:r>
              <a:rPr sz="1150" b="0" dirty="0">
                <a:solidFill>
                  <a:srgbClr val="D8ECDF"/>
                </a:solidFill>
                <a:latin typeface="Arial"/>
              </a:rPr>
              <a:t xml:space="preserve"> </a:t>
            </a:r>
            <a:r>
              <a:rPr sz="1150" b="0" dirty="0" err="1">
                <a:solidFill>
                  <a:srgbClr val="D8ECDF"/>
                </a:solidFill>
                <a:latin typeface="Arial"/>
              </a:rPr>
              <a:t>cultivo</a:t>
            </a:r>
            <a:endParaRPr lang="es-ES" sz="1150" b="0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lang="es-ES" sz="1600" b="1" dirty="0">
              <a:solidFill>
                <a:srgbClr val="D8ECDF"/>
              </a:solidFill>
              <a:latin typeface="Arial"/>
            </a:endParaRPr>
          </a:p>
          <a:p>
            <a:pPr algn="ctr">
              <a:lnSpc>
                <a:spcPct val="115000"/>
              </a:lnSpc>
            </a:pPr>
            <a:endParaRPr sz="1150" b="0" dirty="0">
              <a:solidFill>
                <a:srgbClr val="D8ECDF"/>
              </a:solidFill>
              <a:latin typeface="Arial"/>
            </a:endParaRPr>
          </a:p>
        </p:txBody>
      </p:sp>
      <p:cxnSp>
        <p:nvCxnSpPr>
          <p:cNvPr id="24" name="Connector 2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sp>
        <p:nvSpPr>
          <p:cNvPr id="28" name="Rounded Rectangle 21">
            <a:extLst>
              <a:ext uri="{FF2B5EF4-FFF2-40B4-BE49-F238E27FC236}">
                <a16:creationId xmlns:a16="http://schemas.microsoft.com/office/drawing/2014/main" id="{279EC401-9780-85FC-70A4-938CFF74D018}"/>
              </a:ext>
            </a:extLst>
          </p:cNvPr>
          <p:cNvSpPr/>
          <p:nvPr/>
        </p:nvSpPr>
        <p:spPr>
          <a:xfrm>
            <a:off x="8449056" y="5128534"/>
            <a:ext cx="1691640" cy="697230"/>
          </a:xfrm>
          <a:prstGeom prst="roundRect">
            <a:avLst>
              <a:gd name="adj" fmla="val 8000"/>
            </a:avLst>
          </a:prstGeom>
          <a:solidFill>
            <a:srgbClr val="174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tlCol="0" anchor="ctr"/>
          <a:lstStyle/>
          <a:p>
            <a:pPr algn="ctr"/>
            <a:r>
              <a:rPr lang="es-ES" sz="1400" b="1" i="0" dirty="0">
                <a:solidFill>
                  <a:srgbClr val="FCF1ED"/>
                </a:solidFill>
                <a:latin typeface="Arial"/>
              </a:rPr>
              <a:t>+ 25.000</a:t>
            </a:r>
            <a:endParaRPr sz="1400" b="1" i="0" dirty="0">
              <a:solidFill>
                <a:srgbClr val="FCF1ED"/>
              </a:solidFill>
              <a:latin typeface="Arial"/>
            </a:endParaRPr>
          </a:p>
          <a:p>
            <a:pPr algn="ctr"/>
            <a:r>
              <a:rPr lang="es-ES" sz="850" b="1" i="0" spc="100" dirty="0">
                <a:solidFill>
                  <a:srgbClr val="9BC9AE"/>
                </a:solidFill>
                <a:latin typeface="Arial"/>
              </a:rPr>
              <a:t>LÍNEAS DE CÓDIGO</a:t>
            </a:r>
            <a:endParaRPr sz="850" b="1" i="0" spc="100" dirty="0">
              <a:solidFill>
                <a:srgbClr val="9BC9AE"/>
              </a:solidFill>
              <a:latin typeface="Arial"/>
            </a:endParaRPr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9BF9D78D-06CE-2CC6-4202-4222993338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TRACCIÓN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DÓNDE ESTAMOS HOY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Pequeños, pero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ya facturando.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51206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Operamos desde un local de 58 m² en Madrid con tres torres de cultivo en producción continua. Una base compacta y eficiente que ya genera ingresos recurrentes.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003097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>58 m²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>LOCAL ACTUAL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3886200"/>
            <a:ext cx="14173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 dirty="0">
                <a:solidFill>
                  <a:srgbClr val="ED7E1F"/>
                </a:solidFill>
                <a:latin typeface="Arial"/>
              </a:rPr>
              <a:t xml:space="preserve"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 xml:space="preserve">TORRES EN CONTINUO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886200"/>
            <a:ext cx="1645920" cy="40011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600" b="1" i="0">
                <a:solidFill>
                  <a:srgbClr val="ED7E1F"/>
                </a:solidFill>
                <a:latin typeface="Arial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4389120"/>
            <a:ext cx="17373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00">
                <a:solidFill>
                  <a:srgbClr val="2C5F47"/>
                </a:solidFill>
                <a:latin typeface="Arial"/>
              </a:rPr>
              <a:t>CLIENTES FACTURANDO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07492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 i="0" spc="260" dirty="0">
                <a:solidFill>
                  <a:srgbClr val="2C5F47"/>
                </a:solidFill>
                <a:latin typeface="Arial"/>
              </a:rPr>
              <a:t>CLIENTES ACTIVOS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49824"/>
            <a:ext cx="5120640" cy="20960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Dos distribuidores con pedido semanal recurrente, uno de ellos con acuerdo de consignación en marcha en Mercamadrid.</a:t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 err="1">
                <a:solidFill>
                  <a:srgbClr val="3A453F"/>
                </a:solidFill>
                <a:latin typeface="Arial"/>
              </a:rPr>
              <a:t xml:space="preserve"/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/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2606040"/>
            <a:ext cx="5102352" cy="3246120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629400" y="29260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 i="0" spc="180">
                <a:solidFill>
                  <a:srgbClr val="9BC9AE"/>
                </a:solidFill>
                <a:latin typeface="Arial"/>
              </a:rPr>
              <a:t>YA CO-DESARROLLAMOS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3337560"/>
            <a:ext cx="4480560" cy="2857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900" b="1" i="0" dirty="0" err="1">
                <a:solidFill>
                  <a:srgbClr val="FCF1ED"/>
                </a:solidFill>
                <a:latin typeface="Arial"/>
              </a:rPr>
              <a:t xml:space="preserve">Micromezcla exclusiva</a:t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lang="es-ES" sz="19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19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096511"/>
            <a:ext cx="448056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Una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mezcla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exclusiva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para uno de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nuestros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distribuidores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,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que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incorpora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5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variedades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nuevas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 xml:space="preserve"> a la </a:t>
            </a:r>
            <a:r>
              <a:rPr sz="1300" b="0" i="0" dirty="0" err="1">
                <a:solidFill>
                  <a:srgbClr val="E6F2EA"/>
                </a:solidFill>
                <a:latin typeface="Arial"/>
              </a:rPr>
              <a:t>gama</a:t>
            </a:r>
            <a:r>
              <a:rPr sz="1300" b="0" i="0" dirty="0">
                <a:solidFill>
                  <a:srgbClr val="E6F2EA"/>
                </a:solidFill>
                <a:latin typeface="Arial"/>
              </a:rPr>
              <a:t>.</a:t>
            </a:r>
          </a:p>
          <a:p>
            <a:pPr>
              <a:lnSpc>
                <a:spcPct val="124000"/>
              </a:lnSpc>
            </a:pPr>
            <a:r>
              <a:rPr sz="1300" b="0" i="1" dirty="0">
                <a:solidFill>
                  <a:srgbClr val="E6F2EA"/>
                </a:solidFill>
                <a:latin typeface="Arial"/>
              </a:rPr>
              <a:t>El co-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desarrollo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no es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una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promesa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: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ya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lo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estamos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 xml:space="preserve"> </a:t>
            </a:r>
            <a:r>
              <a:rPr sz="1300" b="0" i="1" dirty="0" err="1">
                <a:solidFill>
                  <a:srgbClr val="E6F2EA"/>
                </a:solidFill>
                <a:latin typeface="Arial"/>
              </a:rPr>
              <a:t>haciendo</a:t>
            </a:r>
            <a:r>
              <a:rPr sz="1300" b="0" i="1" dirty="0">
                <a:solidFill>
                  <a:srgbClr val="E6F2EA"/>
                </a:solidFill>
                <a:latin typeface="Arial"/>
              </a:rPr>
              <a:t>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AFB94539-0AE8-C137-72FC-3DC0DB291A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HOJA DE RUTA · HITO 3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HACIA DÓNDE VAMOS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El salto: de 58 m² a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una nave de 350 m².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En 3–6 meses trasladamos la producción a una nave de 350 m² en el sur de Madrid. Tres racks de gran formato suman 2.880 posiciones de luz y llevan la superficie de cultivo de 14,4 m² a 432 m².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La capacidad de cultivo se multiplica por 30. En régimen, el plan prevé ~3.100 kg al mes: volumen para servir distribución a escala y abastecer a los restaurantes de las zonas calientes, sin renunciar a la cosecha viva bajo pedido.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 xml:space="preserve">Crecimiento financiado con la ronda y una línea de circulante; nave en alquiler para no inmovilizar capital.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>350 m²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>NAVE · SUR DE MADRID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432 m²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>SUPERFICIE DE CULTIVO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>× 30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 xml:space="preserve"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CAPACIDAD VS. HOY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~3.100 kg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 xml:space="preserve">AL MES · EN RÉGIMEN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Concebida para automatizarse por fases: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sensórica y control de clima y riego, con datos en tiempo real integrados en nuestro ERP.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Crecimiento ordenado, financiado con cabeza.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84048" y="384048"/>
            <a:ext cx="11423599" cy="6089904"/>
          </a:xfrm>
          <a:prstGeom prst="roundRect">
            <a:avLst>
              <a:gd name="adj" fmla="val 2500"/>
            </a:avLst>
          </a:prstGeom>
          <a:noFill/>
          <a:ln w="1651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2331720"/>
            <a:ext cx="12191695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spc="260" dirty="0">
                <a:solidFill>
                  <a:srgbClr val="2C5F47"/>
                </a:solidFill>
                <a:latin typeface="Arial"/>
              </a:rPr>
              <a:t>CONOZCÁMONOS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697480"/>
            <a:ext cx="10362895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4800" b="1" i="0" dirty="0" err="1">
                <a:solidFill>
                  <a:srgbClr val="1D4F37"/>
                </a:solidFill>
                <a:latin typeface="Arial"/>
              </a:rPr>
              <a:t>Hablemos</a:t>
            </a:r>
            <a:r>
              <a:rPr sz="4800" b="1" i="0" dirty="0">
                <a:solidFill>
                  <a:srgbClr val="1D4F37"/>
                </a:solidFill>
                <a:latin typeface="Arial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749039"/>
            <a:ext cx="9631375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1500" b="0" i="0" dirty="0">
                <a:solidFill>
                  <a:srgbClr val="3A453F"/>
                </a:solidFill>
                <a:latin typeface="Arial"/>
              </a:rPr>
              <a:t>Nos encantaría enseñaros el cultivo en Madrid y explorar juntos cómo sumaros a este proyecto.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90007" y="4892040"/>
            <a:ext cx="2011680" cy="0"/>
          </a:xfrm>
          <a:prstGeom prst="bentConnector3">
            <a:avLst/>
          </a:prstGeom>
          <a:ln w="20320">
            <a:solidFill>
              <a:srgbClr val="ED7E1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0" y="5166360"/>
            <a:ext cx="12191695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400" b="1" i="0" dirty="0">
                <a:solidFill>
                  <a:srgbClr val="1D4F37"/>
                </a:solidFill>
                <a:latin typeface="Arial"/>
              </a:rPr>
              <a:t>Pedro Domecq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 xml:space="preserve"> </a:t>
            </a:r>
            <a:r>
              <a:rPr sz="1400" b="1" i="0" dirty="0">
                <a:solidFill>
                  <a:srgbClr val="1D4F37"/>
                </a:solidFill>
                <a:latin typeface="Arial"/>
              </a:rPr>
              <a:t xml:space="preserve">·  </a:t>
            </a:r>
            <a:r>
              <a:rPr lang="es-ES" sz="1400" b="1" i="0" dirty="0">
                <a:solidFill>
                  <a:srgbClr val="1D4F37"/>
                </a:solidFill>
                <a:latin typeface="Arial"/>
              </a:rPr>
              <a:t>ROOTFLOW HYDROPONICS SL</a:t>
            </a:r>
            <a:endParaRPr sz="1400" b="1" i="0" dirty="0">
              <a:solidFill>
                <a:srgbClr val="1D4F37"/>
              </a:solidFill>
              <a:latin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0" y="5577840"/>
            <a:ext cx="12191695" cy="1923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50" b="0" i="0" dirty="0">
                <a:solidFill>
                  <a:srgbClr val="3A453F"/>
                </a:solidFill>
                <a:latin typeface="Arial"/>
              </a:rPr>
              <a:t>+34 6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38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16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1</a:t>
            </a:r>
            <a:r>
              <a:rPr lang="es-ES" sz="1250" dirty="0">
                <a:solidFill>
                  <a:srgbClr val="3A453F"/>
                </a:solidFill>
                <a:latin typeface="Arial"/>
              </a:rPr>
              <a:t>9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9</a:t>
            </a:r>
            <a:r>
              <a:rPr lang="es-ES" sz="1250" b="0" i="0" dirty="0">
                <a:solidFill>
                  <a:srgbClr val="3A453F"/>
                </a:solidFill>
                <a:latin typeface="Arial"/>
              </a:rPr>
              <a:t>0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 xml:space="preserve">      </a:t>
            </a:r>
            <a:r>
              <a:rPr lang="es-ES" sz="1250" b="1" i="0" dirty="0" err="1">
                <a:solidFill>
                  <a:srgbClr val="ED7E1F"/>
                </a:solidFill>
                <a:latin typeface="Arial"/>
              </a:rPr>
              <a:t>p.domecq</a:t>
            </a:r>
            <a:r>
              <a:rPr sz="1250" b="1" i="0" dirty="0">
                <a:solidFill>
                  <a:srgbClr val="ED7E1F"/>
                </a:solidFill>
                <a:latin typeface="Arial"/>
              </a:rPr>
              <a:t xml:space="preserve">@rootflow.es      </a:t>
            </a:r>
            <a:r>
              <a:rPr sz="1250" b="0" i="0" dirty="0">
                <a:solidFill>
                  <a:srgbClr val="3A453F"/>
                </a:solidFill>
                <a:latin typeface="Arial"/>
              </a:rPr>
              <a:t>rootflow.es</a:t>
            </a:r>
          </a:p>
        </p:txBody>
      </p:sp>
      <p:pic>
        <p:nvPicPr>
          <p:cNvPr id="12" name="Imagen 11" descr="RootFlow Logo">
            <a:extLst>
              <a:ext uri="{FF2B5EF4-FFF2-40B4-BE49-F238E27FC236}">
                <a16:creationId xmlns:a16="http://schemas.microsoft.com/office/drawing/2014/main" id="{A393336C-FE95-1659-B7E2-FA651E8A96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5512184" y="1077998"/>
            <a:ext cx="1167327" cy="116732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LA RONDA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QUÉ BUSCAMOS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Buscamos 100.000 €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para dar el salto.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Colchón de seguridad: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 xml:space="preserve">caja mínima de 30.000 €, DSCR mínimo de 15,9× (años 2-7) y circulante con póliza de crédito, no con la ronda.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Crecimiento ordenado, financiado con cabeza.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601" name="X601"/>
          <p:cNvSpPr txBox="1"/>
          <p:nvPr/>
        </p:nvSpPr>
        <p:spPr>
          <a:xfrm>
            <a:off x="777240" y="2340864"/>
            <a:ext cx="45720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CAPITAL STACK</a:t>
            </a:r>
          </a:p>
        </p:txBody>
      </p:sp>
      <p:sp>
        <p:nvSpPr>
          <p:cNvPr id="602" name="X602"/>
          <p:cNvSpPr/>
          <p:nvPr/>
        </p:nvSpPr>
        <p:spPr>
          <a:xfrm>
            <a:off x="777240" y="2542032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03" name="X603"/>
          <p:cNvSpPr txBox="1"/>
          <p:nvPr/>
        </p:nvSpPr>
        <p:spPr>
          <a:xfrm>
            <a:off x="960120" y="2542032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1" i="0" spc="60">
                <a:solidFill>
                  <a:srgbClr val="D8ECDF"/>
                </a:solidFill>
                <a:latin typeface="Arial"/>
              </a:rPr>
              <a:t>INVERSOR PRIVADO · capital, 10 %</a:t>
            </a:r>
          </a:p>
        </p:txBody>
      </p:sp>
      <p:sp>
        <p:nvSpPr>
          <p:cNvPr id="604" name="X604"/>
          <p:cNvSpPr txBox="1"/>
          <p:nvPr/>
        </p:nvSpPr>
        <p:spPr>
          <a:xfrm>
            <a:off x="3840480" y="2542032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s-ES" sz="1400" b="1" i="0">
                <a:solidFill>
                  <a:srgbClr val="FCF1ED"/>
                </a:solidFill>
                <a:latin typeface="Arial"/>
              </a:rPr>
              <a:t>100.000 €</a:t>
            </a:r>
          </a:p>
        </p:txBody>
      </p:sp>
      <p:sp>
        <p:nvSpPr>
          <p:cNvPr id="605" name="X605"/>
          <p:cNvSpPr/>
          <p:nvPr/>
        </p:nvSpPr>
        <p:spPr>
          <a:xfrm>
            <a:off x="777240" y="3035808"/>
            <a:ext cx="4892040" cy="438912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 w="12700">
            <a:solidFill>
              <a:srgbClr val="1D4F37"/>
            </a:solidFill>
          </a:ln>
        </p:spPr>
        <p:txBody>
          <a:bodyPr/>
          <a:lstStyle/>
          <a:p/>
        </p:txBody>
      </p:sp>
      <p:sp>
        <p:nvSpPr>
          <p:cNvPr id="606" name="X606"/>
          <p:cNvSpPr txBox="1"/>
          <p:nvPr/>
        </p:nvSpPr>
        <p:spPr>
          <a:xfrm>
            <a:off x="960120" y="3035808"/>
            <a:ext cx="297180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1" i="0" spc="60">
                <a:solidFill>
                  <a:srgbClr val="1D4F37"/>
                </a:solidFill>
                <a:latin typeface="Arial"/>
              </a:rPr>
              <a:t>ENISA AGROINNPULSO · préstamo en tramitación</a:t>
            </a:r>
          </a:p>
        </p:txBody>
      </p:sp>
      <p:sp>
        <p:nvSpPr>
          <p:cNvPr id="607" name="X607"/>
          <p:cNvSpPr txBox="1"/>
          <p:nvPr/>
        </p:nvSpPr>
        <p:spPr>
          <a:xfrm>
            <a:off x="3840480" y="3035808"/>
            <a:ext cx="1645920" cy="43891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s-ES" sz="1400" b="1" i="0">
                <a:solidFill>
                  <a:srgbClr val="1D4F37"/>
                </a:solidFill>
                <a:latin typeface="Arial"/>
              </a:rPr>
              <a:t>100.000 €</a:t>
            </a:r>
          </a:p>
        </p:txBody>
      </p:sp>
      <p:sp>
        <p:nvSpPr>
          <p:cNvPr id="608" name="X608"/>
          <p:cNvSpPr txBox="1"/>
          <p:nvPr/>
        </p:nvSpPr>
        <p:spPr>
          <a:xfrm>
            <a:off x="777240" y="3547872"/>
            <a:ext cx="283464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1" i="0" spc="100">
                <a:solidFill>
                  <a:srgbClr val="8A827B"/>
                </a:solidFill>
                <a:latin typeface="Arial"/>
              </a:rPr>
              <a:t>TOTAL LEVANTADO</a:t>
            </a:r>
          </a:p>
        </p:txBody>
      </p:sp>
      <p:sp>
        <p:nvSpPr>
          <p:cNvPr id="609" name="X609"/>
          <p:cNvSpPr txBox="1"/>
          <p:nvPr/>
        </p:nvSpPr>
        <p:spPr>
          <a:xfrm>
            <a:off x="3840480" y="3547872"/>
            <a:ext cx="1645920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lnSpc>
                <a:spcPct val="104000"/>
              </a:lnSpc>
            </a:pPr>
            <a:r>
              <a:rPr lang="es-ES" sz="1400" b="1" i="0">
                <a:solidFill>
                  <a:srgbClr val="1D4F37"/>
                </a:solidFill>
                <a:latin typeface="Arial"/>
              </a:rPr>
              <a:t>200.000 €</a:t>
            </a:r>
          </a:p>
        </p:txBody>
      </p:sp>
      <p:sp>
        <p:nvSpPr>
          <p:cNvPr id="610" name="X610"/>
          <p:cNvSpPr txBox="1"/>
          <p:nvPr/>
        </p:nvSpPr>
        <p:spPr>
          <a:xfrm>
            <a:off x="777240" y="3822192"/>
            <a:ext cx="48920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00" b="0" i="0">
                <a:solidFill>
                  <a:srgbClr val="8A827B"/>
                </a:solidFill>
                <a:latin typeface="Arial"/>
              </a:rPr>
              <a:t>Cubre la necesidad de 173.048 € del plan  ·  cobertura 1,16×</a:t>
            </a:r>
          </a:p>
        </p:txBody>
      </p:sp>
      <p:sp>
        <p:nvSpPr>
          <p:cNvPr id="611" name="X611"/>
          <p:cNvSpPr txBox="1"/>
          <p:nvPr/>
        </p:nvSpPr>
        <p:spPr>
          <a:xfrm>
            <a:off x="6035040" y="2340864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RETORNO PARA EL INVERSOR  ·  ESCENARIO BASE</a:t>
            </a:r>
          </a:p>
        </p:txBody>
      </p:sp>
      <p:sp>
        <p:nvSpPr>
          <p:cNvPr id="612" name="X612"/>
          <p:cNvSpPr txBox="1"/>
          <p:nvPr/>
        </p:nvSpPr>
        <p:spPr>
          <a:xfrm>
            <a:off x="603504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2400" b="1" i="0">
                <a:solidFill>
                  <a:srgbClr val="1D4F37"/>
                </a:solidFill>
                <a:latin typeface="Arial"/>
              </a:rPr>
              <a:t>51 %</a:t>
            </a:r>
          </a:p>
        </p:txBody>
      </p:sp>
      <p:sp>
        <p:nvSpPr>
          <p:cNvPr id="613" name="X613"/>
          <p:cNvSpPr txBox="1"/>
          <p:nvPr/>
        </p:nvSpPr>
        <p:spPr>
          <a:xfrm>
            <a:off x="603504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50" b="1" i="0" spc="100">
                <a:solidFill>
                  <a:srgbClr val="8A827B"/>
                </a:solidFill>
                <a:latin typeface="Arial"/>
              </a:rPr>
              <a:t>TIR ANUAL</a:t>
            </a:r>
          </a:p>
        </p:txBody>
      </p:sp>
      <p:sp>
        <p:nvSpPr>
          <p:cNvPr id="614" name="X614"/>
          <p:cNvSpPr txBox="1"/>
          <p:nvPr/>
        </p:nvSpPr>
        <p:spPr>
          <a:xfrm>
            <a:off x="781812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2400" b="1" i="0">
                <a:solidFill>
                  <a:srgbClr val="3A453F"/>
                </a:solidFill>
                <a:latin typeface="Arial"/>
              </a:rPr>
              <a:t>5,2×</a:t>
            </a:r>
          </a:p>
        </p:txBody>
      </p:sp>
      <p:sp>
        <p:nvSpPr>
          <p:cNvPr id="615" name="X615"/>
          <p:cNvSpPr txBox="1"/>
          <p:nvPr/>
        </p:nvSpPr>
        <p:spPr>
          <a:xfrm>
            <a:off x="781812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50" b="1" i="0" spc="10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616" name="X616"/>
          <p:cNvSpPr txBox="1"/>
          <p:nvPr/>
        </p:nvSpPr>
        <p:spPr>
          <a:xfrm>
            <a:off x="9601200" y="2542032"/>
            <a:ext cx="1737360" cy="4023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2400" b="1" i="0">
                <a:solidFill>
                  <a:srgbClr val="3A453F"/>
                </a:solidFill>
                <a:latin typeface="Arial"/>
              </a:rPr>
              <a:t>Año 4</a:t>
            </a:r>
          </a:p>
        </p:txBody>
      </p:sp>
      <p:sp>
        <p:nvSpPr>
          <p:cNvPr id="617" name="X617"/>
          <p:cNvSpPr txBox="1"/>
          <p:nvPr/>
        </p:nvSpPr>
        <p:spPr>
          <a:xfrm>
            <a:off x="9601200" y="2962656"/>
            <a:ext cx="17373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50" b="1" i="0" spc="100">
                <a:solidFill>
                  <a:srgbClr val="8A827B"/>
                </a:solidFill>
                <a:latin typeface="Arial"/>
              </a:rPr>
              <a:t>HORIZONTE DE SALIDA</a:t>
            </a:r>
          </a:p>
        </p:txBody>
      </p:sp>
      <p:sp>
        <p:nvSpPr>
          <p:cNvPr id="618" name="X618"/>
          <p:cNvSpPr/>
          <p:nvPr/>
        </p:nvSpPr>
        <p:spPr>
          <a:xfrm>
            <a:off x="6035040" y="3200400"/>
            <a:ext cx="53492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619" name="X619"/>
          <p:cNvSpPr txBox="1"/>
          <p:nvPr/>
        </p:nvSpPr>
        <p:spPr>
          <a:xfrm>
            <a:off x="6035040" y="3273552"/>
            <a:ext cx="53492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CONDICIONES · TRAMO INVERSOR</a:t>
            </a:r>
          </a:p>
        </p:txBody>
      </p:sp>
      <p:sp>
        <p:nvSpPr>
          <p:cNvPr id="620" name="X620"/>
          <p:cNvSpPr txBox="1"/>
          <p:nvPr/>
        </p:nvSpPr>
        <p:spPr>
          <a:xfrm>
            <a:off x="6035040" y="3474720"/>
            <a:ext cx="5349240" cy="5120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Entrada en capital: 10 % de la sociedad por 100.000 € · derecho de salida pactado a partir del año 4 · suelo de protección de 1,5× sobre lo invertido · sin aval personal · los fundadores conservan el 90 % y el control.</a:t>
            </a:r>
          </a:p>
        </p:txBody>
      </p:sp>
      <p:sp>
        <p:nvSpPr>
          <p:cNvPr id="621" name="X621"/>
          <p:cNvSpPr/>
          <p:nvPr/>
        </p:nvSpPr>
        <p:spPr>
          <a:xfrm>
            <a:off x="777240" y="4114800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622" name="X622"/>
          <p:cNvSpPr txBox="1"/>
          <p:nvPr/>
        </p:nvSpPr>
        <p:spPr>
          <a:xfrm>
            <a:off x="960120" y="4114800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Por qué capital:  </a:t>
            </a:r>
            <a:r>
              <a:rPr lang="es-ES" sz="900" b="0" i="0">
                <a:solidFill>
                  <a:srgbClr val="2C5F47"/>
                </a:solidFill>
                <a:latin typeface="Arial"/>
              </a:rPr>
              <a:t>ENISA exige fondos propios ≥ préstamo, y el tramo privado entra como capital para cumplirlo. Cada euro del inversor desbloquea otro euro público.</a:t>
            </a:r>
          </a:p>
        </p:txBody>
      </p:sp>
      <p:sp>
        <p:nvSpPr>
          <p:cNvPr id="623" name="X623"/>
          <p:cNvSpPr txBox="1"/>
          <p:nvPr/>
        </p:nvSpPr>
        <p:spPr>
          <a:xfrm>
            <a:off x="777240" y="4572000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EN QUÉ SE INVIERTE  ·  173.048 €</a:t>
            </a:r>
          </a:p>
        </p:txBody>
      </p:sp>
      <p:sp>
        <p:nvSpPr>
          <p:cNvPr id="624" name="X624"/>
          <p:cNvSpPr/>
          <p:nvPr/>
        </p:nvSpPr>
        <p:spPr>
          <a:xfrm>
            <a:off x="777240" y="4791456"/>
            <a:ext cx="3910306" cy="219456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5" name="X625"/>
          <p:cNvSpPr/>
          <p:nvPr/>
        </p:nvSpPr>
        <p:spPr>
          <a:xfrm>
            <a:off x="4742410" y="4791456"/>
            <a:ext cx="3922858" cy="219456"/>
          </a:xfrm>
          <a:prstGeom prst="roundRect">
            <a:avLst>
              <a:gd name="adj" fmla="val 14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6" name="X626"/>
          <p:cNvSpPr/>
          <p:nvPr/>
        </p:nvSpPr>
        <p:spPr>
          <a:xfrm>
            <a:off x="8720132" y="4791456"/>
            <a:ext cx="1474813" cy="219456"/>
          </a:xfrm>
          <a:prstGeom prst="roundRect">
            <a:avLst>
              <a:gd name="adj" fmla="val 14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27" name="X627"/>
          <p:cNvSpPr/>
          <p:nvPr/>
        </p:nvSpPr>
        <p:spPr>
          <a:xfrm>
            <a:off x="10249809" y="4791456"/>
            <a:ext cx="1134471" cy="219456"/>
          </a:xfrm>
          <a:prstGeom prst="roundRect">
            <a:avLst>
              <a:gd name="adj" fmla="val 14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28" name="X628"/>
          <p:cNvSpPr/>
          <p:nvPr/>
        </p:nvSpPr>
        <p:spPr>
          <a:xfrm>
            <a:off x="77724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629" name="X629"/>
          <p:cNvSpPr txBox="1"/>
          <p:nvPr/>
        </p:nvSpPr>
        <p:spPr>
          <a:xfrm>
            <a:off x="96012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64.800 €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Nave, racks y equipo</a:t>
            </a:r>
          </a:p>
        </p:txBody>
      </p:sp>
      <p:sp>
        <p:nvSpPr>
          <p:cNvPr id="630" name="X630"/>
          <p:cNvSpPr/>
          <p:nvPr/>
        </p:nvSpPr>
        <p:spPr>
          <a:xfrm>
            <a:off x="342900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631" name="X631"/>
          <p:cNvSpPr txBox="1"/>
          <p:nvPr/>
        </p:nvSpPr>
        <p:spPr>
          <a:xfrm>
            <a:off x="361188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65.008 €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Colchón de arranque (4 meses)</a:t>
            </a:r>
          </a:p>
        </p:txBody>
      </p:sp>
      <p:sp>
        <p:nvSpPr>
          <p:cNvPr id="632" name="X632"/>
          <p:cNvSpPr/>
          <p:nvPr/>
        </p:nvSpPr>
        <p:spPr>
          <a:xfrm>
            <a:off x="608076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633" name="X633"/>
          <p:cNvSpPr txBox="1"/>
          <p:nvPr/>
        </p:nvSpPr>
        <p:spPr>
          <a:xfrm>
            <a:off x="6263640" y="5102352"/>
            <a:ext cx="2423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24.440 €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Licencias, legal y contingencia</a:t>
            </a:r>
          </a:p>
        </p:txBody>
      </p:sp>
      <p:sp>
        <p:nvSpPr>
          <p:cNvPr id="634" name="X634"/>
          <p:cNvSpPr/>
          <p:nvPr/>
        </p:nvSpPr>
        <p:spPr>
          <a:xfrm>
            <a:off x="8732520" y="5152644"/>
            <a:ext cx="109728" cy="109728"/>
          </a:xfrm>
          <a:prstGeom prst="roundRect">
            <a:avLst>
              <a:gd name="adj" fmla="val 20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635" name="X635"/>
          <p:cNvSpPr txBox="1"/>
          <p:nvPr/>
        </p:nvSpPr>
        <p:spPr>
          <a:xfrm>
            <a:off x="8915400" y="5102352"/>
            <a:ext cx="2496312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50" b="1" i="0">
                <a:solidFill>
                  <a:srgbClr val="1D4F37"/>
                </a:solidFill>
                <a:latin typeface="Arial"/>
              </a:rPr>
              <a:t>18.800 €  </a:t>
            </a:r>
            <a:r>
              <a:rPr lang="es-ES" sz="800" b="0" i="0">
                <a:solidFill>
                  <a:srgbClr val="3A453F"/>
                </a:solidFill>
                <a:latin typeface="Arial"/>
              </a:rPr>
              <a:t>Automatización, microhub y fianzas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INVERSIÓN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PROYECCIÓN FINANCIERA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Del arranque al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régimen pleno.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487168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  <a:spcAft>
                <a:spcPts val="400"/>
              </a:spcAft>
            </a:pPr>
            <a:r>
              <a:rPr sz="1350" b="0" i="0">
                <a:solidFill>
                  <a:srgbClr val="3A453F"/>
                </a:solidFill>
                <a:latin typeface="Arial"/>
              </a:rPr>
              <a:t xml:space="preserve">El Año 1 va en pérdidas (EBITDA −30 k€): es la nave llenándose y la plantilla entrando antes que los ingresos. A partir de ahí la facturación sube cliente a cliente —distribución y restaurantes— hasta el régimen: ~1,72 M€ y un 42 % de margen EBITDA.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5221223"/>
            <a:ext cx="106070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50" b="0" i="1" dirty="0">
                <a:solidFill>
                  <a:srgbClr val="8A827B"/>
                </a:solidFill>
                <a:latin typeface="Arial"/>
              </a:rPr>
              <a:t xml:space="preserve">Escenario base del modelo financiero V17 · régimen pleno en el año 5: nave llena, 123 restaurantes y plantilla de 9 · cifras sin IVA, sujetas al cierre de cada ejercicio.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>
                <a:solidFill>
                  <a:srgbClr val="FCF1ED"/>
                </a:solidFill>
                <a:latin typeface="Arial"/>
              </a:rPr>
              <a:t xml:space="preserve">Apalancamiento operativo: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las palancas —minutos por bandeja, precio, coste y peso de los restaurantes— llevan el margen EBITDA en régimen del 27 % (conservador) al 53 % (optimista).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701" name="X701"/>
          <p:cNvSpPr txBox="1"/>
          <p:nvPr/>
        </p:nvSpPr>
        <p:spPr>
          <a:xfrm>
            <a:off x="777240" y="3931920"/>
            <a:ext cx="123444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40">
                <a:solidFill>
                  <a:srgbClr val="8A827B"/>
                </a:solidFill>
                <a:latin typeface="Arial"/>
              </a:rPr>
              <a:t>INGRESOS</a:t>
            </a:r>
          </a:p>
        </p:txBody>
      </p:sp>
      <p:sp>
        <p:nvSpPr>
          <p:cNvPr id="702" name="X702"/>
          <p:cNvSpPr txBox="1"/>
          <p:nvPr/>
        </p:nvSpPr>
        <p:spPr>
          <a:xfrm>
            <a:off x="777240" y="4791456"/>
            <a:ext cx="123444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40">
                <a:solidFill>
                  <a:srgbClr val="8A827B"/>
                </a:solidFill>
                <a:latin typeface="Arial"/>
              </a:rPr>
              <a:t>EBITDA</a:t>
            </a:r>
          </a:p>
        </p:txBody>
      </p:sp>
      <p:sp>
        <p:nvSpPr>
          <p:cNvPr id="703" name="X703"/>
          <p:cNvSpPr txBox="1"/>
          <p:nvPr/>
        </p:nvSpPr>
        <p:spPr>
          <a:xfrm>
            <a:off x="777240" y="4974336"/>
            <a:ext cx="12344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40">
                <a:solidFill>
                  <a:srgbClr val="8A827B"/>
                </a:solidFill>
                <a:latin typeface="Arial"/>
              </a:rPr>
              <a:t>MARGEN</a:t>
            </a:r>
          </a:p>
        </p:txBody>
      </p:sp>
      <p:sp>
        <p:nvSpPr>
          <p:cNvPr id="704" name="X704"/>
          <p:cNvSpPr/>
          <p:nvPr/>
        </p:nvSpPr>
        <p:spPr>
          <a:xfrm>
            <a:off x="2148840" y="4498848"/>
            <a:ext cx="9235440" cy="12802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705" name="X705"/>
          <p:cNvSpPr/>
          <p:nvPr/>
        </p:nvSpPr>
        <p:spPr>
          <a:xfrm>
            <a:off x="2569464" y="4360204"/>
            <a:ext cx="1005840" cy="138644"/>
          </a:xfrm>
          <a:prstGeom prst="roundRect">
            <a:avLst>
              <a:gd name="adj" fmla="val 5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706" name="X706"/>
          <p:cNvSpPr txBox="1"/>
          <p:nvPr/>
        </p:nvSpPr>
        <p:spPr>
          <a:xfrm>
            <a:off x="2148840" y="4122460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248 k€</a:t>
            </a:r>
          </a:p>
        </p:txBody>
      </p:sp>
      <p:sp>
        <p:nvSpPr>
          <p:cNvPr id="707" name="X707"/>
          <p:cNvSpPr txBox="1"/>
          <p:nvPr/>
        </p:nvSpPr>
        <p:spPr>
          <a:xfrm>
            <a:off x="2148840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1</a:t>
            </a:r>
          </a:p>
        </p:txBody>
      </p:sp>
      <p:sp>
        <p:nvSpPr>
          <p:cNvPr id="708" name="X708"/>
          <p:cNvSpPr txBox="1"/>
          <p:nvPr/>
        </p:nvSpPr>
        <p:spPr>
          <a:xfrm>
            <a:off x="2148840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−30 k€</a:t>
            </a:r>
          </a:p>
        </p:txBody>
      </p:sp>
      <p:sp>
        <p:nvSpPr>
          <p:cNvPr id="709" name="X709"/>
          <p:cNvSpPr txBox="1"/>
          <p:nvPr/>
        </p:nvSpPr>
        <p:spPr>
          <a:xfrm>
            <a:off x="2148840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−12 %</a:t>
            </a:r>
          </a:p>
        </p:txBody>
      </p:sp>
      <p:sp>
        <p:nvSpPr>
          <p:cNvPr id="710" name="X710"/>
          <p:cNvSpPr/>
          <p:nvPr/>
        </p:nvSpPr>
        <p:spPr>
          <a:xfrm>
            <a:off x="4416552" y="3996803"/>
            <a:ext cx="1005840" cy="502045"/>
          </a:xfrm>
          <a:prstGeom prst="roundRect">
            <a:avLst>
              <a:gd name="adj" fmla="val 5000"/>
            </a:avLst>
          </a:prstGeom>
          <a:solidFill>
            <a:srgbClr val="5E8B70"/>
          </a:solidFill>
          <a:ln>
            <a:noFill/>
          </a:ln>
        </p:spPr>
        <p:txBody>
          <a:bodyPr/>
          <a:lstStyle/>
          <a:p/>
        </p:txBody>
      </p:sp>
      <p:sp>
        <p:nvSpPr>
          <p:cNvPr id="711" name="X711"/>
          <p:cNvSpPr txBox="1"/>
          <p:nvPr/>
        </p:nvSpPr>
        <p:spPr>
          <a:xfrm>
            <a:off x="3995928" y="3759059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900 k€</a:t>
            </a:r>
          </a:p>
        </p:txBody>
      </p:sp>
      <p:sp>
        <p:nvSpPr>
          <p:cNvPr id="712" name="X712"/>
          <p:cNvSpPr txBox="1"/>
          <p:nvPr/>
        </p:nvSpPr>
        <p:spPr>
          <a:xfrm>
            <a:off x="3995928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2</a:t>
            </a:r>
          </a:p>
        </p:txBody>
      </p:sp>
      <p:sp>
        <p:nvSpPr>
          <p:cNvPr id="713" name="X713"/>
          <p:cNvSpPr txBox="1"/>
          <p:nvPr/>
        </p:nvSpPr>
        <p:spPr>
          <a:xfrm>
            <a:off x="3995928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309 k€</a:t>
            </a:r>
          </a:p>
        </p:txBody>
      </p:sp>
      <p:sp>
        <p:nvSpPr>
          <p:cNvPr id="714" name="X714"/>
          <p:cNvSpPr txBox="1"/>
          <p:nvPr/>
        </p:nvSpPr>
        <p:spPr>
          <a:xfrm>
            <a:off x="3995928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34 %</a:t>
            </a:r>
          </a:p>
        </p:txBody>
      </p:sp>
      <p:sp>
        <p:nvSpPr>
          <p:cNvPr id="715" name="X715"/>
          <p:cNvSpPr/>
          <p:nvPr/>
        </p:nvSpPr>
        <p:spPr>
          <a:xfrm>
            <a:off x="6263640" y="3732832"/>
            <a:ext cx="1005840" cy="766016"/>
          </a:xfrm>
          <a:prstGeom prst="roundRect">
            <a:avLst>
              <a:gd name="adj" fmla="val 5000"/>
            </a:avLst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716" name="X716"/>
          <p:cNvSpPr txBox="1"/>
          <p:nvPr/>
        </p:nvSpPr>
        <p:spPr>
          <a:xfrm>
            <a:off x="5843016" y="3495088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1,37 M€</a:t>
            </a:r>
          </a:p>
        </p:txBody>
      </p:sp>
      <p:sp>
        <p:nvSpPr>
          <p:cNvPr id="717" name="X717"/>
          <p:cNvSpPr txBox="1"/>
          <p:nvPr/>
        </p:nvSpPr>
        <p:spPr>
          <a:xfrm>
            <a:off x="5843016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3</a:t>
            </a:r>
          </a:p>
        </p:txBody>
      </p:sp>
      <p:sp>
        <p:nvSpPr>
          <p:cNvPr id="718" name="X718"/>
          <p:cNvSpPr txBox="1"/>
          <p:nvPr/>
        </p:nvSpPr>
        <p:spPr>
          <a:xfrm>
            <a:off x="5843016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553 k€</a:t>
            </a:r>
          </a:p>
        </p:txBody>
      </p:sp>
      <p:sp>
        <p:nvSpPr>
          <p:cNvPr id="719" name="X719"/>
          <p:cNvSpPr txBox="1"/>
          <p:nvPr/>
        </p:nvSpPr>
        <p:spPr>
          <a:xfrm>
            <a:off x="5843016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40 %</a:t>
            </a:r>
          </a:p>
        </p:txBody>
      </p:sp>
      <p:sp>
        <p:nvSpPr>
          <p:cNvPr id="720" name="X720"/>
          <p:cNvSpPr/>
          <p:nvPr/>
        </p:nvSpPr>
        <p:spPr>
          <a:xfrm>
            <a:off x="8110728" y="3559826"/>
            <a:ext cx="1005840" cy="939022"/>
          </a:xfrm>
          <a:prstGeom prst="roundRect">
            <a:avLst>
              <a:gd name="adj" fmla="val 5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721" name="X721"/>
          <p:cNvSpPr txBox="1"/>
          <p:nvPr/>
        </p:nvSpPr>
        <p:spPr>
          <a:xfrm>
            <a:off x="7690104" y="3322082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1D4F37"/>
                </a:solidFill>
                <a:latin typeface="Arial"/>
              </a:rPr>
              <a:t>1,68 M€</a:t>
            </a:r>
          </a:p>
        </p:txBody>
      </p:sp>
      <p:sp>
        <p:nvSpPr>
          <p:cNvPr id="722" name="X722"/>
          <p:cNvSpPr txBox="1"/>
          <p:nvPr/>
        </p:nvSpPr>
        <p:spPr>
          <a:xfrm>
            <a:off x="7690104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4</a:t>
            </a:r>
          </a:p>
        </p:txBody>
      </p:sp>
      <p:sp>
        <p:nvSpPr>
          <p:cNvPr id="723" name="X723"/>
          <p:cNvSpPr txBox="1"/>
          <p:nvPr/>
        </p:nvSpPr>
        <p:spPr>
          <a:xfrm>
            <a:off x="7690104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716 k€</a:t>
            </a:r>
          </a:p>
        </p:txBody>
      </p:sp>
      <p:sp>
        <p:nvSpPr>
          <p:cNvPr id="724" name="X724"/>
          <p:cNvSpPr txBox="1"/>
          <p:nvPr/>
        </p:nvSpPr>
        <p:spPr>
          <a:xfrm>
            <a:off x="7690104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0" i="0">
                <a:solidFill>
                  <a:srgbClr val="8A827B"/>
                </a:solidFill>
                <a:latin typeface="Arial"/>
              </a:rPr>
              <a:t>43 %</a:t>
            </a:r>
          </a:p>
        </p:txBody>
      </p:sp>
      <p:sp>
        <p:nvSpPr>
          <p:cNvPr id="725" name="X725"/>
          <p:cNvSpPr/>
          <p:nvPr/>
        </p:nvSpPr>
        <p:spPr>
          <a:xfrm>
            <a:off x="9957816" y="3538728"/>
            <a:ext cx="1005840" cy="960120"/>
          </a:xfrm>
          <a:prstGeom prst="roundRect">
            <a:avLst>
              <a:gd name="adj" fmla="val 5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726" name="X726"/>
          <p:cNvSpPr txBox="1"/>
          <p:nvPr/>
        </p:nvSpPr>
        <p:spPr>
          <a:xfrm>
            <a:off x="9537192" y="3300984"/>
            <a:ext cx="1847088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150" b="1" i="0">
                <a:solidFill>
                  <a:srgbClr val="ED7E1F"/>
                </a:solidFill>
                <a:latin typeface="Arial"/>
              </a:rPr>
              <a:t>1,72 M€</a:t>
            </a:r>
          </a:p>
        </p:txBody>
      </p:sp>
      <p:sp>
        <p:nvSpPr>
          <p:cNvPr id="727" name="X727"/>
          <p:cNvSpPr txBox="1"/>
          <p:nvPr/>
        </p:nvSpPr>
        <p:spPr>
          <a:xfrm>
            <a:off x="9537192" y="4553712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Año 5 · régimen</a:t>
            </a:r>
          </a:p>
        </p:txBody>
      </p:sp>
      <p:sp>
        <p:nvSpPr>
          <p:cNvPr id="728" name="X728"/>
          <p:cNvSpPr txBox="1"/>
          <p:nvPr/>
        </p:nvSpPr>
        <p:spPr>
          <a:xfrm>
            <a:off x="9537192" y="4791456"/>
            <a:ext cx="1847088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>
                <a:solidFill>
                  <a:srgbClr val="ED7E1F"/>
                </a:solidFill>
                <a:latin typeface="Arial"/>
              </a:rPr>
              <a:t>714 k€</a:t>
            </a:r>
          </a:p>
        </p:txBody>
      </p:sp>
      <p:sp>
        <p:nvSpPr>
          <p:cNvPr id="729" name="X729"/>
          <p:cNvSpPr txBox="1"/>
          <p:nvPr/>
        </p:nvSpPr>
        <p:spPr>
          <a:xfrm>
            <a:off x="9537192" y="4974336"/>
            <a:ext cx="1847088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20" b="1" i="0">
                <a:solidFill>
                  <a:srgbClr val="ED7E1F"/>
                </a:solidFill>
                <a:latin typeface="Arial"/>
              </a:rPr>
              <a:t>42 %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CASO DE REFERENCIA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EL SECTOR YA SE FINANCIA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Tierra levanta 400.000 €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con ENISA.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5989320" cy="2651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>Tierra es el competidor directo más comparable a Rootflow: microbrotes y agricultura de precisión en Madrid, con software propio de control de cultivo. Acaba de cerrar una ronda de 400.000 € respaldada por ENISA.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>Destina los fondos a ampliar capacidad, desarrollar dos patentes y evolucionar su software. Su caso confirma que ENISA financia exactamente este perfil de proyecto, en nuestro mercado y en este momento.</a:t>
            </a:r>
          </a:p>
          <a:p>
            <a:pPr algn="l">
              <a:lnSpc>
                <a:spcPct val="124000"/>
              </a:lnSpc>
              <a:spcAft>
                <a:spcPts val="400"/>
              </a:spcAft>
            </a:pPr>
            <a:r>
              <a:rPr sz="1300" b="0" i="0">
                <a:solidFill>
                  <a:srgbClr val="3A453F"/>
                </a:solidFill>
                <a:latin typeface="Arial"/>
              </a:rPr>
              <a:t>Rootflow compite con ventajas propias: un ERP a medida ya en producción, un modelo de cero stock difícil de replicar y venta directa al canal HORECA con márgenes altos.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FCF1ED"/>
                </a:solidFill>
                <a:latin typeface="Arial"/>
              </a:rPr>
              <a:t>400 k€</a:t>
            </a:r>
          </a:p>
          <a:p>
            <a:r>
              <a:rPr sz="850" b="1" i="0" spc="100">
                <a:solidFill>
                  <a:srgbClr val="9BC9AE"/>
                </a:solidFill>
                <a:latin typeface="Arial"/>
              </a:rPr>
              <a:t>IMPORTE DE LA RONDA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00032" y="237744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>
                <a:solidFill>
                  <a:srgbClr val="ED7E1F"/>
                </a:solidFill>
                <a:latin typeface="Arial"/>
              </a:rPr>
              <a:t>ENISA</a:t>
            </a:r>
          </a:p>
          <a:p>
            <a:r>
              <a:rPr sz="850" b="1" i="0" spc="100">
                <a:solidFill>
                  <a:srgbClr val="2C5F47"/>
                </a:solidFill>
                <a:latin typeface="Arial"/>
              </a:rPr>
              <a:t>RESPALDO PÚBLICO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68896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 w="1397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FCF1ED"/>
                </a:solidFill>
                <a:latin typeface="Arial"/>
              </a:rPr>
              <a:t>Madrid</a:t>
            </a:r>
            <a:r>
              <a:rPr lang="es-ES" sz="2300" b="1" i="0" dirty="0">
                <a:solidFill>
                  <a:srgbClr val="FCF1ED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FCF1ED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9BC9AE"/>
                </a:solidFill>
                <a:latin typeface="Arial"/>
              </a:rPr>
              <a:t>MISMO MERCADO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400032" y="3931920"/>
            <a:ext cx="2011680" cy="1371600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3970">
            <a:solidFill>
              <a:srgbClr val="1D4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82880" rtlCol="0" anchor="ctr"/>
          <a:lstStyle/>
          <a:p>
            <a:pPr algn="ctr"/>
            <a:r>
              <a:rPr sz="2300" b="1" i="0" dirty="0">
                <a:solidFill>
                  <a:srgbClr val="ED7E1F"/>
                </a:solidFill>
                <a:latin typeface="Arial"/>
              </a:rPr>
              <a:t>+2</a:t>
            </a:r>
            <a:r>
              <a:rPr lang="es-ES" sz="2300" b="1" i="0" dirty="0">
                <a:solidFill>
                  <a:srgbClr val="ED7E1F"/>
                </a:solidFill>
                <a:latin typeface="Arial"/>
              </a:rPr>
              <a:t xml:space="preserve"/>
            </a:r>
            <a:r>
              <a:rPr sz="2300" b="1" i="0" dirty="0">
                <a:solidFill>
                  <a:srgbClr val="ED7E1F"/>
                </a:solidFill>
                <a:latin typeface="Arial"/>
              </a:rPr>
              <a:t/>
            </a:r>
          </a:p>
          <a:p>
            <a:pPr algn="ctr"/>
            <a:r>
              <a:rPr sz="850" b="1" i="0" spc="100" dirty="0">
                <a:solidFill>
                  <a:srgbClr val="2C5F47"/>
                </a:solidFill>
                <a:latin typeface="Arial"/>
              </a:rPr>
              <a:t>PATENTES PROPIAS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Ya operan en España: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Cangarus · Fronda · Groots · Tugas · Massa Greens. El mercado está activo y probado.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Mercado probado, capital disponible.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HOJA DE RUTA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EL CAMINO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De la idea al grupo, </a:t>
            </a:r>
            <a:r>
              <a:rPr sz="3100" b="1" i="0">
                <a:solidFill>
                  <a:srgbClr val="ED7E1F"/>
                </a:solidFill>
                <a:latin typeface="Arial"/>
              </a:rPr>
              <a:t>en seis hitos.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5376672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El conocimiento ya está adquirido: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producto, clientes, ERP y operación validados antes de pedir un euro.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7A46F6F1-B7D1-3EFA-4BF4-FE82C0796E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200" name="Z200"/>
          <p:cNvSpPr/>
          <p:nvPr/>
        </p:nvSpPr>
        <p:spPr>
          <a:xfrm>
            <a:off x="1188720" y="2606040"/>
            <a:ext cx="3063240" cy="235000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201" name="Z201"/>
          <p:cNvSpPr/>
          <p:nvPr/>
        </p:nvSpPr>
        <p:spPr>
          <a:xfrm>
            <a:off x="4434840" y="2606040"/>
            <a:ext cx="1645920" cy="2350008"/>
          </a:xfrm>
          <a:prstGeom prst="roundRect">
            <a:avLst>
              <a:gd name="adj" fmla="val 6000"/>
            </a:avLst>
          </a:prstGeom>
          <a:solidFill>
            <a:srgbClr val="F7DFC4"/>
          </a:solidFill>
          <a:ln>
            <a:noFill/>
          </a:ln>
        </p:spPr>
        <p:txBody>
          <a:bodyPr/>
          <a:lstStyle/>
          <a:p/>
        </p:txBody>
      </p:sp>
      <p:sp>
        <p:nvSpPr>
          <p:cNvPr id="202" name="Z202"/>
          <p:cNvSpPr/>
          <p:nvPr/>
        </p:nvSpPr>
        <p:spPr>
          <a:xfrm>
            <a:off x="6263640" y="2606040"/>
            <a:ext cx="4846320" cy="2350008"/>
          </a:xfrm>
          <a:prstGeom prst="roundRect">
            <a:avLst>
              <a:gd name="adj" fmla="val 6000"/>
            </a:avLst>
          </a:prstGeom>
          <a:solidFill>
            <a:srgbClr val="EFE7E1"/>
          </a:solidFill>
          <a:ln>
            <a:noFill/>
          </a:ln>
        </p:spPr>
        <p:txBody>
          <a:bodyPr/>
          <a:lstStyle/>
          <a:p/>
        </p:txBody>
      </p:sp>
      <p:sp>
        <p:nvSpPr>
          <p:cNvPr id="203" name="TL203"/>
          <p:cNvSpPr>
            <a:spLocks noGrp="1"/>
          </p:cNvSpPr>
          <p:nvPr/>
        </p:nvSpPr>
        <p:spPr>
          <a:xfrm>
            <a:off x="1188720" y="2724912"/>
            <a:ext cx="306324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050" b="1" i="0" spc="260">
                <a:solidFill>
                  <a:srgbClr val="1D4F37"/>
                </a:solidFill>
                <a:latin typeface="Arial"/>
              </a:rPr>
              <a:t>DE DÓNDE VENIMOS</a:t>
            </a:r>
          </a:p>
        </p:txBody>
      </p:sp>
      <p:sp>
        <p:nvSpPr>
          <p:cNvPr id="204" name="TL204"/>
          <p:cNvSpPr>
            <a:spLocks noGrp="1"/>
          </p:cNvSpPr>
          <p:nvPr/>
        </p:nvSpPr>
        <p:spPr>
          <a:xfrm>
            <a:off x="4434840" y="2724912"/>
            <a:ext cx="16459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050" b="1" i="0" spc="200">
                <a:solidFill>
                  <a:srgbClr val="C25A12"/>
                </a:solidFill>
                <a:latin typeface="Arial"/>
              </a:rPr>
              <a:t>DÓNDE ESTAMOS</a:t>
            </a:r>
          </a:p>
        </p:txBody>
      </p:sp>
      <p:sp>
        <p:nvSpPr>
          <p:cNvPr id="205" name="TL205"/>
          <p:cNvSpPr>
            <a:spLocks noGrp="1"/>
          </p:cNvSpPr>
          <p:nvPr/>
        </p:nvSpPr>
        <p:spPr>
          <a:xfrm>
            <a:off x="6263640" y="2724912"/>
            <a:ext cx="4846320" cy="29260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050" b="1" i="0" spc="260">
                <a:solidFill>
                  <a:srgbClr val="2C5F47"/>
                </a:solidFill>
                <a:latin typeface="Arial"/>
              </a:rPr>
              <a:t>HACIA DÓNDE VAMOS</a:t>
            </a:r>
          </a:p>
        </p:txBody>
      </p:sp>
      <p:sp>
        <p:nvSpPr>
          <p:cNvPr id="206" name="L206"/>
          <p:cNvSpPr/>
          <p:nvPr/>
        </p:nvSpPr>
        <p:spPr>
          <a:xfrm>
            <a:off x="1874520" y="3506724"/>
            <a:ext cx="8458200" cy="27432"/>
          </a:xfrm>
          <a:prstGeom prst="rect">
            <a:avLst/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207" name="C207"/>
          <p:cNvSpPr/>
          <p:nvPr/>
        </p:nvSpPr>
        <p:spPr>
          <a:xfrm>
            <a:off x="162763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00</a:t>
            </a:r>
          </a:p>
        </p:txBody>
      </p:sp>
      <p:sp>
        <p:nvSpPr>
          <p:cNvPr id="208" name="C208"/>
          <p:cNvSpPr/>
          <p:nvPr/>
        </p:nvSpPr>
        <p:spPr>
          <a:xfrm>
            <a:off x="3319272" y="3273552"/>
            <a:ext cx="493776" cy="493776"/>
          </a:xfrm>
          <a:prstGeom prst="ellipse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CF1ED"/>
                </a:solidFill>
                <a:latin typeface="Arial"/>
              </a:rPr>
              <a:t>01</a:t>
            </a:r>
          </a:p>
        </p:txBody>
      </p:sp>
      <p:sp>
        <p:nvSpPr>
          <p:cNvPr id="209" name="C209"/>
          <p:cNvSpPr/>
          <p:nvPr/>
        </p:nvSpPr>
        <p:spPr>
          <a:xfrm>
            <a:off x="5010912" y="3273552"/>
            <a:ext cx="493776" cy="493776"/>
          </a:xfrm>
          <a:prstGeom prst="ellipse">
            <a:avLst/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FFFFFF"/>
                </a:solidFill>
                <a:latin typeface="Arial"/>
              </a:rPr>
              <a:t>02</a:t>
            </a:r>
          </a:p>
        </p:txBody>
      </p:sp>
      <p:sp>
        <p:nvSpPr>
          <p:cNvPr id="210" name="C210"/>
          <p:cNvSpPr/>
          <p:nvPr/>
        </p:nvSpPr>
        <p:spPr>
          <a:xfrm>
            <a:off x="670255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03</a:t>
            </a:r>
          </a:p>
        </p:txBody>
      </p:sp>
      <p:sp>
        <p:nvSpPr>
          <p:cNvPr id="211" name="C211"/>
          <p:cNvSpPr/>
          <p:nvPr/>
        </p:nvSpPr>
        <p:spPr>
          <a:xfrm>
            <a:off x="839419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04</a:t>
            </a:r>
          </a:p>
        </p:txBody>
      </p:sp>
      <p:sp>
        <p:nvSpPr>
          <p:cNvPr id="212" name="C212"/>
          <p:cNvSpPr/>
          <p:nvPr/>
        </p:nvSpPr>
        <p:spPr>
          <a:xfrm>
            <a:off x="10085832" y="3273552"/>
            <a:ext cx="493776" cy="493776"/>
          </a:xfrm>
          <a:prstGeom prst="ellipse">
            <a:avLst/>
          </a:prstGeom>
          <a:solidFill>
            <a:srgbClr val="FCF1ED"/>
          </a:solidFill>
          <a:ln w="1905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1200" b="1" i="0">
                <a:solidFill>
                  <a:srgbClr val="1D4F37"/>
                </a:solidFill>
                <a:latin typeface="Arial"/>
              </a:rPr>
              <a:t>05</a:t>
            </a:r>
          </a:p>
        </p:txBody>
      </p:sp>
      <p:sp>
        <p:nvSpPr>
          <p:cNvPr id="213" name="TL213"/>
          <p:cNvSpPr>
            <a:spLocks noGrp="1"/>
          </p:cNvSpPr>
          <p:nvPr/>
        </p:nvSpPr>
        <p:spPr>
          <a:xfrm>
            <a:off x="10287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1D4F37"/>
                </a:solidFill>
                <a:latin typeface="Arial"/>
              </a:rPr>
              <a:t>Hecho</a:t>
            </a:r>
          </a:p>
        </p:txBody>
      </p:sp>
      <p:sp>
        <p:nvSpPr>
          <p:cNvPr id="214" name="TL214"/>
          <p:cNvSpPr>
            <a:spLocks noGrp="1"/>
          </p:cNvSpPr>
          <p:nvPr/>
        </p:nvSpPr>
        <p:spPr>
          <a:xfrm>
            <a:off x="272034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1D4F37"/>
                </a:solidFill>
                <a:latin typeface="Arial"/>
              </a:rPr>
              <a:t>Hecho</a:t>
            </a:r>
          </a:p>
        </p:txBody>
      </p:sp>
      <p:sp>
        <p:nvSpPr>
          <p:cNvPr id="215" name="TL215"/>
          <p:cNvSpPr>
            <a:spLocks noGrp="1"/>
          </p:cNvSpPr>
          <p:nvPr/>
        </p:nvSpPr>
        <p:spPr>
          <a:xfrm>
            <a:off x="441198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C25A12"/>
                </a:solidFill>
                <a:latin typeface="Arial"/>
              </a:rPr>
              <a:t>En curso</a:t>
            </a:r>
          </a:p>
        </p:txBody>
      </p:sp>
      <p:sp>
        <p:nvSpPr>
          <p:cNvPr id="216" name="TL216"/>
          <p:cNvSpPr>
            <a:spLocks noGrp="1"/>
          </p:cNvSpPr>
          <p:nvPr/>
        </p:nvSpPr>
        <p:spPr>
          <a:xfrm>
            <a:off x="610362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8A827B"/>
                </a:solidFill>
                <a:latin typeface="Arial"/>
              </a:rPr>
              <a:t>Próximo</a:t>
            </a:r>
          </a:p>
        </p:txBody>
      </p:sp>
      <p:sp>
        <p:nvSpPr>
          <p:cNvPr id="217" name="TL217"/>
          <p:cNvSpPr>
            <a:spLocks noGrp="1"/>
          </p:cNvSpPr>
          <p:nvPr/>
        </p:nvSpPr>
        <p:spPr>
          <a:xfrm>
            <a:off x="779526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8A827B"/>
                </a:solidFill>
                <a:latin typeface="Arial"/>
              </a:rPr>
              <a:t>Próximo</a:t>
            </a:r>
          </a:p>
        </p:txBody>
      </p:sp>
      <p:sp>
        <p:nvSpPr>
          <p:cNvPr id="218" name="TL218"/>
          <p:cNvSpPr>
            <a:spLocks noGrp="1"/>
          </p:cNvSpPr>
          <p:nvPr/>
        </p:nvSpPr>
        <p:spPr>
          <a:xfrm>
            <a:off x="9486900" y="3803904"/>
            <a:ext cx="1691640" cy="201168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20" b="1" i="0" spc="120">
                <a:solidFill>
                  <a:srgbClr val="8A827B"/>
                </a:solidFill>
                <a:latin typeface="Arial"/>
              </a:rPr>
              <a:t>Próximo</a:t>
            </a:r>
          </a:p>
        </p:txBody>
      </p:sp>
      <p:sp>
        <p:nvSpPr>
          <p:cNvPr id="219" name="TL219"/>
          <p:cNvSpPr>
            <a:spLocks noGrp="1"/>
          </p:cNvSpPr>
          <p:nvPr/>
        </p:nvSpPr>
        <p:spPr>
          <a:xfrm>
            <a:off x="10287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Constituir</a:t>
            </a:r>
          </a:p>
        </p:txBody>
      </p:sp>
      <p:sp>
        <p:nvSpPr>
          <p:cNvPr id="220" name="TL220"/>
          <p:cNvSpPr>
            <a:spLocks noGrp="1"/>
          </p:cNvSpPr>
          <p:nvPr/>
        </p:nvSpPr>
        <p:spPr>
          <a:xfrm>
            <a:off x="272034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Validar</a:t>
            </a:r>
          </a:p>
        </p:txBody>
      </p:sp>
      <p:sp>
        <p:nvSpPr>
          <p:cNvPr id="221" name="TL221"/>
          <p:cNvSpPr>
            <a:spLocks noGrp="1"/>
          </p:cNvSpPr>
          <p:nvPr/>
        </p:nvSpPr>
        <p:spPr>
          <a:xfrm>
            <a:off x="441198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Financiar</a:t>
            </a:r>
          </a:p>
        </p:txBody>
      </p:sp>
      <p:sp>
        <p:nvSpPr>
          <p:cNvPr id="222" name="TL222"/>
          <p:cNvSpPr>
            <a:spLocks noGrp="1"/>
          </p:cNvSpPr>
          <p:nvPr/>
        </p:nvSpPr>
        <p:spPr>
          <a:xfrm>
            <a:off x="610362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Escalar</a:t>
            </a:r>
          </a:p>
        </p:txBody>
      </p:sp>
      <p:sp>
        <p:nvSpPr>
          <p:cNvPr id="223" name="TL223"/>
          <p:cNvSpPr>
            <a:spLocks noGrp="1"/>
          </p:cNvSpPr>
          <p:nvPr/>
        </p:nvSpPr>
        <p:spPr>
          <a:xfrm>
            <a:off x="779526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Diversificar</a:t>
            </a:r>
          </a:p>
        </p:txBody>
      </p:sp>
      <p:sp>
        <p:nvSpPr>
          <p:cNvPr id="224" name="TL224"/>
          <p:cNvSpPr>
            <a:spLocks noGrp="1"/>
          </p:cNvSpPr>
          <p:nvPr/>
        </p:nvSpPr>
        <p:spPr>
          <a:xfrm>
            <a:off x="9486900" y="4041648"/>
            <a:ext cx="1691640" cy="256032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Consolidar</a:t>
            </a:r>
          </a:p>
        </p:txBody>
      </p:sp>
      <p:sp>
        <p:nvSpPr>
          <p:cNvPr id="225" name="TL225"/>
          <p:cNvSpPr>
            <a:spLocks noGrp="1"/>
          </p:cNvSpPr>
          <p:nvPr/>
        </p:nvSpPr>
        <p:spPr>
          <a:xfrm>
            <a:off x="10287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Sociedad creada y planta de 58 m² operativa.</a:t>
            </a:r>
          </a:p>
        </p:txBody>
      </p:sp>
      <p:sp>
        <p:nvSpPr>
          <p:cNvPr id="226" name="TL226"/>
          <p:cNvSpPr>
            <a:spLocks noGrp="1"/>
          </p:cNvSpPr>
          <p:nvPr/>
        </p:nvSpPr>
        <p:spPr>
          <a:xfrm>
            <a:off x="272034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MVP validado y 2 distribuidores recurrentes.</a:t>
            </a:r>
          </a:p>
        </p:txBody>
      </p:sp>
      <p:sp>
        <p:nvSpPr>
          <p:cNvPr id="227" name="TL227"/>
          <p:cNvSpPr>
            <a:spLocks noGrp="1"/>
          </p:cNvSpPr>
          <p:nvPr/>
        </p:nvSpPr>
        <p:spPr>
          <a:xfrm>
            <a:off x="441198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Break-even, cartera estable y ronda cerrada.</a:t>
            </a:r>
          </a:p>
        </p:txBody>
      </p:sp>
      <p:sp>
        <p:nvSpPr>
          <p:cNvPr id="228" name="TL228"/>
          <p:cNvSpPr>
            <a:spLocks noGrp="1"/>
          </p:cNvSpPr>
          <p:nvPr/>
        </p:nvSpPr>
        <p:spPr>
          <a:xfrm>
            <a:off x="610362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Nave en marcha, 2 grandes clientes y 1er empleado.</a:t>
            </a:r>
          </a:p>
        </p:txBody>
      </p:sp>
      <p:sp>
        <p:nvSpPr>
          <p:cNvPr id="229" name="TL229"/>
          <p:cNvSpPr>
            <a:spLocks noGrp="1"/>
          </p:cNvSpPr>
          <p:nvPr/>
        </p:nvSpPr>
        <p:spPr>
          <a:xfrm>
            <a:off x="779526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Nuevas líneas y adquisiciones con caja estable.</a:t>
            </a:r>
          </a:p>
        </p:txBody>
      </p:sp>
      <p:sp>
        <p:nvSpPr>
          <p:cNvPr id="230" name="TL230"/>
          <p:cNvSpPr>
            <a:spLocks noGrp="1"/>
          </p:cNvSpPr>
          <p:nvPr/>
        </p:nvSpPr>
        <p:spPr>
          <a:xfrm>
            <a:off x="9486900" y="4334256"/>
            <a:ext cx="1691640" cy="603504"/>
          </a:xfrm>
          <a:prstGeom prst="rect">
            <a:avLst/>
          </a:prstGeom>
        </p:spPr>
        <p:txBody>
          <a:bodyPr wrap="square" lIns="0" tIns="0" rIns="0" bIns="0" anchor="t"/>
          <a:lstStyle/>
          <a:p>
            <a:pPr algn="ctr">
              <a:lnSpc>
                <a:spcPct val="104000"/>
              </a:lnSpc>
            </a:pPr>
            <a:r>
              <a:rPr lang="es-ES" sz="850" b="0" i="0">
                <a:solidFill>
                  <a:srgbClr val="3A453F"/>
                </a:solidFill>
                <a:latin typeface="Arial"/>
              </a:rPr>
              <a:t>Grupo o holding con Rootflow como OpCo.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ESCENARIOS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RANGO DE RESULTADOS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Del caso base al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potencial.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Suelo de protección: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garantiza al inversor un mínimo de 1,5× —150.000 € por sus 100.000 €— aunque el plan se quede corto. Con el plan actual no llega a activarse en ninguno de los tres casos.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36A9A304-0E7F-1FBC-E1BE-8ED14630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401" name="X401"/>
          <p:cNvSpPr txBox="1"/>
          <p:nvPr/>
        </p:nvSpPr>
        <p:spPr>
          <a:xfrm>
            <a:off x="777240" y="2340864"/>
            <a:ext cx="2240280" cy="29260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4000"/>
              </a:lnSpc>
            </a:pPr>
            <a:r>
              <a:rPr lang="es-ES" sz="1400" b="1" i="0">
                <a:solidFill>
                  <a:srgbClr val="1D4F37"/>
                </a:solidFill>
                <a:latin typeface="Arial"/>
              </a:rPr>
              <a:t>Un modelo, tres casos.</a:t>
            </a:r>
          </a:p>
        </p:txBody>
      </p:sp>
      <p:sp>
        <p:nvSpPr>
          <p:cNvPr id="402" name="X402"/>
          <p:cNvSpPr txBox="1"/>
          <p:nvPr/>
        </p:nvSpPr>
        <p:spPr>
          <a:xfrm>
            <a:off x="777240" y="2706624"/>
            <a:ext cx="2240280" cy="11887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El Base es el plan de negocio. Cambiar una sola palanca —los minutos por bandeja, el precio, la automatización o el peso de los restaurantes— recalcula plantilla, EBITDA, caja y retorno del inversor.</a:t>
            </a:r>
          </a:p>
        </p:txBody>
      </p:sp>
      <p:sp>
        <p:nvSpPr>
          <p:cNvPr id="403" name="X403"/>
          <p:cNvSpPr/>
          <p:nvPr/>
        </p:nvSpPr>
        <p:spPr>
          <a:xfrm>
            <a:off x="315468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04" name="X404"/>
          <p:cNvSpPr txBox="1"/>
          <p:nvPr/>
        </p:nvSpPr>
        <p:spPr>
          <a:xfrm>
            <a:off x="315468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900" b="1" i="0" spc="140">
                <a:solidFill>
                  <a:srgbClr val="8A827B"/>
                </a:solidFill>
                <a:latin typeface="Arial"/>
              </a:rPr>
              <a:t>CONSERVADOR</a:t>
            </a:r>
          </a:p>
        </p:txBody>
      </p:sp>
      <p:sp>
        <p:nvSpPr>
          <p:cNvPr id="405" name="X405"/>
          <p:cNvSpPr txBox="1"/>
          <p:nvPr/>
        </p:nvSpPr>
        <p:spPr>
          <a:xfrm>
            <a:off x="315468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2600" b="1" i="0">
                <a:solidFill>
                  <a:srgbClr val="3A453F"/>
                </a:solidFill>
                <a:latin typeface="Arial"/>
              </a:rPr>
              <a:t>28,2 %</a:t>
            </a:r>
          </a:p>
        </p:txBody>
      </p:sp>
      <p:sp>
        <p:nvSpPr>
          <p:cNvPr id="406" name="X406"/>
          <p:cNvSpPr txBox="1"/>
          <p:nvPr/>
        </p:nvSpPr>
        <p:spPr>
          <a:xfrm>
            <a:off x="315468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640" b="1" i="0" spc="100">
                <a:solidFill>
                  <a:srgbClr val="8A827B"/>
                </a:solidFill>
                <a:latin typeface="Arial"/>
              </a:rPr>
              <a:t>TIR DEL INVERSOR</a:t>
            </a:r>
          </a:p>
        </p:txBody>
      </p:sp>
      <p:sp>
        <p:nvSpPr>
          <p:cNvPr id="407" name="X407"/>
          <p:cNvSpPr/>
          <p:nvPr/>
        </p:nvSpPr>
        <p:spPr>
          <a:xfrm>
            <a:off x="333756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08" name="X408"/>
          <p:cNvSpPr txBox="1"/>
          <p:nvPr/>
        </p:nvSpPr>
        <p:spPr>
          <a:xfrm>
            <a:off x="331927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2,70×</a:t>
            </a:r>
          </a:p>
        </p:txBody>
      </p:sp>
      <p:sp>
        <p:nvSpPr>
          <p:cNvPr id="409" name="X409"/>
          <p:cNvSpPr txBox="1"/>
          <p:nvPr/>
        </p:nvSpPr>
        <p:spPr>
          <a:xfrm>
            <a:off x="331927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410" name="X410"/>
          <p:cNvSpPr txBox="1"/>
          <p:nvPr/>
        </p:nvSpPr>
        <p:spPr>
          <a:xfrm>
            <a:off x="448056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2,70 M€</a:t>
            </a:r>
          </a:p>
        </p:txBody>
      </p:sp>
      <p:sp>
        <p:nvSpPr>
          <p:cNvPr id="411" name="X411"/>
          <p:cNvSpPr txBox="1"/>
          <p:nvPr/>
        </p:nvSpPr>
        <p:spPr>
          <a:xfrm>
            <a:off x="448056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VALOR EQUITY · SALIDA</a:t>
            </a:r>
          </a:p>
        </p:txBody>
      </p:sp>
      <p:sp>
        <p:nvSpPr>
          <p:cNvPr id="412" name="X412"/>
          <p:cNvSpPr txBox="1"/>
          <p:nvPr/>
        </p:nvSpPr>
        <p:spPr>
          <a:xfrm>
            <a:off x="331927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1,45 M€</a:t>
            </a:r>
          </a:p>
        </p:txBody>
      </p:sp>
      <p:sp>
        <p:nvSpPr>
          <p:cNvPr id="413" name="X413"/>
          <p:cNvSpPr txBox="1"/>
          <p:nvPr/>
        </p:nvSpPr>
        <p:spPr>
          <a:xfrm>
            <a:off x="331927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INGRESOS · RÉGIMEN</a:t>
            </a:r>
          </a:p>
        </p:txBody>
      </p:sp>
      <p:sp>
        <p:nvSpPr>
          <p:cNvPr id="414" name="X414"/>
          <p:cNvSpPr txBox="1"/>
          <p:nvPr/>
        </p:nvSpPr>
        <p:spPr>
          <a:xfrm>
            <a:off x="448056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389 k€ · 27 %</a:t>
            </a:r>
          </a:p>
        </p:txBody>
      </p:sp>
      <p:sp>
        <p:nvSpPr>
          <p:cNvPr id="415" name="X415"/>
          <p:cNvSpPr txBox="1"/>
          <p:nvPr/>
        </p:nvSpPr>
        <p:spPr>
          <a:xfrm>
            <a:off x="448056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EBITDA · RÉGIMEN</a:t>
            </a:r>
          </a:p>
        </p:txBody>
      </p:sp>
      <p:sp>
        <p:nvSpPr>
          <p:cNvPr id="416" name="X416"/>
          <p:cNvSpPr/>
          <p:nvPr/>
        </p:nvSpPr>
        <p:spPr>
          <a:xfrm>
            <a:off x="594360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417" name="X417"/>
          <p:cNvSpPr txBox="1"/>
          <p:nvPr/>
        </p:nvSpPr>
        <p:spPr>
          <a:xfrm>
            <a:off x="594360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900" b="1" i="0" spc="140">
                <a:solidFill>
                  <a:srgbClr val="D8ECDF"/>
                </a:solidFill>
                <a:latin typeface="Arial"/>
              </a:rPr>
              <a:t>BASE</a:t>
            </a:r>
          </a:p>
        </p:txBody>
      </p:sp>
      <p:sp>
        <p:nvSpPr>
          <p:cNvPr id="418" name="X418"/>
          <p:cNvSpPr/>
          <p:nvPr/>
        </p:nvSpPr>
        <p:spPr>
          <a:xfrm>
            <a:off x="6986016" y="2624328"/>
            <a:ext cx="566928" cy="25603"/>
          </a:xfrm>
          <a:prstGeom prst="rect">
            <a:avLst/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419" name="X419"/>
          <p:cNvSpPr txBox="1"/>
          <p:nvPr/>
        </p:nvSpPr>
        <p:spPr>
          <a:xfrm>
            <a:off x="594360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2600" b="1" i="0">
                <a:solidFill>
                  <a:srgbClr val="FCF1ED"/>
                </a:solidFill>
                <a:latin typeface="Arial"/>
              </a:rPr>
              <a:t>50,7 %</a:t>
            </a:r>
          </a:p>
        </p:txBody>
      </p:sp>
      <p:sp>
        <p:nvSpPr>
          <p:cNvPr id="420" name="X420"/>
          <p:cNvSpPr txBox="1"/>
          <p:nvPr/>
        </p:nvSpPr>
        <p:spPr>
          <a:xfrm>
            <a:off x="594360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640" b="1" i="0" spc="100">
                <a:solidFill>
                  <a:srgbClr val="9BC9AE"/>
                </a:solidFill>
                <a:latin typeface="Arial"/>
              </a:rPr>
              <a:t>TIR DEL INVERSOR</a:t>
            </a:r>
          </a:p>
        </p:txBody>
      </p:sp>
      <p:sp>
        <p:nvSpPr>
          <p:cNvPr id="421" name="X421"/>
          <p:cNvSpPr/>
          <p:nvPr/>
        </p:nvSpPr>
        <p:spPr>
          <a:xfrm>
            <a:off x="6126480" y="3291840"/>
            <a:ext cx="2286000" cy="10973"/>
          </a:xfrm>
          <a:prstGeom prst="rect">
            <a:avLst/>
          </a:prstGeom>
          <a:solidFill>
            <a:srgbClr val="2C5F47"/>
          </a:solidFill>
          <a:ln>
            <a:noFill/>
          </a:ln>
        </p:spPr>
        <p:txBody>
          <a:bodyPr/>
          <a:lstStyle/>
          <a:p/>
        </p:txBody>
      </p:sp>
      <p:sp>
        <p:nvSpPr>
          <p:cNvPr id="422" name="X422"/>
          <p:cNvSpPr txBox="1"/>
          <p:nvPr/>
        </p:nvSpPr>
        <p:spPr>
          <a:xfrm>
            <a:off x="610819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5,16×</a:t>
            </a:r>
          </a:p>
        </p:txBody>
      </p:sp>
      <p:sp>
        <p:nvSpPr>
          <p:cNvPr id="423" name="X423"/>
          <p:cNvSpPr txBox="1"/>
          <p:nvPr/>
        </p:nvSpPr>
        <p:spPr>
          <a:xfrm>
            <a:off x="610819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MOIC</a:t>
            </a:r>
          </a:p>
        </p:txBody>
      </p:sp>
      <p:sp>
        <p:nvSpPr>
          <p:cNvPr id="424" name="X424"/>
          <p:cNvSpPr txBox="1"/>
          <p:nvPr/>
        </p:nvSpPr>
        <p:spPr>
          <a:xfrm>
            <a:off x="726948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5,16 M€</a:t>
            </a:r>
          </a:p>
        </p:txBody>
      </p:sp>
      <p:sp>
        <p:nvSpPr>
          <p:cNvPr id="425" name="X425"/>
          <p:cNvSpPr txBox="1"/>
          <p:nvPr/>
        </p:nvSpPr>
        <p:spPr>
          <a:xfrm>
            <a:off x="726948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VALOR EQUITY · SALIDA</a:t>
            </a:r>
          </a:p>
        </p:txBody>
      </p:sp>
      <p:sp>
        <p:nvSpPr>
          <p:cNvPr id="426" name="X426"/>
          <p:cNvSpPr txBox="1"/>
          <p:nvPr/>
        </p:nvSpPr>
        <p:spPr>
          <a:xfrm>
            <a:off x="610819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1,72 M€</a:t>
            </a:r>
          </a:p>
        </p:txBody>
      </p:sp>
      <p:sp>
        <p:nvSpPr>
          <p:cNvPr id="427" name="X427"/>
          <p:cNvSpPr txBox="1"/>
          <p:nvPr/>
        </p:nvSpPr>
        <p:spPr>
          <a:xfrm>
            <a:off x="610819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INGRESOS · RÉGIMEN</a:t>
            </a:r>
          </a:p>
        </p:txBody>
      </p:sp>
      <p:sp>
        <p:nvSpPr>
          <p:cNvPr id="428" name="X428"/>
          <p:cNvSpPr txBox="1"/>
          <p:nvPr/>
        </p:nvSpPr>
        <p:spPr>
          <a:xfrm>
            <a:off x="726948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FCF1ED"/>
                </a:solidFill>
                <a:latin typeface="Arial"/>
              </a:rPr>
              <a:t>714 k€ · 42 %</a:t>
            </a:r>
          </a:p>
        </p:txBody>
      </p:sp>
      <p:sp>
        <p:nvSpPr>
          <p:cNvPr id="429" name="X429"/>
          <p:cNvSpPr txBox="1"/>
          <p:nvPr/>
        </p:nvSpPr>
        <p:spPr>
          <a:xfrm>
            <a:off x="726948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9BC9AE"/>
                </a:solidFill>
                <a:latin typeface="Arial"/>
              </a:rPr>
              <a:t>EBITDA · RÉGIMEN</a:t>
            </a:r>
          </a:p>
        </p:txBody>
      </p:sp>
      <p:sp>
        <p:nvSpPr>
          <p:cNvPr id="430" name="X430"/>
          <p:cNvSpPr/>
          <p:nvPr/>
        </p:nvSpPr>
        <p:spPr>
          <a:xfrm>
            <a:off x="8732520" y="2304288"/>
            <a:ext cx="2651760" cy="17556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431" name="X431"/>
          <p:cNvSpPr txBox="1"/>
          <p:nvPr/>
        </p:nvSpPr>
        <p:spPr>
          <a:xfrm>
            <a:off x="8732520" y="2423160"/>
            <a:ext cx="265176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900" b="1" i="0" spc="140">
                <a:solidFill>
                  <a:srgbClr val="1D4F37"/>
                </a:solidFill>
                <a:latin typeface="Arial"/>
              </a:rPr>
              <a:t>OPTIMISTA</a:t>
            </a:r>
          </a:p>
        </p:txBody>
      </p:sp>
      <p:sp>
        <p:nvSpPr>
          <p:cNvPr id="432" name="X432"/>
          <p:cNvSpPr txBox="1"/>
          <p:nvPr/>
        </p:nvSpPr>
        <p:spPr>
          <a:xfrm>
            <a:off x="8732520" y="2670048"/>
            <a:ext cx="2651760" cy="4206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2600" b="1" i="0">
                <a:solidFill>
                  <a:srgbClr val="ED7E1F"/>
                </a:solidFill>
                <a:latin typeface="Arial"/>
              </a:rPr>
              <a:t>66,6 %</a:t>
            </a:r>
          </a:p>
        </p:txBody>
      </p:sp>
      <p:sp>
        <p:nvSpPr>
          <p:cNvPr id="433" name="X433"/>
          <p:cNvSpPr txBox="1"/>
          <p:nvPr/>
        </p:nvSpPr>
        <p:spPr>
          <a:xfrm>
            <a:off x="8732520" y="3108960"/>
            <a:ext cx="26517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640" b="1" i="0" spc="100">
                <a:solidFill>
                  <a:srgbClr val="8A827B"/>
                </a:solidFill>
                <a:latin typeface="Arial"/>
              </a:rPr>
              <a:t>TIR DEL INVERSOR</a:t>
            </a:r>
          </a:p>
        </p:txBody>
      </p:sp>
      <p:sp>
        <p:nvSpPr>
          <p:cNvPr id="434" name="X434"/>
          <p:cNvSpPr/>
          <p:nvPr/>
        </p:nvSpPr>
        <p:spPr>
          <a:xfrm>
            <a:off x="8915400" y="3291840"/>
            <a:ext cx="228600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35" name="X435"/>
          <p:cNvSpPr txBox="1"/>
          <p:nvPr/>
        </p:nvSpPr>
        <p:spPr>
          <a:xfrm>
            <a:off x="8897112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7,70×</a:t>
            </a:r>
          </a:p>
        </p:txBody>
      </p:sp>
      <p:sp>
        <p:nvSpPr>
          <p:cNvPr id="436" name="X436"/>
          <p:cNvSpPr txBox="1"/>
          <p:nvPr/>
        </p:nvSpPr>
        <p:spPr>
          <a:xfrm>
            <a:off x="8897112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MOIC</a:t>
            </a:r>
          </a:p>
        </p:txBody>
      </p:sp>
      <p:sp>
        <p:nvSpPr>
          <p:cNvPr id="437" name="X437"/>
          <p:cNvSpPr txBox="1"/>
          <p:nvPr/>
        </p:nvSpPr>
        <p:spPr>
          <a:xfrm>
            <a:off x="10058400" y="3355848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7,70 M€</a:t>
            </a:r>
          </a:p>
        </p:txBody>
      </p:sp>
      <p:sp>
        <p:nvSpPr>
          <p:cNvPr id="438" name="X438"/>
          <p:cNvSpPr txBox="1"/>
          <p:nvPr/>
        </p:nvSpPr>
        <p:spPr>
          <a:xfrm>
            <a:off x="10058400" y="3557016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VALOR EQUITY · SALIDA</a:t>
            </a:r>
          </a:p>
        </p:txBody>
      </p:sp>
      <p:sp>
        <p:nvSpPr>
          <p:cNvPr id="439" name="X439"/>
          <p:cNvSpPr txBox="1"/>
          <p:nvPr/>
        </p:nvSpPr>
        <p:spPr>
          <a:xfrm>
            <a:off x="8897112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1,98 M€</a:t>
            </a:r>
          </a:p>
        </p:txBody>
      </p:sp>
      <p:sp>
        <p:nvSpPr>
          <p:cNvPr id="440" name="X440"/>
          <p:cNvSpPr txBox="1"/>
          <p:nvPr/>
        </p:nvSpPr>
        <p:spPr>
          <a:xfrm>
            <a:off x="8897112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INGRESOS · RÉGIMEN</a:t>
            </a:r>
          </a:p>
        </p:txBody>
      </p:sp>
      <p:sp>
        <p:nvSpPr>
          <p:cNvPr id="441" name="X441"/>
          <p:cNvSpPr txBox="1"/>
          <p:nvPr/>
        </p:nvSpPr>
        <p:spPr>
          <a:xfrm>
            <a:off x="10058400" y="3703320"/>
            <a:ext cx="118872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000" b="1" i="0">
                <a:solidFill>
                  <a:srgbClr val="3A453F"/>
                </a:solidFill>
                <a:latin typeface="Arial"/>
              </a:rPr>
              <a:t>1,05 M€ · 53 %</a:t>
            </a:r>
          </a:p>
        </p:txBody>
      </p:sp>
      <p:sp>
        <p:nvSpPr>
          <p:cNvPr id="442" name="X442"/>
          <p:cNvSpPr txBox="1"/>
          <p:nvPr/>
        </p:nvSpPr>
        <p:spPr>
          <a:xfrm>
            <a:off x="10058400" y="3904488"/>
            <a:ext cx="1188720" cy="12801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560" b="1" i="0" spc="50">
                <a:solidFill>
                  <a:srgbClr val="8A827B"/>
                </a:solidFill>
                <a:latin typeface="Arial"/>
              </a:rPr>
              <a:t>EBITDA · RÉGIMEN</a:t>
            </a:r>
          </a:p>
        </p:txBody>
      </p:sp>
      <p:sp>
        <p:nvSpPr>
          <p:cNvPr id="443" name="X443"/>
          <p:cNvSpPr txBox="1"/>
          <p:nvPr/>
        </p:nvSpPr>
        <p:spPr>
          <a:xfrm>
            <a:off x="777240" y="4224528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680" b="1" i="0" spc="160">
                <a:solidFill>
                  <a:srgbClr val="8A827B"/>
                </a:solidFill>
                <a:latin typeface="Arial"/>
              </a:rPr>
              <a:t>LO QUE SE MODIFICA EN CADA CASO</a:t>
            </a:r>
          </a:p>
        </p:txBody>
      </p:sp>
      <p:sp>
        <p:nvSpPr>
          <p:cNvPr id="444" name="X444"/>
          <p:cNvSpPr/>
          <p:nvPr/>
        </p:nvSpPr>
        <p:spPr>
          <a:xfrm>
            <a:off x="777240" y="4434840"/>
            <a:ext cx="10607040" cy="10973"/>
          </a:xfrm>
          <a:prstGeom prst="rect">
            <a:avLst/>
          </a:prstGeom>
          <a:solidFill>
            <a:srgbClr val="E3D9D1"/>
          </a:solidFill>
          <a:ln>
            <a:noFill/>
          </a:ln>
        </p:spPr>
        <p:txBody>
          <a:bodyPr/>
          <a:lstStyle/>
          <a:p/>
        </p:txBody>
      </p:sp>
      <p:sp>
        <p:nvSpPr>
          <p:cNvPr id="445" name="X445"/>
          <p:cNvSpPr/>
          <p:nvPr/>
        </p:nvSpPr>
        <p:spPr>
          <a:xfrm>
            <a:off x="5943600" y="4462272"/>
            <a:ext cx="2651760" cy="932688"/>
          </a:xfrm>
          <a:prstGeom prst="roundRect">
            <a:avLst>
              <a:gd name="adj" fmla="val 6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446" name="X446"/>
          <p:cNvSpPr txBox="1"/>
          <p:nvPr/>
        </p:nvSpPr>
        <p:spPr>
          <a:xfrm>
            <a:off x="777240" y="4498848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Minutos por bandeja</a:t>
            </a:r>
          </a:p>
        </p:txBody>
      </p:sp>
      <p:sp>
        <p:nvSpPr>
          <p:cNvPr id="447" name="X447"/>
          <p:cNvSpPr txBox="1"/>
          <p:nvPr/>
        </p:nvSpPr>
        <p:spPr>
          <a:xfrm>
            <a:off x="315468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4</a:t>
            </a:r>
          </a:p>
        </p:txBody>
      </p:sp>
      <p:sp>
        <p:nvSpPr>
          <p:cNvPr id="448" name="X448"/>
          <p:cNvSpPr txBox="1"/>
          <p:nvPr/>
        </p:nvSpPr>
        <p:spPr>
          <a:xfrm>
            <a:off x="594360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3</a:t>
            </a:r>
          </a:p>
        </p:txBody>
      </p:sp>
      <p:sp>
        <p:nvSpPr>
          <p:cNvPr id="449" name="X449"/>
          <p:cNvSpPr txBox="1"/>
          <p:nvPr/>
        </p:nvSpPr>
        <p:spPr>
          <a:xfrm>
            <a:off x="8732520" y="4498848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2</a:t>
            </a:r>
          </a:p>
        </p:txBody>
      </p:sp>
      <p:sp>
        <p:nvSpPr>
          <p:cNvPr id="450" name="X450"/>
          <p:cNvSpPr txBox="1"/>
          <p:nvPr/>
        </p:nvSpPr>
        <p:spPr>
          <a:xfrm>
            <a:off x="777240" y="4672584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Precio de venta (índice)</a:t>
            </a:r>
          </a:p>
        </p:txBody>
      </p:sp>
      <p:sp>
        <p:nvSpPr>
          <p:cNvPr id="451" name="X451"/>
          <p:cNvSpPr txBox="1"/>
          <p:nvPr/>
        </p:nvSpPr>
        <p:spPr>
          <a:xfrm>
            <a:off x="315468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90 %</a:t>
            </a:r>
          </a:p>
        </p:txBody>
      </p:sp>
      <p:sp>
        <p:nvSpPr>
          <p:cNvPr id="452" name="X452"/>
          <p:cNvSpPr txBox="1"/>
          <p:nvPr/>
        </p:nvSpPr>
        <p:spPr>
          <a:xfrm>
            <a:off x="594360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100 %</a:t>
            </a:r>
          </a:p>
        </p:txBody>
      </p:sp>
      <p:sp>
        <p:nvSpPr>
          <p:cNvPr id="453" name="X453"/>
          <p:cNvSpPr txBox="1"/>
          <p:nvPr/>
        </p:nvSpPr>
        <p:spPr>
          <a:xfrm>
            <a:off x="8732520" y="4672584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110 %</a:t>
            </a:r>
          </a:p>
        </p:txBody>
      </p:sp>
      <p:sp>
        <p:nvSpPr>
          <p:cNvPr id="454" name="X454"/>
          <p:cNvSpPr txBox="1"/>
          <p:nvPr/>
        </p:nvSpPr>
        <p:spPr>
          <a:xfrm>
            <a:off x="777240" y="4846320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Coste de producto (índice)</a:t>
            </a:r>
          </a:p>
        </p:txBody>
      </p:sp>
      <p:sp>
        <p:nvSpPr>
          <p:cNvPr id="455" name="X455"/>
          <p:cNvSpPr txBox="1"/>
          <p:nvPr/>
        </p:nvSpPr>
        <p:spPr>
          <a:xfrm>
            <a:off x="315468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105 %</a:t>
            </a:r>
          </a:p>
        </p:txBody>
      </p:sp>
      <p:sp>
        <p:nvSpPr>
          <p:cNvPr id="456" name="X456"/>
          <p:cNvSpPr txBox="1"/>
          <p:nvPr/>
        </p:nvSpPr>
        <p:spPr>
          <a:xfrm>
            <a:off x="594360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100 %</a:t>
            </a:r>
          </a:p>
        </p:txBody>
      </p:sp>
      <p:sp>
        <p:nvSpPr>
          <p:cNvPr id="457" name="X457"/>
          <p:cNvSpPr txBox="1"/>
          <p:nvPr/>
        </p:nvSpPr>
        <p:spPr>
          <a:xfrm>
            <a:off x="8732520" y="4846320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90 %</a:t>
            </a:r>
          </a:p>
        </p:txBody>
      </p:sp>
      <p:sp>
        <p:nvSpPr>
          <p:cNvPr id="458" name="X458"/>
          <p:cNvSpPr txBox="1"/>
          <p:nvPr/>
        </p:nvSpPr>
        <p:spPr>
          <a:xfrm>
            <a:off x="777240" y="5020056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Inversión en automatización</a:t>
            </a:r>
          </a:p>
        </p:txBody>
      </p:sp>
      <p:sp>
        <p:nvSpPr>
          <p:cNvPr id="459" name="X459"/>
          <p:cNvSpPr txBox="1"/>
          <p:nvPr/>
        </p:nvSpPr>
        <p:spPr>
          <a:xfrm>
            <a:off x="315468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0 €</a:t>
            </a:r>
          </a:p>
        </p:txBody>
      </p:sp>
      <p:sp>
        <p:nvSpPr>
          <p:cNvPr id="460" name="X460"/>
          <p:cNvSpPr txBox="1"/>
          <p:nvPr/>
        </p:nvSpPr>
        <p:spPr>
          <a:xfrm>
            <a:off x="594360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10.000 €</a:t>
            </a:r>
          </a:p>
        </p:txBody>
      </p:sp>
      <p:sp>
        <p:nvSpPr>
          <p:cNvPr id="461" name="X461"/>
          <p:cNvSpPr txBox="1"/>
          <p:nvPr/>
        </p:nvSpPr>
        <p:spPr>
          <a:xfrm>
            <a:off x="8732520" y="5020056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35.000 €</a:t>
            </a:r>
          </a:p>
        </p:txBody>
      </p:sp>
      <p:sp>
        <p:nvSpPr>
          <p:cNvPr id="462" name="X462"/>
          <p:cNvSpPr txBox="1"/>
          <p:nvPr/>
        </p:nvSpPr>
        <p:spPr>
          <a:xfrm>
            <a:off x="777240" y="5193792"/>
            <a:ext cx="224028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880" b="1" i="0">
                <a:solidFill>
                  <a:srgbClr val="3A453F"/>
                </a:solidFill>
                <a:latin typeface="Arial"/>
              </a:rPr>
              <a:t>Plantilla en régimen</a:t>
            </a:r>
          </a:p>
        </p:txBody>
      </p:sp>
      <p:sp>
        <p:nvSpPr>
          <p:cNvPr id="463" name="X463"/>
          <p:cNvSpPr txBox="1"/>
          <p:nvPr/>
        </p:nvSpPr>
        <p:spPr>
          <a:xfrm>
            <a:off x="315468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11 personas</a:t>
            </a:r>
          </a:p>
        </p:txBody>
      </p:sp>
      <p:sp>
        <p:nvSpPr>
          <p:cNvPr id="464" name="X464"/>
          <p:cNvSpPr txBox="1"/>
          <p:nvPr/>
        </p:nvSpPr>
        <p:spPr>
          <a:xfrm>
            <a:off x="594360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1" i="0">
                <a:solidFill>
                  <a:srgbClr val="1D4F37"/>
                </a:solidFill>
                <a:latin typeface="Arial"/>
              </a:rPr>
              <a:t>9 personas</a:t>
            </a:r>
          </a:p>
        </p:txBody>
      </p:sp>
      <p:sp>
        <p:nvSpPr>
          <p:cNvPr id="465" name="X465"/>
          <p:cNvSpPr txBox="1"/>
          <p:nvPr/>
        </p:nvSpPr>
        <p:spPr>
          <a:xfrm>
            <a:off x="8732520" y="5193792"/>
            <a:ext cx="2651760" cy="17373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7 personas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PALANCAS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CÓMO CRECE EL MARGEN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1D4F37"/>
                </a:solidFill>
                <a:latin typeface="Arial"/>
              </a:rPr>
              <a:t xml:space="preserve">Cuatro palancas</a:t>
            </a:r>
          </a:p>
          <a:p>
            <a:pPr algn="l">
              <a:lnSpc>
                <a:spcPct val="106000"/>
              </a:lnSpc>
            </a:pPr>
            <a:r>
              <a:rPr sz="3100" b="1" i="0">
                <a:solidFill>
                  <a:srgbClr val="ED7E1F"/>
                </a:solidFill>
                <a:latin typeface="Arial"/>
              </a:rPr>
              <a:t xml:space="preserve">de crecimiento.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COSTE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Automatización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Sensórica y control de clima y riego recortan el coste de mano de obra —la mayor partida en cultivo vertical— y elevan la producción por m².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36792" y="311277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PRECIO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36792" y="3387089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6792" y="3771137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Hoy vendemos en el rango bajo del sector. Con marca y relación con chefs consolidadas, hay recorrido de subida hacia precios premium.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III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MARGEN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Mix premium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Más peso de restaurantes, flores comestibles y variedades de alto valor por kilo: sube el ingreso por bandeja sin subir el coste de producción.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36792" y="4667250"/>
            <a:ext cx="5074920" cy="1461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ES" sz="950" b="1" spc="260" dirty="0">
                <a:solidFill>
                  <a:srgbClr val="ED7E1F"/>
                </a:solidFill>
                <a:latin typeface="Arial"/>
              </a:rPr>
              <a:t>IV</a:t>
            </a:r>
            <a:r>
              <a:rPr sz="950" b="1" i="0" spc="260" dirty="0">
                <a:solidFill>
                  <a:srgbClr val="ED7E1F"/>
                </a:solidFill>
                <a:latin typeface="Arial"/>
              </a:rPr>
              <a:t xml:space="preserve"> — ESCALA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4941570"/>
            <a:ext cx="5074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D4F37"/>
                </a:solidFill>
                <a:latin typeface="Arial"/>
              </a:rPr>
              <a:t>Nuevas líneas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6792" y="5325618"/>
            <a:ext cx="5074920" cy="8229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50" b="0" i="0">
                <a:solidFill>
                  <a:srgbClr val="3A453F"/>
                </a:solidFill>
                <a:latin typeface="Arial"/>
              </a:rPr>
              <a:t>Cada rack adicional escala sobre una estructura de costes fija. La misma base sostiene nuevas líneas y áreas de negocio.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FE702B46-0896-FEC6-23C7-1596746A75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ESTRUCTURA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POR QUÉ CAPITAL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Entramos en capital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porque ENISA lo exige.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Instrumentación: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nota convertible, capitalizada antes de que ENISA formalice su préstamo, tal y como exige su procedimiento.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801" name="X801"/>
          <p:cNvSpPr/>
          <p:nvPr/>
        </p:nvSpPr>
        <p:spPr>
          <a:xfrm>
            <a:off x="77724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2" name="X802"/>
          <p:cNvSpPr txBox="1"/>
          <p:nvPr/>
        </p:nvSpPr>
        <p:spPr>
          <a:xfrm>
            <a:off x="94183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 — EL REQUISITO</a:t>
            </a:r>
          </a:p>
        </p:txBody>
      </p:sp>
      <p:sp>
        <p:nvSpPr>
          <p:cNvPr id="803" name="X803"/>
          <p:cNvSpPr txBox="1"/>
          <p:nvPr/>
        </p:nvSpPr>
        <p:spPr>
          <a:xfrm>
            <a:off x="94183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Fondos propios ≥ préstamo</a:t>
            </a:r>
          </a:p>
        </p:txBody>
      </p:sp>
      <p:sp>
        <p:nvSpPr>
          <p:cNvPr id="804" name="X804"/>
          <p:cNvSpPr txBox="1"/>
          <p:nvPr/>
        </p:nvSpPr>
        <p:spPr>
          <a:xfrm>
            <a:off x="94183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ENISA exige fondos propios iguales o superiores al importe solicitado. Un préstamo privado es deuda y no computa: para movilizar los 100.000 € públicos, el tramo privado tiene que ser capital.</a:t>
            </a:r>
          </a:p>
        </p:txBody>
      </p:sp>
      <p:sp>
        <p:nvSpPr>
          <p:cNvPr id="805" name="X805"/>
          <p:cNvSpPr/>
          <p:nvPr/>
        </p:nvSpPr>
        <p:spPr>
          <a:xfrm>
            <a:off x="347472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06" name="X806"/>
          <p:cNvSpPr txBox="1"/>
          <p:nvPr/>
        </p:nvSpPr>
        <p:spPr>
          <a:xfrm>
            <a:off x="363931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II — LA PROTECCIÓN</a:t>
            </a:r>
          </a:p>
        </p:txBody>
      </p:sp>
      <p:sp>
        <p:nvSpPr>
          <p:cNvPr id="807" name="X807"/>
          <p:cNvSpPr txBox="1"/>
          <p:nvPr/>
        </p:nvSpPr>
        <p:spPr>
          <a:xfrm>
            <a:off x="363931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Suelo de 1,5×</a:t>
            </a:r>
          </a:p>
        </p:txBody>
      </p:sp>
      <p:sp>
        <p:nvSpPr>
          <p:cNvPr id="808" name="X808"/>
          <p:cNvSpPr txBox="1"/>
          <p:nvPr/>
        </p:nvSpPr>
        <p:spPr>
          <a:xfrm>
            <a:off x="363931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El inversor cobra el mayor de estos dos: su 10 % del valor de la compañía, o 1,5× lo aportado. Recupera con rentabilidad incluso en el escenario conservador.</a:t>
            </a:r>
          </a:p>
        </p:txBody>
      </p:sp>
      <p:sp>
        <p:nvSpPr>
          <p:cNvPr id="809" name="X809"/>
          <p:cNvSpPr/>
          <p:nvPr/>
        </p:nvSpPr>
        <p:spPr>
          <a:xfrm>
            <a:off x="617220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0" name="X810"/>
          <p:cNvSpPr txBox="1"/>
          <p:nvPr/>
        </p:nvSpPr>
        <p:spPr>
          <a:xfrm>
            <a:off x="633679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III — LA LIQUIDEZ</a:t>
            </a:r>
          </a:p>
        </p:txBody>
      </p:sp>
      <p:sp>
        <p:nvSpPr>
          <p:cNvPr id="811" name="X811"/>
          <p:cNvSpPr txBox="1"/>
          <p:nvPr/>
        </p:nvSpPr>
        <p:spPr>
          <a:xfrm>
            <a:off x="633679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Salida desde el año 4</a:t>
            </a:r>
          </a:p>
        </p:txBody>
      </p:sp>
      <p:sp>
        <p:nvSpPr>
          <p:cNvPr id="812" name="X812"/>
          <p:cNvSpPr txBox="1"/>
          <p:nvPr/>
        </p:nvSpPr>
        <p:spPr>
          <a:xfrm>
            <a:off x="633679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>Sin dividendos hasta amortizar ENISA. El retorno llega por un derecho de salida acordado desde el inicio, no por un cupón.</a:t>
            </a:r>
          </a:p>
        </p:txBody>
      </p:sp>
      <p:sp>
        <p:nvSpPr>
          <p:cNvPr id="813" name="X813"/>
          <p:cNvSpPr/>
          <p:nvPr/>
        </p:nvSpPr>
        <p:spPr>
          <a:xfrm>
            <a:off x="8869680" y="2450592"/>
            <a:ext cx="2514600" cy="15910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814" name="X814"/>
          <p:cNvSpPr txBox="1"/>
          <p:nvPr/>
        </p:nvSpPr>
        <p:spPr>
          <a:xfrm>
            <a:off x="9034272" y="2578608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IV — EL CONTROL</a:t>
            </a:r>
          </a:p>
        </p:txBody>
      </p:sp>
      <p:sp>
        <p:nvSpPr>
          <p:cNvPr id="815" name="X815"/>
          <p:cNvSpPr txBox="1"/>
          <p:nvPr/>
        </p:nvSpPr>
        <p:spPr>
          <a:xfrm>
            <a:off x="9034272" y="2779776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Fundadores con el 90 %</a:t>
            </a:r>
          </a:p>
        </p:txBody>
      </p:sp>
      <p:sp>
        <p:nvSpPr>
          <p:cNvPr id="816" name="X816"/>
          <p:cNvSpPr txBox="1"/>
          <p:nvPr/>
        </p:nvSpPr>
        <p:spPr>
          <a:xfrm>
            <a:off x="9034272" y="3108960"/>
            <a:ext cx="2185416" cy="87782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8000"/>
              </a:lnSpc>
            </a:pPr>
            <a:r>
              <a:rPr lang="es-ES" sz="880" b="0" i="0">
                <a:solidFill>
                  <a:srgbClr val="3A453F"/>
                </a:solidFill>
                <a:latin typeface="Arial"/>
              </a:rPr>
              <a:t xml:space="preserve">Participación minoritaria, sin veto sobre la operativa diaria: la gestión sigue en manos del equipo fundador.</a:t>
            </a:r>
          </a:p>
        </p:txBody>
      </p:sp>
      <p:sp>
        <p:nvSpPr>
          <p:cNvPr id="817" name="X817"/>
          <p:cNvSpPr txBox="1"/>
          <p:nvPr/>
        </p:nvSpPr>
        <p:spPr>
          <a:xfrm>
            <a:off x="777240" y="4261104"/>
            <a:ext cx="7315200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00" b="1" i="0" spc="160">
                <a:solidFill>
                  <a:srgbClr val="8A827B"/>
                </a:solidFill>
                <a:latin typeface="Arial"/>
              </a:rPr>
              <a:t>QUÉ COBRA EL INVERSOR EN LA SALIDA  ·  POR SUS 100.000 €</a:t>
            </a:r>
          </a:p>
        </p:txBody>
      </p:sp>
      <p:sp>
        <p:nvSpPr>
          <p:cNvPr id="818" name="X818"/>
          <p:cNvSpPr txBox="1"/>
          <p:nvPr/>
        </p:nvSpPr>
        <p:spPr>
          <a:xfrm>
            <a:off x="777240" y="449884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3A453F"/>
                </a:solidFill>
                <a:latin typeface="Arial"/>
              </a:rPr>
              <a:t>Conservador</a:t>
            </a:r>
          </a:p>
        </p:txBody>
      </p:sp>
      <p:sp>
        <p:nvSpPr>
          <p:cNvPr id="819" name="X819"/>
          <p:cNvSpPr/>
          <p:nvPr/>
        </p:nvSpPr>
        <p:spPr>
          <a:xfrm>
            <a:off x="2103120" y="4498848"/>
            <a:ext cx="2193135" cy="201168"/>
          </a:xfrm>
          <a:prstGeom prst="roundRect">
            <a:avLst>
              <a:gd name="adj" fmla="val 16000"/>
            </a:avLst>
          </a:prstGeom>
          <a:solidFill>
            <a:srgbClr val="9BC9AE"/>
          </a:solidFill>
          <a:ln>
            <a:noFill/>
          </a:ln>
        </p:spPr>
        <p:txBody>
          <a:bodyPr/>
          <a:lstStyle/>
          <a:p/>
        </p:txBody>
      </p:sp>
      <p:sp>
        <p:nvSpPr>
          <p:cNvPr id="820" name="X820"/>
          <p:cNvSpPr txBox="1"/>
          <p:nvPr/>
        </p:nvSpPr>
        <p:spPr>
          <a:xfrm>
            <a:off x="4424271" y="449884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3A453F"/>
                </a:solidFill>
                <a:latin typeface="Arial"/>
              </a:rPr>
              <a:t>270 k€  ·  2,7×</a:t>
            </a:r>
          </a:p>
        </p:txBody>
      </p:sp>
      <p:sp>
        <p:nvSpPr>
          <p:cNvPr id="821" name="X821"/>
          <p:cNvSpPr txBox="1"/>
          <p:nvPr/>
        </p:nvSpPr>
        <p:spPr>
          <a:xfrm>
            <a:off x="777240" y="477316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Base</a:t>
            </a:r>
          </a:p>
        </p:txBody>
      </p:sp>
      <p:sp>
        <p:nvSpPr>
          <p:cNvPr id="822" name="X822"/>
          <p:cNvSpPr/>
          <p:nvPr/>
        </p:nvSpPr>
        <p:spPr>
          <a:xfrm>
            <a:off x="2103120" y="4773168"/>
            <a:ext cx="4191325" cy="201168"/>
          </a:xfrm>
          <a:prstGeom prst="roundRect">
            <a:avLst>
              <a:gd name="adj" fmla="val 16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823" name="X823"/>
          <p:cNvSpPr txBox="1"/>
          <p:nvPr/>
        </p:nvSpPr>
        <p:spPr>
          <a:xfrm>
            <a:off x="6422461" y="477316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516 k€  ·  5,2×</a:t>
            </a:r>
          </a:p>
        </p:txBody>
      </p:sp>
      <p:sp>
        <p:nvSpPr>
          <p:cNvPr id="824" name="X824"/>
          <p:cNvSpPr txBox="1"/>
          <p:nvPr/>
        </p:nvSpPr>
        <p:spPr>
          <a:xfrm>
            <a:off x="777240" y="5047488"/>
            <a:ext cx="128016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3A453F"/>
                </a:solidFill>
                <a:latin typeface="Arial"/>
              </a:rPr>
              <a:t>Optimista</a:t>
            </a:r>
          </a:p>
        </p:txBody>
      </p:sp>
      <p:sp>
        <p:nvSpPr>
          <p:cNvPr id="825" name="X825"/>
          <p:cNvSpPr/>
          <p:nvPr/>
        </p:nvSpPr>
        <p:spPr>
          <a:xfrm>
            <a:off x="2103120" y="5047488"/>
            <a:ext cx="6254496" cy="201168"/>
          </a:xfrm>
          <a:prstGeom prst="roundRect">
            <a:avLst>
              <a:gd name="adj" fmla="val 16000"/>
            </a:avLst>
          </a:prstGeom>
          <a:solidFill>
            <a:srgbClr val="ED7E1F"/>
          </a:solidFill>
          <a:ln>
            <a:noFill/>
          </a:ln>
        </p:spPr>
        <p:txBody>
          <a:bodyPr/>
          <a:lstStyle/>
          <a:p/>
        </p:txBody>
      </p:sp>
      <p:sp>
        <p:nvSpPr>
          <p:cNvPr id="826" name="X826"/>
          <p:cNvSpPr txBox="1"/>
          <p:nvPr/>
        </p:nvSpPr>
        <p:spPr>
          <a:xfrm>
            <a:off x="8485632" y="5047488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C25A12"/>
                </a:solidFill>
                <a:latin typeface="Arial"/>
              </a:rPr>
              <a:t>770 k€  ·  7,7×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-4572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 xml:space="preserve">VISIÓN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 xml:space="preserve">MÁS ALLÁ DEL MICROBROTE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0584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3300" b="1" i="0" dirty="0">
                <a:solidFill>
                  <a:srgbClr val="1D4F37"/>
                </a:solidFill>
                <a:latin typeface="Arial"/>
              </a:rPr>
              <a:t xml:space="preserve">Rootflow es la primera OpCo. </a:t>
            </a:r>
            <a:r>
              <a:rPr sz="3300" b="1" i="0" dirty="0">
                <a:solidFill>
                  <a:srgbClr val="ED7E1F"/>
                </a:solidFill>
                <a:latin typeface="Arial"/>
              </a:rPr>
              <a:t xml:space="preserve">No la última.</a:t>
            </a:r>
          </a:p>
        </p:txBody>
      </p:sp>
      <p:sp>
        <p:nvSpPr>
          <p:cNvPr id="900" name="Rounded Rectangle 90"/>
          <p:cNvSpPr/>
          <p:nvPr/>
        </p:nvSpPr>
        <p:spPr>
          <a:xfrm>
            <a:off x="763524" y="5504687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350" b="1" i="0" dirty="0" err="1">
                <a:solidFill>
                  <a:srgbClr val="FCF1ED"/>
                </a:solidFill>
                <a:latin typeface="Arial"/>
              </a:rPr>
              <a:t xml:space="preserve">Primero el core:  </a:t>
            </a:r>
            <a:r>
              <a:rPr sz="1350" b="0" i="0" dirty="0">
                <a:solidFill>
                  <a:srgbClr val="D8ECDF"/>
                </a:solidFill>
                <a:latin typeface="Arial"/>
              </a:rPr>
              <a:t xml:space="preserve">cada nueva pata se abre con caja y cashflow, en su propia OpCo, sin distraer el plan de Rootflow.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24" name="Imagen 23">
            <a:extLst>
              <a:ext uri="{FF2B5EF4-FFF2-40B4-BE49-F238E27FC236}">
                <a16:creationId xmlns:a16="http://schemas.microsoft.com/office/drawing/2014/main" id="{CB19E962-8CCE-652C-F0BF-B3BAEEBA0D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951" name="X951"/>
          <p:cNvSpPr/>
          <p:nvPr/>
        </p:nvSpPr>
        <p:spPr>
          <a:xfrm>
            <a:off x="777240" y="2414016"/>
            <a:ext cx="10607040" cy="347472"/>
          </a:xfrm>
          <a:prstGeom prst="roundRect">
            <a:avLst>
              <a:gd name="adj" fmla="val 14000"/>
            </a:avLst>
          </a:prstGeom>
          <a:solidFill>
            <a:srgbClr val="1D4F37"/>
          </a:solidFill>
          <a:ln>
            <a:noFill/>
          </a:ln>
        </p:spPr>
        <p:txBody>
          <a:bodyPr/>
          <a:lstStyle/>
          <a:p/>
        </p:txBody>
      </p:sp>
      <p:sp>
        <p:nvSpPr>
          <p:cNvPr id="952" name="X952"/>
          <p:cNvSpPr txBox="1"/>
          <p:nvPr/>
        </p:nvSpPr>
        <p:spPr>
          <a:xfrm>
            <a:off x="777240" y="2414016"/>
            <a:ext cx="10607040" cy="34747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lnSpc>
                <a:spcPct val="104000"/>
              </a:lnSpc>
            </a:pPr>
            <a:r>
              <a:rPr lang="es-ES" sz="1000" b="1" i="0" spc="200">
                <a:solidFill>
                  <a:srgbClr val="FCF1ED"/>
                </a:solidFill>
                <a:latin typeface="Arial"/>
              </a:rPr>
              <a:t>HOLDING</a:t>
            </a:r>
            <a:r>
              <a:rPr lang="es-ES" sz="950" b="0" i="0">
                <a:solidFill>
                  <a:srgbClr val="D8ECDF"/>
                </a:solidFill>
                <a:latin typeface="Arial"/>
              </a:rPr>
              <a:t>   ·   estrategia, capital y adquisiciones   ·   cada proyecto, su propia OpCo</a:t>
            </a:r>
          </a:p>
        </p:txBody>
      </p:sp>
      <p:sp>
        <p:nvSpPr>
          <p:cNvPr id="953" name="X953"/>
          <p:cNvSpPr/>
          <p:nvPr/>
        </p:nvSpPr>
        <p:spPr>
          <a:xfrm>
            <a:off x="6073902" y="2761488"/>
            <a:ext cx="13716" cy="91440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4" name="X954"/>
          <p:cNvSpPr/>
          <p:nvPr/>
        </p:nvSpPr>
        <p:spPr>
          <a:xfrm>
            <a:off x="2034540" y="2852928"/>
            <a:ext cx="8092440" cy="13716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5" name="X955"/>
          <p:cNvSpPr/>
          <p:nvPr/>
        </p:nvSpPr>
        <p:spPr>
          <a:xfrm>
            <a:off x="202768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6" name="X956"/>
          <p:cNvSpPr/>
          <p:nvPr/>
        </p:nvSpPr>
        <p:spPr>
          <a:xfrm>
            <a:off x="472516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7" name="X957"/>
          <p:cNvSpPr/>
          <p:nvPr/>
        </p:nvSpPr>
        <p:spPr>
          <a:xfrm>
            <a:off x="742264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8" name="X958"/>
          <p:cNvSpPr/>
          <p:nvPr/>
        </p:nvSpPr>
        <p:spPr>
          <a:xfrm>
            <a:off x="10120122" y="2852928"/>
            <a:ext cx="13716" cy="146304"/>
          </a:xfrm>
          <a:prstGeom prst="rect">
            <a:avLst/>
          </a:prstGeom>
          <a:solidFill>
            <a:srgbClr val="C9BFA9"/>
          </a:solidFill>
          <a:ln>
            <a:noFill/>
          </a:ln>
        </p:spPr>
        <p:txBody>
          <a:bodyPr/>
          <a:lstStyle/>
          <a:p/>
        </p:txBody>
      </p:sp>
      <p:sp>
        <p:nvSpPr>
          <p:cNvPr id="959" name="X959"/>
          <p:cNvSpPr/>
          <p:nvPr/>
        </p:nvSpPr>
        <p:spPr>
          <a:xfrm>
            <a:off x="77724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 w="15875">
            <a:solidFill>
              <a:srgbClr val="ED7E1F"/>
            </a:solidFill>
          </a:ln>
        </p:spPr>
        <p:txBody>
          <a:bodyPr/>
          <a:lstStyle/>
          <a:p/>
        </p:txBody>
      </p:sp>
      <p:sp>
        <p:nvSpPr>
          <p:cNvPr id="960" name="X960"/>
          <p:cNvSpPr txBox="1"/>
          <p:nvPr/>
        </p:nvSpPr>
        <p:spPr>
          <a:xfrm>
            <a:off x="94183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OPCO 1  ·  HOY</a:t>
            </a:r>
          </a:p>
        </p:txBody>
      </p:sp>
      <p:sp>
        <p:nvSpPr>
          <p:cNvPr id="961" name="X961"/>
          <p:cNvSpPr txBox="1"/>
          <p:nvPr/>
        </p:nvSpPr>
        <p:spPr>
          <a:xfrm>
            <a:off x="94183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FCF1ED"/>
                </a:solidFill>
                <a:latin typeface="Arial"/>
              </a:rPr>
              <a:t>Rootflow</a:t>
            </a:r>
          </a:p>
        </p:txBody>
      </p:sp>
      <p:sp>
        <p:nvSpPr>
          <p:cNvPr id="962" name="X962"/>
          <p:cNvSpPr txBox="1"/>
          <p:nvPr/>
        </p:nvSpPr>
        <p:spPr>
          <a:xfrm>
            <a:off x="94183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D8ECDF"/>
                </a:solidFill>
                <a:latin typeface="Arial"/>
              </a:rPr>
              <a:t>Microbrotes vivos para restauración y distribución: poco capital, skin in the game y caja recurrente.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1" i="0">
                <a:solidFill>
                  <a:srgbClr val="FCF1ED"/>
                </a:solidFill>
                <a:latin typeface="Arial"/>
              </a:rPr>
              <a:t>Ya en el plan: </a:t>
            </a:r>
            <a:r>
              <a:rPr lang="es-ES" sz="830" b="0" i="0">
                <a:solidFill>
                  <a:srgbClr val="D8ECDF"/>
                </a:solidFill>
                <a:latin typeface="Arial"/>
              </a:rPr>
              <a:t>microhub en Salamanca, Chamberí y Centro, con riders para la última milla.</a:t>
            </a:r>
          </a:p>
        </p:txBody>
      </p:sp>
      <p:sp>
        <p:nvSpPr>
          <p:cNvPr id="963" name="X963"/>
          <p:cNvSpPr/>
          <p:nvPr/>
        </p:nvSpPr>
        <p:spPr>
          <a:xfrm>
            <a:off x="347472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4" name="X964"/>
          <p:cNvSpPr txBox="1"/>
          <p:nvPr/>
        </p:nvSpPr>
        <p:spPr>
          <a:xfrm>
            <a:off x="363931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PATA 2  ·  GROWERS</a:t>
            </a:r>
          </a:p>
        </p:txBody>
      </p:sp>
      <p:sp>
        <p:nvSpPr>
          <p:cNvPr id="965" name="X965"/>
          <p:cNvSpPr txBox="1"/>
          <p:nvPr/>
        </p:nvSpPr>
        <p:spPr>
          <a:xfrm>
            <a:off x="363931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Semillas y Seed Mats</a:t>
            </a:r>
          </a:p>
        </p:txBody>
      </p:sp>
      <p:sp>
        <p:nvSpPr>
          <p:cNvPr id="966" name="X966"/>
          <p:cNvSpPr txBox="1"/>
          <p:nvPr/>
        </p:nvSpPr>
        <p:spPr>
          <a:xfrm>
            <a:off x="363931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Distribución de semilla especializada: nueva línea de ingresos y compra directa de nuestro principal coste.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Seed Mats biodegradables con la semilla ya distribuida y máquinas de siembra, para granjas (B2B) y kits retail vía e-commerce.</a:t>
            </a:r>
          </a:p>
        </p:txBody>
      </p:sp>
      <p:sp>
        <p:nvSpPr>
          <p:cNvPr id="967" name="X967"/>
          <p:cNvSpPr/>
          <p:nvPr/>
        </p:nvSpPr>
        <p:spPr>
          <a:xfrm>
            <a:off x="617220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/>
          <a:lstStyle/>
          <a:p/>
        </p:txBody>
      </p:sp>
      <p:sp>
        <p:nvSpPr>
          <p:cNvPr id="968" name="X968"/>
          <p:cNvSpPr txBox="1"/>
          <p:nvPr/>
        </p:nvSpPr>
        <p:spPr>
          <a:xfrm>
            <a:off x="633679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ED7E1F"/>
                </a:solidFill>
                <a:latin typeface="Arial"/>
              </a:rPr>
              <a:t>PATA 3  ·  NUTRICIÓN</a:t>
            </a:r>
          </a:p>
        </p:txBody>
      </p:sp>
      <p:sp>
        <p:nvSpPr>
          <p:cNvPr id="969" name="X969"/>
          <p:cNvSpPr txBox="1"/>
          <p:nvPr/>
        </p:nvSpPr>
        <p:spPr>
          <a:xfrm>
            <a:off x="633679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Microgreens en polvo</a:t>
            </a:r>
          </a:p>
        </p:txBody>
      </p:sp>
      <p:sp>
        <p:nvSpPr>
          <p:cNvPr id="970" name="X970"/>
          <p:cNvSpPr txBox="1"/>
          <p:nvPr/>
        </p:nvSpPr>
        <p:spPr>
          <a:xfrm>
            <a:off x="633679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Excedentes y mermas, deshidratados o liofilizados: un suplemento nutricional de marca propia, concepto tipo AG1.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Larga vida útil, sin presión logística y con canal online propio.</a:t>
            </a:r>
          </a:p>
        </p:txBody>
      </p:sp>
      <p:sp>
        <p:nvSpPr>
          <p:cNvPr id="971" name="X971"/>
          <p:cNvSpPr/>
          <p:nvPr/>
        </p:nvSpPr>
        <p:spPr>
          <a:xfrm>
            <a:off x="8869680" y="2999232"/>
            <a:ext cx="2514600" cy="1682496"/>
          </a:xfrm>
          <a:prstGeom prst="roundRect">
            <a:avLst>
              <a:gd name="adj" fmla="val 6000"/>
            </a:avLst>
          </a:prstGeom>
          <a:solidFill>
            <a:srgbClr val="FCF1ED"/>
          </a:solidFill>
          <a:ln w="12700">
            <a:solidFill>
              <a:srgbClr val="8A827B"/>
            </a:solidFill>
            <a:prstDash val="dash"/>
          </a:ln>
        </p:spPr>
        <p:txBody>
          <a:bodyPr/>
          <a:lstStyle/>
          <a:p/>
        </p:txBody>
      </p:sp>
      <p:sp>
        <p:nvSpPr>
          <p:cNvPr id="972" name="X972"/>
          <p:cNvSpPr txBox="1"/>
          <p:nvPr/>
        </p:nvSpPr>
        <p:spPr>
          <a:xfrm>
            <a:off x="9034272" y="3118104"/>
            <a:ext cx="2185416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720" b="1" i="0" spc="120">
                <a:solidFill>
                  <a:srgbClr val="8A827B"/>
                </a:solidFill>
                <a:latin typeface="Arial"/>
              </a:rPr>
              <a:t>PATA N  ·  INORGÁNICO</a:t>
            </a:r>
          </a:p>
        </p:txBody>
      </p:sp>
      <p:sp>
        <p:nvSpPr>
          <p:cNvPr id="973" name="X973"/>
          <p:cNvSpPr txBox="1"/>
          <p:nvPr/>
        </p:nvSpPr>
        <p:spPr>
          <a:xfrm>
            <a:off x="9034272" y="3300984"/>
            <a:ext cx="2185416" cy="25603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1250" b="1" i="0">
                <a:solidFill>
                  <a:srgbClr val="1D4F37"/>
                </a:solidFill>
                <a:latin typeface="Arial"/>
              </a:rPr>
              <a:t>Nuevas OpCos</a:t>
            </a:r>
          </a:p>
        </p:txBody>
      </p:sp>
      <p:sp>
        <p:nvSpPr>
          <p:cNvPr id="974" name="X974"/>
          <p:cNvSpPr txBox="1"/>
          <p:nvPr/>
        </p:nvSpPr>
        <p:spPr>
          <a:xfrm>
            <a:off x="9034272" y="3621024"/>
            <a:ext cx="2185416" cy="96926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Adquisiciones en las patas que ya tengamos o en otras nuevas.</a:t>
            </a:r>
          </a:p>
          <a:p>
            <a:pPr algn="l">
              <a:lnSpc>
                <a:spcPct val="116000"/>
              </a:lnSpc>
              <a:spcAft>
                <a:spcPts val="500"/>
              </a:spcAft>
            </a:pPr>
            <a:r>
              <a:rPr lang="es-ES" sz="830" b="0" i="0">
                <a:solidFill>
                  <a:srgbClr val="3A453F"/>
                </a:solidFill>
                <a:latin typeface="Arial"/>
              </a:rPr>
              <a:t>Cada proyecto, su propia OpCo bajo el holding: riesgo aislado y financiación a medida.</a:t>
            </a:r>
          </a:p>
        </p:txBody>
      </p:sp>
      <p:sp>
        <p:nvSpPr>
          <p:cNvPr id="975" name="X975"/>
          <p:cNvSpPr/>
          <p:nvPr/>
        </p:nvSpPr>
        <p:spPr>
          <a:xfrm>
            <a:off x="777240" y="4864608"/>
            <a:ext cx="10607040" cy="329184"/>
          </a:xfrm>
          <a:prstGeom prst="roundRect">
            <a:avLst>
              <a:gd name="adj" fmla="val 18000"/>
            </a:avLst>
          </a:prstGeom>
          <a:solidFill>
            <a:srgbClr val="D8ECDF"/>
          </a:solidFill>
          <a:ln>
            <a:noFill/>
          </a:ln>
        </p:spPr>
        <p:txBody>
          <a:bodyPr/>
          <a:lstStyle/>
          <a:p/>
        </p:txBody>
      </p:sp>
      <p:sp>
        <p:nvSpPr>
          <p:cNvPr id="976" name="X976"/>
          <p:cNvSpPr txBox="1"/>
          <p:nvPr/>
        </p:nvSpPr>
        <p:spPr>
          <a:xfrm>
            <a:off x="960120" y="4864608"/>
            <a:ext cx="10241280" cy="32918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04000"/>
              </a:lnSpc>
            </a:pPr>
            <a:r>
              <a:rPr lang="es-ES" sz="900" b="1" i="0">
                <a:solidFill>
                  <a:srgbClr val="1D4F37"/>
                </a:solidFill>
                <a:latin typeface="Arial"/>
              </a:rPr>
              <a:t>Sinergias:  </a:t>
            </a:r>
            <a:r>
              <a:rPr lang="es-ES" sz="900" b="0" i="0">
                <a:solidFill>
                  <a:srgbClr val="2C5F47"/>
                </a:solidFill>
                <a:latin typeface="Arial"/>
              </a:rPr>
              <a:t>todas las patas comparten know-how de cultivo, ERP, clientes y marca. La semilla baja nuestro coste; el polvo convierte la merma en margen.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MODELO DE NEGOCIO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DOS LÍNEAS DE NEGOCIO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Una nave,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dos formas de vender.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5486400"/>
            <a:ext cx="10634472" cy="60350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0" rIns="274320" bIns="0" rtlCol="0" anchor="ctr"/>
          <a:lstStyle/>
          <a:p>
            <a:pPr algn="ctr"/>
            <a:r>
              <a:rPr sz="1250" b="1" i="0">
                <a:solidFill>
                  <a:srgbClr val="FCF1ED"/>
                </a:solidFill>
                <a:latin typeface="Arial"/>
              </a:rPr>
              <a:t xml:space="preserve">La palanca:  </a:t>
            </a:r>
            <a:r>
              <a:rPr sz="1250" b="0" i="0">
                <a:solidFill>
                  <a:srgbClr val="D8ECDF"/>
                </a:solidFill>
                <a:latin typeface="Arial"/>
              </a:rPr>
              <a:t>el % de la nave para restaurantes sale de la distribución. La nave no produce más: vende mejor.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Volumen y margen, desde la misma nave.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sp>
        <p:nvSpPr>
          <p:cNvPr id="100" name="Línea LÍNEA 1  ·  DISTRIBUCIÓN"/>
          <p:cNvSpPr/>
          <p:nvPr/>
        </p:nvSpPr>
        <p:spPr>
          <a:xfrm>
            <a:off x="777240" y="2286000"/>
            <a:ext cx="5175504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D9D1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101" name="Etiqueta LÍNEA 1  ·  DISTRIBUCIÓN"/>
          <p:cNvSpPr txBox="1"/>
          <p:nvPr/>
        </p:nvSpPr>
        <p:spPr>
          <a:xfrm>
            <a:off x="1033272" y="24688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950" b="1" i="0" spc="200" dirty="0">
                <a:solidFill>
                  <a:srgbClr val="ED7E1F"/>
                </a:solidFill>
                <a:latin typeface="Arial"/>
              </a:rPr>
              <a:t xml:space="preserve">LÍNEA 1  ·  DISTRIBUCIÓN</a:t>
            </a:r>
          </a:p>
        </p:txBody>
      </p:sp>
      <p:sp>
        <p:nvSpPr>
          <p:cNvPr id="102" name="Palabra LÍNEA 1  ·  DISTRIBUCIÓN"/>
          <p:cNvSpPr txBox="1"/>
          <p:nvPr/>
        </p:nvSpPr>
        <p:spPr>
          <a:xfrm>
            <a:off x="1033272" y="269748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2000" b="1" i="0" dirty="0">
                <a:solidFill>
                  <a:srgbClr val="1D4F37"/>
                </a:solidFill>
                <a:latin typeface="Arial"/>
              </a:rPr>
              <a:t xml:space="preserve">El volumen</a:t>
            </a:r>
          </a:p>
        </p:txBody>
      </p:sp>
      <p:sp>
        <p:nvSpPr>
          <p:cNvPr id="103" name="Cifra LÍNEA 1  ·  DISTRIBUCIÓN"/>
          <p:cNvSpPr txBox="1"/>
          <p:nvPr/>
        </p:nvSpPr>
        <p:spPr>
          <a:xfrm>
            <a:off x="4069080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ES" sz="2200" b="1" i="0" dirty="0">
                <a:solidFill>
                  <a:srgbClr val="1D4F37"/>
                </a:solidFill>
                <a:latin typeface="Arial"/>
              </a:rPr>
              <a:t xml:space="preserve">1,38 M€</a:t>
            </a:r>
          </a:p>
          <a:p>
            <a:pPr algn="r"/>
            <a:r>
              <a:rPr lang="es-ES" sz="800" b="1" i="0" spc="100" dirty="0">
                <a:solidFill>
                  <a:srgbClr val="8A827B"/>
                </a:solidFill>
                <a:latin typeface="Arial"/>
              </a:rPr>
              <a:t xml:space="preserve">INGRESOS · AÑO 5</a:t>
            </a:r>
          </a:p>
        </p:txBody>
      </p:sp>
      <p:sp>
        <p:nvSpPr>
          <p:cNvPr id="104" name="Puntos LÍNEA 1  ·  DISTRIBUCIÓN"/>
          <p:cNvSpPr txBox="1"/>
          <p:nvPr/>
        </p:nvSpPr>
        <p:spPr>
          <a:xfrm>
            <a:off x="1033272" y="32461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Distribuidores, retail y Mercamadrid: clientes ya identificados y nuevas cuentas.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Tarifa mayorista: 44 €/kg de media.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s-ES" sz="1150" b="0" i="0" dirty="0">
                <a:solidFill>
                  <a:srgbClr val="3A453F"/>
                </a:solidFill>
                <a:latin typeface="Arial"/>
              </a:rPr>
              <a:t xml:space="preserve">Furgoneta propia en Madrid y Athos para el resto de España.</a:t>
            </a:r>
          </a:p>
        </p:txBody>
      </p:sp>
      <p:sp>
        <p:nvSpPr>
          <p:cNvPr id="105" name="Línea LÍNEA 2  ·  RESTAURANTES"/>
          <p:cNvSpPr/>
          <p:nvPr/>
        </p:nvSpPr>
        <p:spPr>
          <a:xfrm>
            <a:off x="6236208" y="2286000"/>
            <a:ext cx="5175504" cy="2057400"/>
          </a:xfrm>
          <a:prstGeom prst="roundRect">
            <a:avLst>
              <a:gd name="adj" fmla="val 6000"/>
            </a:avLst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06" name="Etiqueta LÍNEA 2  ·  RESTAURANTES"/>
          <p:cNvSpPr txBox="1"/>
          <p:nvPr/>
        </p:nvSpPr>
        <p:spPr>
          <a:xfrm>
            <a:off x="6492240" y="2468880"/>
            <a:ext cx="310896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950" b="1" i="0" spc="200" dirty="0">
                <a:solidFill>
                  <a:srgbClr val="ED7E1F"/>
                </a:solidFill>
                <a:latin typeface="Arial"/>
              </a:rPr>
              <a:t xml:space="preserve">LÍNEA 2  ·  RESTAURANTES</a:t>
            </a:r>
          </a:p>
        </p:txBody>
      </p:sp>
      <p:sp>
        <p:nvSpPr>
          <p:cNvPr id="107" name="Palabra LÍNEA 2  ·  RESTAURANTES"/>
          <p:cNvSpPr txBox="1"/>
          <p:nvPr/>
        </p:nvSpPr>
        <p:spPr>
          <a:xfrm>
            <a:off x="6492240" y="2697480"/>
            <a:ext cx="3017520" cy="3840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2000" b="1" i="0" dirty="0">
                <a:solidFill>
                  <a:srgbClr val="FCF1ED"/>
                </a:solidFill>
                <a:latin typeface="Arial"/>
              </a:rPr>
              <a:t xml:space="preserve">El margen</a:t>
            </a:r>
          </a:p>
        </p:txBody>
      </p:sp>
      <p:sp>
        <p:nvSpPr>
          <p:cNvPr id="108" name="Cifra LÍNEA 2  ·  RESTAURANTES"/>
          <p:cNvSpPr txBox="1"/>
          <p:nvPr/>
        </p:nvSpPr>
        <p:spPr>
          <a:xfrm>
            <a:off x="9528048" y="24688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r"/>
            <a:r>
              <a:rPr lang="es-ES" sz="2200" b="1" i="0" dirty="0">
                <a:solidFill>
                  <a:srgbClr val="FCF1ED"/>
                </a:solidFill>
                <a:latin typeface="Arial"/>
              </a:rPr>
              <a:t xml:space="preserve">345 k€</a:t>
            </a:r>
          </a:p>
          <a:p>
            <a:pPr algn="r"/>
            <a:r>
              <a:rPr lang="es-ES" sz="800" b="1" i="0" spc="100" dirty="0">
                <a:solidFill>
                  <a:srgbClr val="9BC9AE"/>
                </a:solidFill>
                <a:latin typeface="Arial"/>
              </a:rPr>
              <a:t xml:space="preserve">INGRESOS · AÑO 5</a:t>
            </a:r>
          </a:p>
        </p:txBody>
      </p:sp>
      <p:sp>
        <p:nvSpPr>
          <p:cNvPr id="109" name="Puntos LÍNEA 2  ·  RESTAURANTES"/>
          <p:cNvSpPr txBox="1"/>
          <p:nvPr/>
        </p:nvSpPr>
        <p:spPr>
          <a:xfrm>
            <a:off x="6492240" y="3246120"/>
            <a:ext cx="4663440" cy="100584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s-ES" sz="1150" b="0" i="0" dirty="0">
                <a:solidFill>
                  <a:srgbClr val="D8ECDF"/>
                </a:solidFill>
                <a:latin typeface="Arial"/>
              </a:rPr>
              <a:t xml:space="preserve">123 restaurantes en 8 zonas calientes de Madrid.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s-ES" sz="1150" b="0" i="0" dirty="0">
                <a:solidFill>
                  <a:srgbClr val="D8ECDF"/>
                </a:solidFill>
                <a:latin typeface="Arial"/>
              </a:rPr>
              <a:t xml:space="preserve">Dos pedidos por semana · ticket medio de 28,93 €.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s-ES" sz="1150" b="0" i="0" dirty="0">
                <a:solidFill>
                  <a:srgbClr val="D8ECDF"/>
                </a:solidFill>
                <a:latin typeface="Arial"/>
              </a:rPr>
              <a:t xml:space="preserve">Reparto con 2 riders desde un microhub refrigerado.</a:t>
            </a:r>
          </a:p>
          <a:p>
            <a:pPr algn="l" marL="171450" indent="-171450">
              <a:lnSpc>
                <a:spcPct val="110000"/>
              </a:lnSpc>
              <a:spcAft>
                <a:spcPts val="300"/>
              </a:spcAft>
              <a:buClr>
                <a:srgbClr val="ED7E1F"/>
              </a:buClr>
              <a:buFont typeface="Arial"/>
              <a:buChar char="•"/>
            </a:pPr>
            <a:r>
              <a:rPr lang="es-ES" sz="1150" b="0" i="0" dirty="0">
                <a:solidFill>
                  <a:srgbClr val="D8ECDF"/>
                </a:solidFill>
                <a:latin typeface="Arial"/>
              </a:rPr>
              <a:t xml:space="preserve">Tarifa restaurante: 173 €/kg de media.</a:t>
            </a:r>
          </a:p>
        </p:txBody>
      </p:sp>
      <p:sp>
        <p:nvSpPr>
          <p:cNvPr id="110" name="Pie barras"/>
          <p:cNvSpPr txBox="1"/>
          <p:nvPr/>
        </p:nvSpPr>
        <p:spPr>
          <a:xfrm>
            <a:off x="777240" y="4507992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850" b="1" i="0" spc="150" dirty="0">
                <a:solidFill>
                  <a:srgbClr val="8A827B"/>
                </a:solidFill>
                <a:latin typeface="Arial"/>
              </a:rPr>
              <a:t xml:space="preserve">AÑO 5  ·  ESCENARIO BASE</a:t>
            </a:r>
          </a:p>
        </p:txBody>
      </p:sp>
      <p:sp>
        <p:nvSpPr>
          <p:cNvPr id="111" name="Leyenda distribución"/>
          <p:cNvSpPr/>
          <p:nvPr/>
        </p:nvSpPr>
        <p:spPr>
          <a:xfrm>
            <a:off x="5440680" y="4544568"/>
            <a:ext cx="109728" cy="109728"/>
          </a:xfrm>
          <a:prstGeom prst="rect">
            <a:avLst/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2" name="Texto leyenda distribución"/>
          <p:cNvSpPr txBox="1"/>
          <p:nvPr/>
        </p:nvSpPr>
        <p:spPr>
          <a:xfrm>
            <a:off x="5596128" y="4507992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850" b="0" i="0" dirty="0">
                <a:solidFill>
                  <a:srgbClr val="3A453F"/>
                </a:solidFill>
                <a:latin typeface="Arial"/>
              </a:rPr>
              <a:t xml:space="preserve">Distribución</a:t>
            </a:r>
          </a:p>
        </p:txBody>
      </p:sp>
      <p:sp>
        <p:nvSpPr>
          <p:cNvPr id="113" name="Leyenda restaurantes"/>
          <p:cNvSpPr/>
          <p:nvPr/>
        </p:nvSpPr>
        <p:spPr>
          <a:xfrm>
            <a:off x="6720840" y="4544568"/>
            <a:ext cx="109728" cy="109728"/>
          </a:xfrm>
          <a:prstGeom prst="rect">
            <a:avLst/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4" name="Texto leyenda restaurantes"/>
          <p:cNvSpPr txBox="1"/>
          <p:nvPr/>
        </p:nvSpPr>
        <p:spPr>
          <a:xfrm>
            <a:off x="6876288" y="4507992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850" b="0" i="0" dirty="0">
                <a:solidFill>
                  <a:srgbClr val="3A453F"/>
                </a:solidFill>
                <a:latin typeface="Arial"/>
              </a:rPr>
              <a:t xml:space="preserve">Restaurantes</a:t>
            </a:r>
          </a:p>
        </p:txBody>
      </p:sp>
      <p:sp>
        <p:nvSpPr>
          <p:cNvPr id="115" name="Etiqueta barra 0"/>
          <p:cNvSpPr txBox="1"/>
          <p:nvPr/>
        </p:nvSpPr>
        <p:spPr>
          <a:xfrm>
            <a:off x="777240" y="4773168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1" i="0" dirty="0">
                <a:solidFill>
                  <a:srgbClr val="3A453F"/>
                </a:solidFill>
                <a:latin typeface="Arial"/>
              </a:rPr>
              <a:t xml:space="preserve">Kilos vendidos</a:t>
            </a:r>
          </a:p>
        </p:txBody>
      </p:sp>
      <p:sp>
        <p:nvSpPr>
          <p:cNvPr id="116" name="Barra distribución 0"/>
          <p:cNvSpPr/>
          <p:nvPr/>
        </p:nvSpPr>
        <p:spPr>
          <a:xfrm>
            <a:off x="2240280" y="4773168"/>
            <a:ext cx="5571576" cy="23774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</p:spPr>
        <p:txBody>
          <a:bodyPr wrap="square" lIns="91440" tIns="0" rIns="0" bIns="0" anchor="ctr"/>
          <a:lstStyle/>
          <a:p>
            <a:pPr algn="l"/>
            <a:r>
              <a:rPr lang="es-ES" sz="950" b="1" i="0" dirty="0">
                <a:solidFill>
                  <a:srgbClr val="FCF1ED"/>
                </a:solidFill>
                <a:latin typeface="Arial"/>
              </a:rPr>
              <a:t xml:space="preserve">95 %</a:t>
            </a:r>
          </a:p>
        </p:txBody>
      </p:sp>
      <p:sp>
        <p:nvSpPr>
          <p:cNvPr id="117" name="Barra restaurantes 0"/>
          <p:cNvSpPr/>
          <p:nvPr/>
        </p:nvSpPr>
        <p:spPr>
          <a:xfrm>
            <a:off x="7839288" y="4773168"/>
            <a:ext cx="298872" cy="237744"/>
          </a:xfrm>
          <a:prstGeom prst="roundRect">
            <a:avLst>
              <a:gd name="adj" fmla="val 12000"/>
            </a:avLst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950" b="1" i="0" dirty="0">
                <a:solidFill>
                  <a:srgbClr val="FFFFFF"/>
                </a:solidFill>
                <a:latin typeface="Arial"/>
              </a:rPr>
              <a:t xml:space="preserve">5 %</a:t>
            </a:r>
          </a:p>
        </p:txBody>
      </p:sp>
      <p:sp>
        <p:nvSpPr>
          <p:cNvPr id="118" name="Etiqueta barra 1"/>
          <p:cNvSpPr txBox="1"/>
          <p:nvPr/>
        </p:nvSpPr>
        <p:spPr>
          <a:xfrm>
            <a:off x="777240" y="5102352"/>
            <a:ext cx="1417320" cy="23774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1" i="0" dirty="0">
                <a:solidFill>
                  <a:srgbClr val="3A453F"/>
                </a:solidFill>
                <a:latin typeface="Arial"/>
              </a:rPr>
              <a:t xml:space="preserve">Ingresos</a:t>
            </a:r>
          </a:p>
        </p:txBody>
      </p:sp>
      <p:sp>
        <p:nvSpPr>
          <p:cNvPr id="119" name="Barra distribución 1"/>
          <p:cNvSpPr/>
          <p:nvPr/>
        </p:nvSpPr>
        <p:spPr>
          <a:xfrm>
            <a:off x="2240280" y="5102352"/>
            <a:ext cx="4698690" cy="237744"/>
          </a:xfrm>
          <a:prstGeom prst="roundRect">
            <a:avLst>
              <a:gd name="adj" fmla="val 12000"/>
            </a:avLst>
          </a:prstGeom>
          <a:solidFill>
            <a:srgbClr val="1D4F37"/>
          </a:solidFill>
          <a:ln>
            <a:noFill/>
          </a:ln>
        </p:spPr>
        <p:txBody>
          <a:bodyPr wrap="square" lIns="91440" tIns="0" rIns="0" bIns="0" anchor="ctr"/>
          <a:lstStyle/>
          <a:p>
            <a:pPr algn="l"/>
            <a:r>
              <a:rPr lang="es-ES" sz="950" b="1" i="0" dirty="0">
                <a:solidFill>
                  <a:srgbClr val="FCF1ED"/>
                </a:solidFill>
                <a:latin typeface="Arial"/>
              </a:rPr>
              <a:t xml:space="preserve">80 %</a:t>
            </a:r>
          </a:p>
        </p:txBody>
      </p:sp>
      <p:sp>
        <p:nvSpPr>
          <p:cNvPr id="120" name="Barra restaurantes 1"/>
          <p:cNvSpPr/>
          <p:nvPr/>
        </p:nvSpPr>
        <p:spPr>
          <a:xfrm>
            <a:off x="6966402" y="5102352"/>
            <a:ext cx="1171758" cy="237744"/>
          </a:xfrm>
          <a:prstGeom prst="roundRect">
            <a:avLst>
              <a:gd name="adj" fmla="val 12000"/>
            </a:avLst>
          </a:prstGeom>
          <a:solidFill>
            <a:srgbClr val="ED7E1F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950" b="1" i="0" dirty="0">
                <a:solidFill>
                  <a:srgbClr val="FFFFFF"/>
                </a:solidFill>
                <a:latin typeface="Arial"/>
              </a:rPr>
              <a:t xml:space="preserve">20 %</a:t>
            </a:r>
          </a:p>
        </p:txBody>
      </p:sp>
      <p:sp>
        <p:nvSpPr>
          <p:cNvPr id="121" name="Margen por kilo"/>
          <p:cNvSpPr/>
          <p:nvPr/>
        </p:nvSpPr>
        <p:spPr>
          <a:xfrm>
            <a:off x="8503920" y="4507992"/>
            <a:ext cx="2907792" cy="822960"/>
          </a:xfrm>
          <a:prstGeom prst="roundRect">
            <a:avLst>
              <a:gd name="adj" fmla="val 8000"/>
            </a:avLst>
          </a:prstGeom>
          <a:solidFill>
            <a:srgbClr val="D8ECDF"/>
          </a:solidFill>
          <a:ln>
            <a:noFill/>
          </a:ln>
        </p:spPr>
        <p:txBody>
          <a:bodyPr wrap="square" lIns="164592" tIns="36576" rIns="109728" bIns="36576" anchor="ctr"/>
          <a:lstStyle/>
          <a:p>
            <a:pPr algn="l"/>
            <a:r>
              <a:rPr lang="es-ES" sz="2200" b="1" i="0" dirty="0">
                <a:solidFill>
                  <a:srgbClr val="ED7E1F"/>
                </a:solidFill>
                <a:latin typeface="Arial"/>
              </a:rPr>
              <a:t xml:space="preserve">× 4,4</a:t>
            </a:r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  margen por kilo</a:t>
            </a:r>
          </a:p>
          <a:p>
            <a:pPr algn="l">
              <a:lnSpc>
                <a:spcPct val="105000"/>
              </a:lnSpc>
            </a:pPr>
            <a:r>
              <a:rPr lang="es-ES" sz="850" b="0" i="0" dirty="0">
                <a:solidFill>
                  <a:srgbClr val="2C5F47"/>
                </a:solidFill>
                <a:latin typeface="Arial"/>
              </a:rPr>
              <a:t xml:space="preserve">restaurantes 120 €/kg frente a 27 €/kg en distribución, tras reparto y captación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1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0624"/>
            <a:ext cx="1634490" cy="3657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0" y="502920"/>
            <a:ext cx="681228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150" b="1" i="0" spc="260">
                <a:solidFill>
                  <a:srgbClr val="2C5F47"/>
                </a:solidFill>
                <a:latin typeface="Arial"/>
              </a:rPr>
              <a:t>REPARTO A RESTAURANTES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777240" y="978408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1325880"/>
            <a:ext cx="73152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50" b="1" i="0" spc="260">
                <a:solidFill>
                  <a:srgbClr val="ED7E1F"/>
                </a:solidFill>
                <a:latin typeface="Arial"/>
              </a:rPr>
              <a:t>ZONAS CALIENTES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0704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2900" b="1" i="0">
                <a:solidFill>
                  <a:srgbClr val="1D4F37"/>
                </a:solidFill>
                <a:latin typeface="Arial"/>
              </a:rPr>
              <a:t xml:space="preserve">Ocho barrios, </a:t>
            </a:r>
            <a:r>
              <a:rPr sz="2900" b="1" i="0">
                <a:solidFill>
                  <a:srgbClr val="ED7E1F"/>
                </a:solidFill>
                <a:latin typeface="Arial"/>
              </a:rPr>
              <a:t>un microhub, dos riders.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77240" y="6272784"/>
            <a:ext cx="10634472" cy="0"/>
          </a:xfrm>
          <a:prstGeom prst="bentConnector3">
            <a:avLst/>
          </a:prstGeom>
          <a:ln w="13970">
            <a:solidFill>
              <a:srgbClr val="E3D9D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77240" y="6364224"/>
            <a:ext cx="5486400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spc="120">
                <a:solidFill>
                  <a:srgbClr val="8A827B"/>
                </a:solidFill>
                <a:latin typeface="Arial"/>
              </a:rPr>
              <a:t xml:space="preserve">ROOTFLOW HYDROPONICS  ·  MADRID  ·  </a:t>
            </a:r>
            <a:r>
              <a:rPr sz="900" b="1" i="0" spc="120">
                <a:solidFill>
                  <a:srgbClr val="ED7E1F"/>
                </a:solidFill>
                <a:latin typeface="Arial"/>
              </a:rPr>
              <a:t>rootflow.es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64224"/>
            <a:ext cx="4736592" cy="3108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50" b="1" i="1">
                <a:solidFill>
                  <a:srgbClr val="2C5F47"/>
                </a:solidFill>
                <a:latin typeface="Arial"/>
              </a:rPr>
              <a:t>Producto vivo, gourmet, de cercanía.</a:t>
            </a:r>
          </a:p>
        </p:txBody>
      </p:sp>
      <p:pic>
        <p:nvPicPr>
          <p:cNvPr id="18" name="Imagen 17">
            <a:extLst>
              <a:ext uri="{FF2B5EF4-FFF2-40B4-BE49-F238E27FC236}">
                <a16:creationId xmlns:a16="http://schemas.microsoft.com/office/drawing/2014/main" id="{274D7CD7-FE97-AAD6-EE23-0D756B8DC9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23994"/>
            <a:ext cx="1983264" cy="453246"/>
          </a:xfrm>
          <a:prstGeom prst="rect">
            <a:avLst/>
          </a:prstGeom>
        </p:spPr>
      </p:pic>
      <p:pic>
        <p:nvPicPr>
          <p:cNvPr id="100" name="Mapa zonas calientes" descr="Mapa del centro de Madrid con los barrios Ríos Rosas, Trafalgar, Almagro, Castellana, Lista, Justicia, Recoletos y Goya resaltados y los 585 restaurantes abiertos marcados como puntos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77240" y="2212848"/>
            <a:ext cx="5120640" cy="3886200"/>
          </a:xfrm>
          <a:prstGeom prst="rect">
            <a:avLst/>
          </a:prstGeom>
        </p:spPr>
      </p:pic>
      <p:sp>
        <p:nvSpPr>
          <p:cNvPr id="101" name="Marco mapa"/>
          <p:cNvSpPr/>
          <p:nvPr/>
        </p:nvSpPr>
        <p:spPr>
          <a:xfrm>
            <a:off x="777240" y="2212848"/>
            <a:ext cx="5120640" cy="3886200"/>
          </a:xfrm>
          <a:prstGeom prst="rect">
            <a:avLst/>
          </a:prstGeom>
          <a:noFill/>
          <a:ln w="12700">
            <a:solidFill>
              <a:srgbClr val="E3D9D1"/>
            </a:solidFill>
          </a:ln>
        </p:spPr>
        <p:txBody>
          <a:bodyPr wrap="square" lIns="0" tIns="0" rIns="0" bIns="0" anchor="ctr"/>
          <a:lstStyle/>
          <a:p/>
        </p:txBody>
      </p:sp>
      <p:sp>
        <p:nvSpPr>
          <p:cNvPr id="102" name="Cabecera barrios"/>
          <p:cNvSpPr txBox="1"/>
          <p:nvPr/>
        </p:nvSpPr>
        <p:spPr>
          <a:xfrm>
            <a:off x="6263640" y="2240280"/>
            <a:ext cx="512064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s-ES" sz="850" b="1" i="0" spc="150" dirty="0">
                <a:solidFill>
                  <a:srgbClr val="8A827B"/>
                </a:solidFill>
                <a:latin typeface="Arial"/>
              </a:rPr>
              <a:t xml:space="preserve">RESTAURANTES ABIERTOS POR BARRIO  ·  CENSO MUNICIPAL</a:t>
            </a:r>
          </a:p>
        </p:txBody>
      </p:sp>
      <p:sp>
        <p:nvSpPr>
          <p:cNvPr id="103" name="Barrio Justicia"/>
          <p:cNvSpPr txBox="1"/>
          <p:nvPr/>
        </p:nvSpPr>
        <p:spPr>
          <a:xfrm>
            <a:off x="6263640" y="250545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Justicia</a:t>
            </a:r>
          </a:p>
        </p:txBody>
      </p:sp>
      <p:sp>
        <p:nvSpPr>
          <p:cNvPr id="104" name="Barra Justicia"/>
          <p:cNvSpPr/>
          <p:nvPr/>
        </p:nvSpPr>
        <p:spPr>
          <a:xfrm>
            <a:off x="7452360" y="2542032"/>
            <a:ext cx="3154680" cy="128016"/>
          </a:xfrm>
          <a:prstGeom prst="roundRect">
            <a:avLst>
              <a:gd name="adj" fmla="val 30000"/>
            </a:avLst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05" name="Cifra Justicia"/>
          <p:cNvSpPr txBox="1"/>
          <p:nvPr/>
        </p:nvSpPr>
        <p:spPr>
          <a:xfrm>
            <a:off x="10680192" y="250545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140</a:t>
            </a:r>
          </a:p>
        </p:txBody>
      </p:sp>
      <p:sp>
        <p:nvSpPr>
          <p:cNvPr id="106" name="Barrio Recoletos"/>
          <p:cNvSpPr txBox="1"/>
          <p:nvPr/>
        </p:nvSpPr>
        <p:spPr>
          <a:xfrm>
            <a:off x="6263640" y="274777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Recoletos</a:t>
            </a:r>
          </a:p>
        </p:txBody>
      </p:sp>
      <p:sp>
        <p:nvSpPr>
          <p:cNvPr id="107" name="Barra Recoletos"/>
          <p:cNvSpPr/>
          <p:nvPr/>
        </p:nvSpPr>
        <p:spPr>
          <a:xfrm>
            <a:off x="7452360" y="2784348"/>
            <a:ext cx="2073075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08" name="Cifra Recoletos"/>
          <p:cNvSpPr txBox="1"/>
          <p:nvPr/>
        </p:nvSpPr>
        <p:spPr>
          <a:xfrm>
            <a:off x="9598587" y="274777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92</a:t>
            </a:r>
          </a:p>
        </p:txBody>
      </p:sp>
      <p:sp>
        <p:nvSpPr>
          <p:cNvPr id="109" name="Barrio Castellana"/>
          <p:cNvSpPr txBox="1"/>
          <p:nvPr/>
        </p:nvSpPr>
        <p:spPr>
          <a:xfrm>
            <a:off x="6263640" y="299008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Castellana</a:t>
            </a:r>
          </a:p>
        </p:txBody>
      </p:sp>
      <p:sp>
        <p:nvSpPr>
          <p:cNvPr id="110" name="Barra Castellana"/>
          <p:cNvSpPr/>
          <p:nvPr/>
        </p:nvSpPr>
        <p:spPr>
          <a:xfrm>
            <a:off x="7452360" y="3026664"/>
            <a:ext cx="1554807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1" name="Cifra Castellana"/>
          <p:cNvSpPr txBox="1"/>
          <p:nvPr/>
        </p:nvSpPr>
        <p:spPr>
          <a:xfrm>
            <a:off x="9080319" y="299008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69</a:t>
            </a:r>
          </a:p>
        </p:txBody>
      </p:sp>
      <p:sp>
        <p:nvSpPr>
          <p:cNvPr id="112" name="Barrio Goya"/>
          <p:cNvSpPr txBox="1"/>
          <p:nvPr/>
        </p:nvSpPr>
        <p:spPr>
          <a:xfrm>
            <a:off x="6263640" y="3232404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Goya</a:t>
            </a:r>
          </a:p>
        </p:txBody>
      </p:sp>
      <p:sp>
        <p:nvSpPr>
          <p:cNvPr id="113" name="Barra Goya"/>
          <p:cNvSpPr/>
          <p:nvPr/>
        </p:nvSpPr>
        <p:spPr>
          <a:xfrm>
            <a:off x="7452360" y="3268980"/>
            <a:ext cx="1442139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4" name="Cifra Goya"/>
          <p:cNvSpPr txBox="1"/>
          <p:nvPr/>
        </p:nvSpPr>
        <p:spPr>
          <a:xfrm>
            <a:off x="8967651" y="3232404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64</a:t>
            </a:r>
          </a:p>
        </p:txBody>
      </p:sp>
      <p:sp>
        <p:nvSpPr>
          <p:cNvPr id="115" name="Barrio Trafalgar"/>
          <p:cNvSpPr txBox="1"/>
          <p:nvPr/>
        </p:nvSpPr>
        <p:spPr>
          <a:xfrm>
            <a:off x="6263640" y="3474720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Trafalgar</a:t>
            </a:r>
          </a:p>
        </p:txBody>
      </p:sp>
      <p:sp>
        <p:nvSpPr>
          <p:cNvPr id="116" name="Barra Trafalgar"/>
          <p:cNvSpPr/>
          <p:nvPr/>
        </p:nvSpPr>
        <p:spPr>
          <a:xfrm>
            <a:off x="7452360" y="3511296"/>
            <a:ext cx="1397073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17" name="Cifra Trafalgar"/>
          <p:cNvSpPr txBox="1"/>
          <p:nvPr/>
        </p:nvSpPr>
        <p:spPr>
          <a:xfrm>
            <a:off x="8922585" y="3474720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62</a:t>
            </a:r>
          </a:p>
        </p:txBody>
      </p:sp>
      <p:sp>
        <p:nvSpPr>
          <p:cNvPr id="118" name="Barrio Almagro"/>
          <p:cNvSpPr txBox="1"/>
          <p:nvPr/>
        </p:nvSpPr>
        <p:spPr>
          <a:xfrm>
            <a:off x="6263640" y="3717036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Almagro</a:t>
            </a:r>
          </a:p>
        </p:txBody>
      </p:sp>
      <p:sp>
        <p:nvSpPr>
          <p:cNvPr id="119" name="Barra Almagro"/>
          <p:cNvSpPr/>
          <p:nvPr/>
        </p:nvSpPr>
        <p:spPr>
          <a:xfrm>
            <a:off x="7452360" y="3753612"/>
            <a:ext cx="1284405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20" name="Cifra Almagro"/>
          <p:cNvSpPr txBox="1"/>
          <p:nvPr/>
        </p:nvSpPr>
        <p:spPr>
          <a:xfrm>
            <a:off x="8809917" y="3717036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57</a:t>
            </a:r>
          </a:p>
        </p:txBody>
      </p:sp>
      <p:sp>
        <p:nvSpPr>
          <p:cNvPr id="121" name="Barrio Ríos Rosas"/>
          <p:cNvSpPr txBox="1"/>
          <p:nvPr/>
        </p:nvSpPr>
        <p:spPr>
          <a:xfrm>
            <a:off x="6263640" y="3959352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Ríos Rosas</a:t>
            </a:r>
          </a:p>
        </p:txBody>
      </p:sp>
      <p:sp>
        <p:nvSpPr>
          <p:cNvPr id="122" name="Barra Ríos Rosas"/>
          <p:cNvSpPr/>
          <p:nvPr/>
        </p:nvSpPr>
        <p:spPr>
          <a:xfrm>
            <a:off x="7452360" y="3995928"/>
            <a:ext cx="1216805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23" name="Cifra Ríos Rosas"/>
          <p:cNvSpPr txBox="1"/>
          <p:nvPr/>
        </p:nvSpPr>
        <p:spPr>
          <a:xfrm>
            <a:off x="8742317" y="3959352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54</a:t>
            </a:r>
          </a:p>
        </p:txBody>
      </p:sp>
      <p:sp>
        <p:nvSpPr>
          <p:cNvPr id="124" name="Barrio Lista"/>
          <p:cNvSpPr txBox="1"/>
          <p:nvPr/>
        </p:nvSpPr>
        <p:spPr>
          <a:xfrm>
            <a:off x="6263640" y="4201668"/>
            <a:ext cx="114300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Lista</a:t>
            </a:r>
          </a:p>
        </p:txBody>
      </p:sp>
      <p:sp>
        <p:nvSpPr>
          <p:cNvPr id="125" name="Barra Lista"/>
          <p:cNvSpPr/>
          <p:nvPr/>
        </p:nvSpPr>
        <p:spPr>
          <a:xfrm>
            <a:off x="7452360" y="4238244"/>
            <a:ext cx="1059071" cy="128016"/>
          </a:xfrm>
          <a:prstGeom prst="roundRect">
            <a:avLst>
              <a:gd name="adj" fmla="val 30000"/>
            </a:avLst>
          </a:prstGeom>
          <a:solidFill>
            <a:srgbClr val="2C5F47"/>
          </a:solidFill>
          <a:ln>
            <a:noFill/>
          </a:ln>
        </p:spPr>
        <p:txBody>
          <a:bodyPr wrap="square" lIns="0" tIns="0" rIns="0" bIns="0" anchor="ctr"/>
          <a:lstStyle/>
          <a:p/>
        </p:txBody>
      </p:sp>
      <p:sp>
        <p:nvSpPr>
          <p:cNvPr id="126" name="Cifra Lista"/>
          <p:cNvSpPr txBox="1"/>
          <p:nvPr/>
        </p:nvSpPr>
        <p:spPr>
          <a:xfrm>
            <a:off x="8584583" y="4201668"/>
            <a:ext cx="548640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s-ES" sz="1000" b="1" i="0" dirty="0">
                <a:solidFill>
                  <a:srgbClr val="1D4F37"/>
                </a:solidFill>
                <a:latin typeface="Arial"/>
              </a:rPr>
              <a:t xml:space="preserve">47</a:t>
            </a:r>
          </a:p>
        </p:txBody>
      </p:sp>
      <p:sp>
        <p:nvSpPr>
          <p:cNvPr id="127" name="Total zonas"/>
          <p:cNvSpPr txBox="1"/>
          <p:nvPr/>
        </p:nvSpPr>
        <p:spPr>
          <a:xfrm>
            <a:off x="6263640" y="4480560"/>
            <a:ext cx="5148072" cy="4572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5000"/>
              </a:lnSpc>
            </a:pPr>
            <a:r>
              <a:rPr lang="es-ES" sz="1100" b="1" i="0" dirty="0">
                <a:solidFill>
                  <a:srgbClr val="ED7E1F"/>
                </a:solidFill>
                <a:latin typeface="Arial"/>
              </a:rPr>
              <a:t xml:space="preserve">585 restaurantes </a:t>
            </a:r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en las 8 zonas, y otros 714 bar-restaurantes que no contamos.</a:t>
            </a:r>
          </a:p>
          <a:p>
            <a:pPr algn="l">
              <a:lnSpc>
                <a:spcPct val="105000"/>
              </a:lnSpc>
            </a:pPr>
            <a:r>
              <a:rPr lang="es-ES" sz="1050" b="0" i="0" dirty="0">
                <a:solidFill>
                  <a:srgbClr val="3A453F"/>
                </a:solidFill>
                <a:latin typeface="Arial"/>
              </a:rPr>
              <a:t xml:space="preserve">Microhub refrigerado en la zona · dos pedidos por semana a cada restaurante.</a:t>
            </a:r>
          </a:p>
        </p:txBody>
      </p:sp>
      <p:sp>
        <p:nvSpPr>
          <p:cNvPr id="128" name="Dato 0"/>
          <p:cNvSpPr/>
          <p:nvPr/>
        </p:nvSpPr>
        <p:spPr>
          <a:xfrm>
            <a:off x="6263640" y="5074920"/>
            <a:ext cx="1600200" cy="749808"/>
          </a:xfrm>
          <a:prstGeom prst="roundRect">
            <a:avLst>
              <a:gd name="adj" fmla="val 7000"/>
            </a:avLst>
          </a:prstGeom>
          <a:solidFill>
            <a:srgbClr val="1D4F37"/>
          </a:solidFill>
          <a:ln>
            <a:noFill/>
          </a:ln>
        </p:spPr>
        <p:txBody>
          <a:bodyPr wrap="square" lIns="0" tIns="0" rIns="0" bIns="0" anchor="ctr"/>
          <a:lstStyle/>
          <a:p>
            <a:pPr algn="ctr"/>
            <a:r>
              <a:rPr lang="es-ES" sz="2000" b="1" i="0" dirty="0">
                <a:solidFill>
                  <a:srgbClr val="FCF1ED"/>
                </a:solidFill>
                <a:latin typeface="Arial"/>
              </a:rPr>
              <a:t xml:space="preserve">123</a:t>
            </a:r>
          </a:p>
          <a:p>
            <a:pPr algn="ctr"/>
            <a:r>
              <a:rPr lang="es-ES" sz="700" b="1" i="0" spc="60" dirty="0">
                <a:solidFill>
                  <a:srgbClr val="9BC9AE"/>
                </a:solidFill>
                <a:latin typeface="Arial"/>
              </a:rPr>
              <a:t xml:space="preserve">RESTAURANTES OBJETIVO</a:t>
            </a:r>
          </a:p>
          <a:p>
            <a:pPr algn="ctr"/>
            <a:r>
              <a:rPr lang="es-ES" sz="700" b="1" i="0" spc="60" dirty="0">
                <a:solidFill>
                  <a:srgbClr val="9BC9AE"/>
                </a:solidFill>
                <a:latin typeface="Arial"/>
              </a:rPr>
              <a:t xml:space="preserve">1 DE CADA 5 DE LA ZONA</a:t>
            </a:r>
          </a:p>
        </p:txBody>
      </p:sp>
      <p:sp>
        <p:nvSpPr>
          <p:cNvPr id="129" name="Dato 1"/>
          <p:cNvSpPr/>
          <p:nvPr/>
        </p:nvSpPr>
        <p:spPr>
          <a:xfrm>
            <a:off x="8037576" y="5074920"/>
            <a:ext cx="1600200" cy="749808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270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2000" b="1" i="0" dirty="0">
                <a:solidFill>
                  <a:srgbClr val="ED7E1F"/>
                </a:solidFill>
                <a:latin typeface="Arial"/>
              </a:rPr>
              <a:t xml:space="preserve">~40</a:t>
            </a:r>
          </a:p>
          <a:p>
            <a:pPr algn="ctr"/>
            <a:r>
              <a:rPr lang="es-ES" sz="700" b="1" i="0" spc="60" dirty="0">
                <a:solidFill>
                  <a:srgbClr val="2C5F47"/>
                </a:solidFill>
                <a:latin typeface="Arial"/>
              </a:rPr>
              <a:t xml:space="preserve">ENTREGAS AL DÍA</a:t>
            </a:r>
          </a:p>
          <a:p>
            <a:pPr algn="ctr"/>
            <a:r>
              <a:rPr lang="es-ES" sz="700" b="1" i="0" spc="60" dirty="0">
                <a:solidFill>
                  <a:srgbClr val="2C5F47"/>
                </a:solidFill>
                <a:latin typeface="Arial"/>
              </a:rPr>
              <a:t xml:space="preserve">2 RIDERS · 7 POR HORA</a:t>
            </a:r>
          </a:p>
        </p:txBody>
      </p:sp>
      <p:sp>
        <p:nvSpPr>
          <p:cNvPr id="130" name="Dato 2"/>
          <p:cNvSpPr/>
          <p:nvPr/>
        </p:nvSpPr>
        <p:spPr>
          <a:xfrm>
            <a:off x="9811512" y="5074920"/>
            <a:ext cx="1600200" cy="749808"/>
          </a:xfrm>
          <a:prstGeom prst="roundRect">
            <a:avLst>
              <a:gd name="adj" fmla="val 7000"/>
            </a:avLst>
          </a:prstGeom>
          <a:solidFill>
            <a:srgbClr val="FCF1ED"/>
          </a:solidFill>
          <a:ln w="12700">
            <a:solidFill>
              <a:srgbClr val="1D4F37"/>
            </a:solidFill>
          </a:ln>
        </p:spPr>
        <p:txBody>
          <a:bodyPr wrap="square" lIns="0" tIns="0" rIns="0" bIns="0" anchor="ctr"/>
          <a:lstStyle/>
          <a:p>
            <a:pPr algn="ctr"/>
            <a:r>
              <a:rPr lang="es-ES" sz="2000" b="1" i="0" dirty="0">
                <a:solidFill>
                  <a:srgbClr val="ED7E1F"/>
                </a:solidFill>
                <a:latin typeface="Arial"/>
              </a:rPr>
              <a:t xml:space="preserve">4,4 €</a:t>
            </a:r>
          </a:p>
          <a:p>
            <a:pPr algn="ctr"/>
            <a:r>
              <a:rPr lang="es-ES" sz="700" b="1" i="0" spc="60" dirty="0">
                <a:solidFill>
                  <a:srgbClr val="2C5F47"/>
                </a:solidFill>
                <a:latin typeface="Arial"/>
              </a:rPr>
              <a:t xml:space="preserve">ÚLTIMA MILLA POR PEDIDO</a:t>
            </a:r>
          </a:p>
          <a:p>
            <a:pPr algn="ctr"/>
            <a:r>
              <a:rPr lang="es-ES" sz="700" b="1" i="0" spc="60" dirty="0">
                <a:solidFill>
                  <a:srgbClr val="2C5F47"/>
                </a:solidFill>
                <a:latin typeface="Arial"/>
              </a:rPr>
              <a:t xml:space="preserve">15 % DEL TICKET</a:t>
            </a:r>
          </a:p>
        </p:txBody>
      </p:sp>
      <p:sp>
        <p:nvSpPr>
          <p:cNvPr id="131" name="Fuente mapa"/>
          <p:cNvSpPr txBox="1"/>
          <p:nvPr/>
        </p:nvSpPr>
        <p:spPr>
          <a:xfrm>
            <a:off x="6263640" y="5897880"/>
            <a:ext cx="5148072" cy="27432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00000"/>
              </a:lnSpc>
            </a:pPr>
            <a:r>
              <a:rPr lang="es-ES" sz="700" b="0" i="1" dirty="0">
                <a:solidFill>
                  <a:srgbClr val="8A827B"/>
                </a:solidFill>
                <a:latin typeface="Arial"/>
              </a:rPr>
              <a:t xml:space="preserve">Fuente: Censo de locales y actividades del Ayuntamiento de Madrid (datos.madrid.es), locales abiertos con epígrafe 561001 Restaurante, oct. 2026. Objetivo y reparto: modelo V17, escenario base, año 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283</TotalTime>
  <Words>1931</Words>
  <Application>Microsoft Office PowerPoint</Application>
  <PresentationFormat>Panorámica</PresentationFormat>
  <Paragraphs>248</Paragraphs>
  <Slides>15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Pedro Domecq Vergara</cp:lastModifiedBy>
  <cp:revision>8</cp:revision>
  <dcterms:created xsi:type="dcterms:W3CDTF">2013-01-27T09:14:16Z</dcterms:created>
  <dcterms:modified xsi:type="dcterms:W3CDTF">2026-06-10T15:19:06Z</dcterms:modified>
  <cp:category/>
</cp:coreProperties>
</file>